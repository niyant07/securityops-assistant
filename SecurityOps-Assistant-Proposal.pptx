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75687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I am [Your Name], and I will be presenting my project titled 'SecurityOps Assistant — a local-first, AI-assisted cybersecurity assessment platform for authorized security testing.' This project is carried out under the guidance of [Guide Name] at [Institute Name]. Over the next few minutes I will walk you through the problem it addresses, the objectives, the proposed solution and its architecture, the technology stack, my development methodology and timeline, and the outcomes I expect. The core idea is simple: give a security analyst a single, fully offline desktop assistant that turns a plain-English goal into a safe, approval-gated assessment workflow, and produces a professional report — without sending any data to the cloud.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SecurityOps Assistant sits in the cybersecurity domain, specifically AI-assisted security assessment. It is a local-first desktop application built for Kali Linux, the standard operating system used by security professionals. In one sentence: the application lets an authorized analyst describe an objective in plain English — for example, 'assess this web application for common issues' — and it responds with a structured plan of security tools, runs the approved steps in the background, extracts the important findings, and compiles a professional report. Everything runs on the local machine. The system is built in Python 3.12 with a PySide6 desktop interface, an embedded SQLite database, an optional local AI model served by Ollama, and a modular plugin architecture that makes each feature independent and extensible. The guiding principles throughout are privacy, safety, and auditability.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a security assessment involves juggling a dozen or more separate command-line tools — Nmap, Nikto, Gobuster, sqlmap, and many others. The analyst has to remember each tool's syntax, manually craft commands, keep track of what is in scope, and copy results into notes by hand. This is slow, error-prone, and has a steep learning curve for newcomers. Evidence ends up scattered across terminals and text files, and writing the final report is a tedious manual step done long after the testing. A newer option is to ask a cloud AI assistant for help, but that means sending potentially sensitive target information to a third-party server, which is often unacceptable for security work. The research gap this project addresses is the absence of a single tool that is simultaneously offline, safety-gated, AI-assisted, and integrated from planning all the way through to reporting.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chose this project because the convergence of artificial intelligence and cybersecurity is one of the most active and impactful areas in computing today. On the industry side, demand for security testing is growing quickly — organizations increasingly rely on penetration testing and public bug bounty programs to find vulnerabilities before attackers do. At the same time there is a well-documented shortage of skilled security professionals, which creates a real need for tools that guide and assist analysts rather than assuming deep expertise. From the user's perspective, three needs stand out: faster, guided workflows; strict enforcement of what is authorized to be tested; and complete data privacy. Finally, on a personal level, I wanted to build something production-quality and safety-first — a tool that is genuinely useful while refusing to enable misuse.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has six primary objectives. First, to convert a natural-language goal into a structured, reviewable assessment plan. Second, and most importantly, to enforce safety — every step is approval-gated, and the assistant refuses harmful or out-of-scope requests. Third, to automatically detect the security tools installed on the machine and coordinate them from a single interface. Fourth, to collect the raw output of those tools, extract the important findings, and organize them with CVSS severity ratings and attached evidence. Fifth, to generate professional reports in HTML, PDF, and Markdown formats. And sixth, to do all of this fully offline — with an optional local AI model for fluency — while keeping the system extensible through a plugin architecture so new capabilities can be added without touching the core.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is important to be precise about scope, both for the project and because this is a security tool. In scope: the application supports authorized assessment of assets the user owns or is explicitly permitted to test, across web applications, APIs, mobile backends, desktop applications, and networks. It covers the reconnaissance, enumeration, and vulnerability-assessment phases; it validates bug bounty scope; it manages findings; and it produces professional reports — all offline. Equally important is what is deliberately out of scope. The tool does not automate exploitation or attacks; it will not perform malware, ransomware, phishing, or denial-of-service actions; it refuses unauthorized targets; it uses no cloud services; it does not reverse-engineer mobile binaries; and it never runs fully autonomously — a human must approve every action. These boundaries are enforced in code, not just stated on a slide.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proposed solution is a local AI assistant that plans and coordinates Kali security tools, always with the human in control. The workflow is: the analyst states a goal, the assistant builds a plan, the analyst approves the specific steps, the tools run in the background, and the assistant explains the results in plain language. On top of this core loop sits a dedicated bug bounty module that imports and validates an engagement's scope and builds a methodology tailored to the target type — web, API, mobile backend, and so on. The platform also includes an automatic tool launcher that detects installed tools, a findings dashboard that highlights important results, and a report generator. The benefits to the user are concrete: assessments become faster because commands are generated, guided because the assistant recommends next steps, private because nothing leaves the machine, and auditable because every action is logged.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is layered, and dependencies point in one direction only. At the top is the PySide6 graphical interface. Below it are plugins — each feature is a self-contained plugin tab. Plugins use the mid-layer services: the workflow engine, the AI planner and local model, and the reporting system. At the bottom sit the core services — configuration, logging, the SQLite database, background threading, and the tool catalog — plus the data models. Now the component flow, step by step: the user's goal goes to the planner, which produces a plan; the plan passes through an approval gate where the human selects which steps to run; approved steps go to the execution engine, which launches the real tools as background processes; the tools' output is captured and passed to parsers that extract findings; and everything is written to the project database. The data flow, therefore, is: raw tool output becomes structured findings, which are stored in the project, and finally rendered into a report. Because the core never imports the interface, it can be tested headlessly — which is how the project reached 111 automated tests.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technology was chosen deliberately. For the frontend I used PySide6, the official Qt binding for Python, because it produces a native, responsive desktop interface and is mature and cross-platform; it also let me build a clean dark theme suited to security work. The backend is Python 3.12, chosen for its unrivalled security-tooling ecosystem, fast development cycle, and modern type hints. The database is SQLite — embedded and zero-configuration, so it needs no server and stores everything in a single local file, which fits a local-first application perfectly. For AI, I integrated a local large language model through Ollama; this gives fluent planning and explanations while guaranteeing that no data ever leaves the machine, and the app falls back to deterministic rules if no model is present. Integration happens through Ollama's local REST endpoint and Qt's QProcess for safely running external tools. Finally, the development toolchain — pytest, mypy, ruff, and Git — supports automated testing, type checking, linting, and version control.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followed an Agile, iterative methodology, building the system one module at a time rather than attempting everything at once. Each short sprint took a single component — for example the database layer, then the workflow engine, then the bug bounty module — through the same cycle: plan, design, build, test, integrate, and review. This meant that at the end of every sprint I had a working, tested piece of the system rather than a large untested whole. The testing strategy has three parts: automated unit tests written with pytest that now number 111 and cover the non-visual logic; headless testing of the core, which is possible because the core does not depend on the interface; and manual verification of the graphical interface. New modules were continuously integrated into the shared platform — the same database, engine, and reporting system — so the application always remained runnable.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project timeline as a simple Gantt chart across roughly eight months. The first month covered the proposal and background research. The second month built the foundation — the core services and the database. Months three and four were the largest phase: the workflow engine and the AI planning and explanation components. Month five delivered the bug bounty module with scope validation. Month six built the reporting system, and testing and hardening ran in parallel across months six and seven. The final phase, in month eight, is documentation and preparation for the viva. The key milestones — marked on the chart — are: proposal approved, core platform working, AI workflow functional, bug bounty module integrated, reporting complete, and final submission. As of now the core, workflow, bug bounty, and reporting modules are implemented and tested.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functional requirements describe what the system must do. It must accept a natural-language objective and build an assessment plan from it. It must import an engagement's scope and validate targets against it. Before anything runs, it must present the generated commands for the user's explicit approval. Once approved, it must execute the tools in the background and capture their output live. It must then extract, correlate, and highlight the important findings from that output. Throughout, it must manage projects, assets, findings, and evidence — all stored locally. And finally it must generate professional assessment reports in HTML, PDF, and Markdown. Each of these requirements maps directly to a module in the implemented system, and each is covered by tests.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Non-functional requirements describe how well the system behaves. Security is first: authorization is enforced through gates, the assistant refuses harmful or out-of-scope actions, and it never auto-exploits — commands are built only from vetted templates. Performance: long-running scans execute on background threads using Qt's thread pool, so the interface stays responsive. Reliability: the system has robust error handling, and every executed command and its output is written to an audit trail. Scalability: the modular plugin architecture means new features are added by dropping in a plugin, without modifying the core, and new tools by adding a catalog entry. Privacy is a first-class requirement: the application is fully offline, sends no telemetry, and keeps all data on the local machine. These qualities are not aspirations — they are enforced in the design and verified by the test suite.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outcomes fall into three groups. Technically, the project delivers a working, fully offline assessment platform with a modular, extensible, and well-tested codebase — currently 111 automated tests — plus a reusable AI workflow and reporting engine that other tools could build on. For the user, the outcomes are practical: assessments are faster and guided, requiring less manual effort; privacy is strong and authorization is enforced; and the reports produced are consistent and professional. From a business and academic standpoint, the platform lowers the skill barrier for security testing, provides a reproducible and auditable methodology, and serves as a foundation for further research — for example into automated finding correlation. In short, the project produces both a usable tool and a base for future work.</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several promising directions for future work. On enhancements, the tool catalog can be broadened, the output parsers made richer to extract more structured findings, and assessments could be scheduled to run automatically. The local language model could be used more deeply — for instance to draft full report narratives and to guide the analyst through verifying findings. On the research side, a compelling direction is machine-learning-based correlation of findings across tools, together with automatic reduction of false positives, which is one of the biggest time sinks in real assessments. The application could grow a team mode with shared projects and role-based collaboration. And for scalability, the execution engine could be extended to distribute scans across multiple machines, supported by a community plugin ecosystem so others can contribute new capabilities. The plugin architecture I built is specifically designed to make these extensions straightforward.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brings me to the end of my presentation. To summarize: SecurityOps Assistant is a local-first, AI-assisted, safety-gated platform that takes an authorized analyst from a plain-English goal all the way to a professional report — entirely offline. Thank you for your time and attention. I would be happy to answer any questions and discuss the project further.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33A"/>
        </a:solidFill>
        <a:effectLst/>
      </p:bgPr>
    </p:bg>
    <p:spTree>
      <p:nvGrpSpPr>
        <p:cNvPr id="1" name=""/>
        <p:cNvGrpSpPr/>
        <p:nvPr/>
      </p:nvGrpSpPr>
      <p:grpSpPr>
        <a:xfrm>
          <a:off x="0" y="0"/>
          <a:ext cx="0" cy="0"/>
          <a:chOff x="0" y="0"/>
          <a:chExt cx="0" cy="0"/>
        </a:xfrm>
      </p:grpSpPr>
      <p:sp>
        <p:nvSpPr>
          <p:cNvPr id="2" name="Shape 0"/>
          <p:cNvSpPr/>
          <p:nvPr/>
        </p:nvSpPr>
        <p:spPr>
          <a:xfrm>
            <a:off x="822960" y="1600200"/>
            <a:ext cx="658368" cy="658368"/>
          </a:xfrm>
          <a:prstGeom prst="roundRect">
            <a:avLst>
              <a:gd name="adj" fmla="val 16667"/>
            </a:avLst>
          </a:prstGeom>
          <a:solidFill>
            <a:srgbClr val="2C9CA6"/>
          </a:solidFill>
          <a:ln/>
        </p:spPr>
      </p:sp>
      <p:sp>
        <p:nvSpPr>
          <p:cNvPr id="3" name="Text 1"/>
          <p:cNvSpPr/>
          <p:nvPr/>
        </p:nvSpPr>
        <p:spPr>
          <a:xfrm>
            <a:off x="822960" y="1600200"/>
            <a:ext cx="658368" cy="658368"/>
          </a:xfrm>
          <a:prstGeom prst="rect">
            <a:avLst/>
          </a:prstGeom>
          <a:noFill/>
          <a:ln/>
        </p:spPr>
        <p:txBody>
          <a:bodyPr wrap="square" rtlCol="0" anchor="ctr"/>
          <a:lstStyle/>
          <a:p>
            <a:pPr marL="0" indent="0" algn="ctr">
              <a:buNone/>
            </a:pPr>
            <a:r>
              <a:rPr lang="en-US" sz="2600" b="1" dirty="0">
                <a:solidFill>
                  <a:srgbClr val="16233A"/>
                </a:solidFill>
                <a:latin typeface="Courier New" pitchFamily="34" charset="0"/>
                <a:ea typeface="Courier New" pitchFamily="34" charset="-122"/>
                <a:cs typeface="Courier New" pitchFamily="34" charset="-120"/>
              </a:rPr>
              <a:t>&gt;_</a:t>
            </a:r>
            <a:endParaRPr lang="en-US" sz="2600" dirty="0"/>
          </a:p>
        </p:txBody>
      </p:sp>
      <p:sp>
        <p:nvSpPr>
          <p:cNvPr id="4" name="Text 2"/>
          <p:cNvSpPr/>
          <p:nvPr/>
        </p:nvSpPr>
        <p:spPr>
          <a:xfrm>
            <a:off x="822960" y="2468880"/>
            <a:ext cx="10515600" cy="822960"/>
          </a:xfrm>
          <a:prstGeom prst="rect">
            <a:avLst/>
          </a:prstGeom>
          <a:noFill/>
          <a:ln/>
        </p:spPr>
        <p:txBody>
          <a:bodyPr wrap="square"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SecurityOps Assistant</a:t>
            </a:r>
            <a:endParaRPr lang="en-US" sz="4400" dirty="0"/>
          </a:p>
        </p:txBody>
      </p:sp>
      <p:sp>
        <p:nvSpPr>
          <p:cNvPr id="5" name="Text 3"/>
          <p:cNvSpPr/>
          <p:nvPr/>
        </p:nvSpPr>
        <p:spPr>
          <a:xfrm>
            <a:off x="841248" y="3337560"/>
            <a:ext cx="10241280" cy="731520"/>
          </a:xfrm>
          <a:prstGeom prst="rect">
            <a:avLst/>
          </a:prstGeom>
          <a:noFill/>
          <a:ln/>
        </p:spPr>
        <p:txBody>
          <a:bodyPr wrap="square" rtlCol="0" anchor="ctr"/>
          <a:lstStyle/>
          <a:p>
            <a:pPr marL="0" indent="0">
              <a:buNone/>
            </a:pPr>
            <a:r>
              <a:rPr lang="en-US" sz="1600" dirty="0">
                <a:solidFill>
                  <a:srgbClr val="CADCFC"/>
                </a:solidFill>
                <a:latin typeface="Calibri" pitchFamily="34" charset="0"/>
                <a:ea typeface="Calibri" pitchFamily="34" charset="-122"/>
                <a:cs typeface="Calibri" pitchFamily="34" charset="-120"/>
              </a:rPr>
              <a:t>A Local-First, AI-Assisted Cybersecurity Assessment Platform for Authorized Security Testing</a:t>
            </a:r>
            <a:endParaRPr lang="en-US" sz="1600" dirty="0"/>
          </a:p>
        </p:txBody>
      </p:sp>
      <p:sp>
        <p:nvSpPr>
          <p:cNvPr id="6" name="Text 4"/>
          <p:cNvSpPr/>
          <p:nvPr/>
        </p:nvSpPr>
        <p:spPr>
          <a:xfrm>
            <a:off x="841248" y="4343400"/>
            <a:ext cx="10241280" cy="365760"/>
          </a:xfrm>
          <a:prstGeom prst="rect">
            <a:avLst/>
          </a:prstGeom>
          <a:noFill/>
          <a:ln/>
        </p:spPr>
        <p:txBody>
          <a:bodyPr wrap="square" rtlCol="0" anchor="ctr"/>
          <a:lstStyle/>
          <a:p>
            <a:pPr marL="0" indent="0">
              <a:buNone/>
            </a:pPr>
            <a:r>
              <a:rPr lang="en-US" sz="1400" b="1" dirty="0">
                <a:solidFill>
                  <a:srgbClr val="2C9CA6"/>
                </a:solidFill>
                <a:latin typeface="Calibri" pitchFamily="34" charset="0"/>
                <a:ea typeface="Calibri" pitchFamily="34" charset="-122"/>
                <a:cs typeface="Calibri" pitchFamily="34" charset="-120"/>
              </a:rPr>
              <a:t>Presented by:</a:t>
            </a:r>
            <a:endParaRPr lang="en-US" sz="1400" dirty="0"/>
          </a:p>
        </p:txBody>
      </p:sp>
      <p:sp>
        <p:nvSpPr>
          <p:cNvPr id="7" name="Text 5"/>
          <p:cNvSpPr/>
          <p:nvPr/>
        </p:nvSpPr>
        <p:spPr>
          <a:xfrm>
            <a:off x="841248" y="4745736"/>
            <a:ext cx="10241280" cy="365760"/>
          </a:xfrm>
          <a:prstGeom prst="rect">
            <a:avLst/>
          </a:prstGeom>
          <a:noFill/>
          <a:ln/>
        </p:spPr>
        <p:txBody>
          <a:bodyPr wrap="square" rtlCol="0" anchor="ctr"/>
          <a:lstStyle/>
          <a:p>
            <a:pPr marL="0" indent="0">
              <a:buNone/>
            </a:pPr>
            <a:r>
              <a:rPr lang="en-US" sz="1400" b="1" dirty="0">
                <a:solidFill>
                  <a:srgbClr val="2C9CA6"/>
                </a:solidFill>
                <a:latin typeface="Calibri" pitchFamily="34" charset="0"/>
                <a:ea typeface="Calibri" pitchFamily="34" charset="-122"/>
                <a:cs typeface="Calibri" pitchFamily="34" charset="-120"/>
              </a:rPr>
              <a:t>Guide:  </a:t>
            </a:r>
            <a:endParaRPr lang="en-US" sz="1400" dirty="0"/>
          </a:p>
        </p:txBody>
      </p:sp>
      <p:sp>
        <p:nvSpPr>
          <p:cNvPr id="8" name="Text 6"/>
          <p:cNvSpPr/>
          <p:nvPr/>
        </p:nvSpPr>
        <p:spPr>
          <a:xfrm>
            <a:off x="841248" y="5148072"/>
            <a:ext cx="10241280" cy="365760"/>
          </a:xfrm>
          <a:prstGeom prst="rect">
            <a:avLst/>
          </a:prstGeom>
          <a:noFill/>
          <a:ln/>
        </p:spPr>
        <p:txBody>
          <a:bodyPr wrap="square" rtlCol="0" anchor="ctr"/>
          <a:lstStyle/>
          <a:p>
            <a:pPr marL="0" indent="0">
              <a:buNone/>
            </a:pPr>
            <a:r>
              <a:rPr lang="en-US" sz="1400" b="1" dirty="0">
                <a:solidFill>
                  <a:srgbClr val="2C9CA6"/>
                </a:solidFill>
                <a:latin typeface="Calibri" pitchFamily="34" charset="0"/>
                <a:ea typeface="Calibri" pitchFamily="34" charset="-122"/>
                <a:cs typeface="Calibri" pitchFamily="34" charset="-120"/>
              </a:rPr>
              <a:t>Institute:</a:t>
            </a:r>
            <a:endParaRPr lang="en-US" sz="1400" dirty="0"/>
          </a:p>
        </p:txBody>
      </p:sp>
      <p:sp>
        <p:nvSpPr>
          <p:cNvPr id="9" name="Text 7"/>
          <p:cNvSpPr/>
          <p:nvPr/>
        </p:nvSpPr>
        <p:spPr>
          <a:xfrm>
            <a:off x="841248" y="5550408"/>
            <a:ext cx="10241280" cy="365760"/>
          </a:xfrm>
          <a:prstGeom prst="rect">
            <a:avLst/>
          </a:prstGeom>
          <a:noFill/>
          <a:ln/>
        </p:spPr>
        <p:txBody>
          <a:bodyPr wrap="square" rtlCol="0" anchor="ctr"/>
          <a:lstStyle/>
          <a:p>
            <a:pPr marL="0" indent="0">
              <a:buNone/>
            </a:pPr>
            <a:r>
              <a:rPr lang="en-US" sz="1400" b="1" dirty="0">
                <a:solidFill>
                  <a:srgbClr val="2C9CA6"/>
                </a:solidFill>
                <a:latin typeface="Calibri" pitchFamily="34" charset="0"/>
                <a:ea typeface="Calibri" pitchFamily="34" charset="-122"/>
                <a:cs typeface="Calibri" pitchFamily="34" charset="-120"/>
              </a:rPr>
              <a:t>Date: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6446520"/>
            <a:ext cx="9144000" cy="274320"/>
          </a:xfrm>
          <a:prstGeom prst="rect">
            <a:avLst/>
          </a:prstGeom>
          <a:noFill/>
          <a:ln/>
        </p:spPr>
        <p:txBody>
          <a:bodyPr wrap="square" rtlCol="0" anchor="ctr"/>
          <a:lstStyle/>
          <a:p>
            <a:pPr marL="0" indent="0">
              <a:buNone/>
            </a:pPr>
            <a:r>
              <a:rPr lang="en-US" sz="900" b="1" dirty="0">
                <a:solidFill>
                  <a:srgbClr val="5E6B7A"/>
                </a:solidFill>
                <a:latin typeface="Calibri" pitchFamily="34" charset="0"/>
                <a:ea typeface="Calibri" pitchFamily="34" charset="-122"/>
                <a:cs typeface="Calibri" pitchFamily="34" charset="-120"/>
              </a:rPr>
              <a:t>SecurityOps Assistant</a:t>
            </a:r>
            <a:r>
              <a:rPr lang="en-US" sz="900" dirty="0">
                <a:solidFill>
                  <a:srgbClr val="5E6B7A"/>
                </a:solidFill>
                <a:latin typeface="Calibri" pitchFamily="34" charset="0"/>
                <a:ea typeface="Calibri" pitchFamily="34" charset="-122"/>
                <a:cs typeface="Calibri" pitchFamily="34" charset="-120"/>
              </a:rPr>
              <a:t>   |   Project Proposal</a:t>
            </a:r>
            <a:endParaRPr lang="en-US" sz="900" dirty="0"/>
          </a:p>
        </p:txBody>
      </p:sp>
      <p:sp>
        <p:nvSpPr>
          <p:cNvPr id="3" name="Text 1"/>
          <p:cNvSpPr/>
          <p:nvPr/>
        </p:nvSpPr>
        <p:spPr>
          <a:xfrm>
            <a:off x="11338560" y="6446520"/>
            <a:ext cx="365760" cy="274320"/>
          </a:xfrm>
          <a:prstGeom prst="rect">
            <a:avLst/>
          </a:prstGeom>
          <a:noFill/>
          <a:ln/>
        </p:spPr>
        <p:txBody>
          <a:bodyPr wrap="square" rtlCol="0" anchor="ctr"/>
          <a:lstStyle/>
          <a:p>
            <a:pPr marL="0" indent="0" algn="r">
              <a:buNone/>
            </a:pPr>
            <a:r>
              <a:rPr lang="en-US" sz="900" dirty="0">
                <a:solidFill>
                  <a:srgbClr val="5E6B7A"/>
                </a:solidFill>
                <a:latin typeface="Calibri" pitchFamily="34" charset="0"/>
                <a:ea typeface="Calibri" pitchFamily="34" charset="-122"/>
                <a:cs typeface="Calibri" pitchFamily="34" charset="-120"/>
              </a:rPr>
              <a:t>2</a:t>
            </a:r>
            <a:endParaRPr lang="en-US" sz="900" dirty="0"/>
          </a:p>
        </p:txBody>
      </p:sp>
      <p:sp>
        <p:nvSpPr>
          <p:cNvPr id="4" name="Text 2"/>
          <p:cNvSpPr/>
          <p:nvPr/>
        </p:nvSpPr>
        <p:spPr>
          <a:xfrm>
            <a:off x="502920" y="411480"/>
            <a:ext cx="11155680" cy="640080"/>
          </a:xfrm>
          <a:prstGeom prst="rect">
            <a:avLst/>
          </a:prstGeom>
          <a:noFill/>
          <a:ln/>
        </p:spPr>
        <p:txBody>
          <a:bodyPr wrap="square" rtlCol="0" anchor="ctr"/>
          <a:lstStyle/>
          <a:p>
            <a:pPr marL="0" indent="0">
              <a:buNone/>
            </a:pPr>
            <a:r>
              <a:rPr lang="en-US" sz="3200" b="1" dirty="0">
                <a:solidFill>
                  <a:srgbClr val="1F3A5F"/>
                </a:solidFill>
                <a:latin typeface="Cambria" pitchFamily="34" charset="0"/>
                <a:ea typeface="Cambria" pitchFamily="34" charset="-122"/>
                <a:cs typeface="Cambria" pitchFamily="34" charset="-120"/>
              </a:rPr>
              <a:t>Project Overview</a:t>
            </a:r>
            <a:endParaRPr lang="en-US" sz="3200" dirty="0"/>
          </a:p>
        </p:txBody>
      </p:sp>
      <p:sp>
        <p:nvSpPr>
          <p:cNvPr id="5" name="Shape 3"/>
          <p:cNvSpPr/>
          <p:nvPr/>
        </p:nvSpPr>
        <p:spPr>
          <a:xfrm>
            <a:off x="502920" y="1600200"/>
            <a:ext cx="5486400" cy="2057400"/>
          </a:xfrm>
          <a:prstGeom prst="roundRect">
            <a:avLst>
              <a:gd name="adj" fmla="val 3556"/>
            </a:avLst>
          </a:prstGeom>
          <a:solidFill>
            <a:srgbClr val="F3F6FB"/>
          </a:solidFill>
          <a:ln w="12700">
            <a:solidFill>
              <a:srgbClr val="D9E1EC"/>
            </a:solidFill>
            <a:prstDash val="solid"/>
          </a:ln>
          <a:effectLst>
            <a:outerShdw blurRad="88900" dist="38100" dir="5400000" algn="bl" rotWithShape="0">
              <a:srgbClr val="8494A8">
                <a:alpha val="28000"/>
              </a:srgbClr>
            </a:outerShdw>
          </a:effectLst>
        </p:spPr>
      </p:sp>
      <p:sp>
        <p:nvSpPr>
          <p:cNvPr id="6" name="Shape 4"/>
          <p:cNvSpPr/>
          <p:nvPr/>
        </p:nvSpPr>
        <p:spPr>
          <a:xfrm>
            <a:off x="777240" y="1874520"/>
            <a:ext cx="502920" cy="502920"/>
          </a:xfrm>
          <a:prstGeom prst="ellipse">
            <a:avLst/>
          </a:prstGeom>
          <a:solidFill>
            <a:srgbClr val="2C5282"/>
          </a:solidFill>
          <a:ln/>
        </p:spPr>
      </p:sp>
      <p:sp>
        <p:nvSpPr>
          <p:cNvPr id="7" name="Text 5"/>
          <p:cNvSpPr/>
          <p:nvPr/>
        </p:nvSpPr>
        <p:spPr>
          <a:xfrm>
            <a:off x="777240" y="1874520"/>
            <a:ext cx="502920" cy="50292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p:nvPr/>
        </p:nvSpPr>
        <p:spPr>
          <a:xfrm>
            <a:off x="1463040" y="1892808"/>
            <a:ext cx="4297680" cy="365760"/>
          </a:xfrm>
          <a:prstGeom prst="rect">
            <a:avLst/>
          </a:prstGeom>
          <a:noFill/>
          <a:ln/>
        </p:spPr>
        <p:txBody>
          <a:bodyPr wrap="square" rtlCol="0" anchor="ctr"/>
          <a:lstStyle/>
          <a:p>
            <a:pPr marL="0" indent="0">
              <a:buNone/>
            </a:pPr>
            <a:r>
              <a:rPr lang="en-US" sz="1600" b="1" dirty="0">
                <a:solidFill>
                  <a:srgbClr val="1F3A5F"/>
                </a:solidFill>
                <a:latin typeface="Calibri" pitchFamily="34" charset="0"/>
                <a:ea typeface="Calibri" pitchFamily="34" charset="-122"/>
                <a:cs typeface="Calibri" pitchFamily="34" charset="-120"/>
              </a:rPr>
              <a:t>Domain</a:t>
            </a:r>
            <a:endParaRPr lang="en-US" sz="1600" dirty="0"/>
          </a:p>
        </p:txBody>
      </p:sp>
      <p:sp>
        <p:nvSpPr>
          <p:cNvPr id="9" name="Text 7"/>
          <p:cNvSpPr/>
          <p:nvPr/>
        </p:nvSpPr>
        <p:spPr>
          <a:xfrm>
            <a:off x="822960" y="2514600"/>
            <a:ext cx="4937760" cy="1005840"/>
          </a:xfrm>
          <a:prstGeom prst="rect">
            <a:avLst/>
          </a:prstGeom>
          <a:noFill/>
          <a:ln/>
        </p:spPr>
        <p:txBody>
          <a:bodyPr wrap="square" rtlCol="0" anchor="t"/>
          <a:lstStyle/>
          <a:p>
            <a:pPr marL="0" indent="0">
              <a:buNone/>
            </a:pPr>
            <a:r>
              <a:rPr lang="en-US" sz="1350" dirty="0">
                <a:solidFill>
                  <a:srgbClr val="1B2430"/>
                </a:solidFill>
                <a:latin typeface="Calibri" pitchFamily="34" charset="0"/>
                <a:ea typeface="Calibri" pitchFamily="34" charset="-122"/>
                <a:cs typeface="Calibri" pitchFamily="34" charset="-120"/>
              </a:rPr>
              <a:t>Cybersecurity — AI-assisted security assessment</a:t>
            </a:r>
            <a:endParaRPr lang="en-US" sz="1350" dirty="0"/>
          </a:p>
        </p:txBody>
      </p:sp>
      <p:sp>
        <p:nvSpPr>
          <p:cNvPr id="10" name="Shape 8"/>
          <p:cNvSpPr/>
          <p:nvPr/>
        </p:nvSpPr>
        <p:spPr>
          <a:xfrm>
            <a:off x="6217920" y="1600200"/>
            <a:ext cx="5486400" cy="2057400"/>
          </a:xfrm>
          <a:prstGeom prst="roundRect">
            <a:avLst>
              <a:gd name="adj" fmla="val 3556"/>
            </a:avLst>
          </a:prstGeom>
          <a:solidFill>
            <a:srgbClr val="F3F6FB"/>
          </a:solidFill>
          <a:ln w="12700">
            <a:solidFill>
              <a:srgbClr val="D9E1EC"/>
            </a:solidFill>
            <a:prstDash val="solid"/>
          </a:ln>
          <a:effectLst>
            <a:outerShdw blurRad="88900" dist="38100" dir="5400000" algn="bl" rotWithShape="0">
              <a:srgbClr val="8494A8">
                <a:alpha val="28000"/>
              </a:srgbClr>
            </a:outerShdw>
          </a:effectLst>
        </p:spPr>
      </p:sp>
      <p:sp>
        <p:nvSpPr>
          <p:cNvPr id="11" name="Shape 9"/>
          <p:cNvSpPr/>
          <p:nvPr/>
        </p:nvSpPr>
        <p:spPr>
          <a:xfrm>
            <a:off x="6492240" y="1874520"/>
            <a:ext cx="502920" cy="502920"/>
          </a:xfrm>
          <a:prstGeom prst="ellipse">
            <a:avLst/>
          </a:prstGeom>
          <a:solidFill>
            <a:srgbClr val="2C9CA6"/>
          </a:solidFill>
          <a:ln/>
        </p:spPr>
      </p:sp>
      <p:sp>
        <p:nvSpPr>
          <p:cNvPr id="12" name="Text 10"/>
          <p:cNvSpPr/>
          <p:nvPr/>
        </p:nvSpPr>
        <p:spPr>
          <a:xfrm>
            <a:off x="6492240" y="1874520"/>
            <a:ext cx="502920" cy="50292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p:nvPr/>
        </p:nvSpPr>
        <p:spPr>
          <a:xfrm>
            <a:off x="7178040" y="1892808"/>
            <a:ext cx="4297680" cy="365760"/>
          </a:xfrm>
          <a:prstGeom prst="rect">
            <a:avLst/>
          </a:prstGeom>
          <a:noFill/>
          <a:ln/>
        </p:spPr>
        <p:txBody>
          <a:bodyPr wrap="square" rtlCol="0" anchor="ctr"/>
          <a:lstStyle/>
          <a:p>
            <a:pPr marL="0" indent="0">
              <a:buNone/>
            </a:pPr>
            <a:r>
              <a:rPr lang="en-US" sz="1600" b="1" dirty="0">
                <a:solidFill>
                  <a:srgbClr val="1F3A5F"/>
                </a:solidFill>
                <a:latin typeface="Calibri" pitchFamily="34" charset="0"/>
                <a:ea typeface="Calibri" pitchFamily="34" charset="-122"/>
                <a:cs typeface="Calibri" pitchFamily="34" charset="-120"/>
              </a:rPr>
              <a:t>Type</a:t>
            </a:r>
            <a:endParaRPr lang="en-US" sz="1600" dirty="0"/>
          </a:p>
        </p:txBody>
      </p:sp>
      <p:sp>
        <p:nvSpPr>
          <p:cNvPr id="14" name="Text 12"/>
          <p:cNvSpPr/>
          <p:nvPr/>
        </p:nvSpPr>
        <p:spPr>
          <a:xfrm>
            <a:off x="6537960" y="2514600"/>
            <a:ext cx="4937760" cy="1005840"/>
          </a:xfrm>
          <a:prstGeom prst="rect">
            <a:avLst/>
          </a:prstGeom>
          <a:noFill/>
          <a:ln/>
        </p:spPr>
        <p:txBody>
          <a:bodyPr wrap="square" rtlCol="0" anchor="t"/>
          <a:lstStyle/>
          <a:p>
            <a:pPr marL="0" indent="0">
              <a:buNone/>
            </a:pPr>
            <a:r>
              <a:rPr lang="en-US" sz="1350" dirty="0">
                <a:solidFill>
                  <a:srgbClr val="1B2430"/>
                </a:solidFill>
                <a:latin typeface="Calibri" pitchFamily="34" charset="0"/>
                <a:ea typeface="Calibri" pitchFamily="34" charset="-122"/>
                <a:cs typeface="Calibri" pitchFamily="34" charset="-120"/>
              </a:rPr>
              <a:t>Local-first desktop application (Kali Linux)</a:t>
            </a:r>
            <a:endParaRPr lang="en-US" sz="1350" dirty="0"/>
          </a:p>
        </p:txBody>
      </p:sp>
      <p:sp>
        <p:nvSpPr>
          <p:cNvPr id="15" name="Shape 13"/>
          <p:cNvSpPr/>
          <p:nvPr/>
        </p:nvSpPr>
        <p:spPr>
          <a:xfrm>
            <a:off x="502920" y="3931920"/>
            <a:ext cx="5486400" cy="2057400"/>
          </a:xfrm>
          <a:prstGeom prst="roundRect">
            <a:avLst>
              <a:gd name="adj" fmla="val 3556"/>
            </a:avLst>
          </a:prstGeom>
          <a:solidFill>
            <a:srgbClr val="F3F6FB"/>
          </a:solidFill>
          <a:ln w="12700">
            <a:solidFill>
              <a:srgbClr val="D9E1EC"/>
            </a:solidFill>
            <a:prstDash val="solid"/>
          </a:ln>
          <a:effectLst>
            <a:outerShdw blurRad="88900" dist="38100" dir="5400000" algn="bl" rotWithShape="0">
              <a:srgbClr val="8494A8">
                <a:alpha val="28000"/>
              </a:srgbClr>
            </a:outerShdw>
          </a:effectLst>
        </p:spPr>
      </p:sp>
      <p:sp>
        <p:nvSpPr>
          <p:cNvPr id="16" name="Shape 14"/>
          <p:cNvSpPr/>
          <p:nvPr/>
        </p:nvSpPr>
        <p:spPr>
          <a:xfrm>
            <a:off x="777240" y="4206240"/>
            <a:ext cx="502920" cy="502920"/>
          </a:xfrm>
          <a:prstGeom prst="ellipse">
            <a:avLst/>
          </a:prstGeom>
          <a:solidFill>
            <a:srgbClr val="2E9E5B"/>
          </a:solidFill>
          <a:ln/>
        </p:spPr>
      </p:sp>
      <p:sp>
        <p:nvSpPr>
          <p:cNvPr id="17" name="Text 15"/>
          <p:cNvSpPr/>
          <p:nvPr/>
        </p:nvSpPr>
        <p:spPr>
          <a:xfrm>
            <a:off x="777240" y="4206240"/>
            <a:ext cx="502920" cy="50292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8" name="Text 16"/>
          <p:cNvSpPr/>
          <p:nvPr/>
        </p:nvSpPr>
        <p:spPr>
          <a:xfrm>
            <a:off x="1463040" y="4224528"/>
            <a:ext cx="4297680" cy="365760"/>
          </a:xfrm>
          <a:prstGeom prst="rect">
            <a:avLst/>
          </a:prstGeom>
          <a:noFill/>
          <a:ln/>
        </p:spPr>
        <p:txBody>
          <a:bodyPr wrap="square" rtlCol="0" anchor="ctr"/>
          <a:lstStyle/>
          <a:p>
            <a:pPr marL="0" indent="0">
              <a:buNone/>
            </a:pPr>
            <a:r>
              <a:rPr lang="en-US" sz="1600" b="1" dirty="0">
                <a:solidFill>
                  <a:srgbClr val="1F3A5F"/>
                </a:solidFill>
                <a:latin typeface="Calibri" pitchFamily="34" charset="0"/>
                <a:ea typeface="Calibri" pitchFamily="34" charset="-122"/>
                <a:cs typeface="Calibri" pitchFamily="34" charset="-120"/>
              </a:rPr>
              <a:t>Summary</a:t>
            </a:r>
            <a:endParaRPr lang="en-US" sz="1600" dirty="0"/>
          </a:p>
        </p:txBody>
      </p:sp>
      <p:sp>
        <p:nvSpPr>
          <p:cNvPr id="19" name="Text 17"/>
          <p:cNvSpPr/>
          <p:nvPr/>
        </p:nvSpPr>
        <p:spPr>
          <a:xfrm>
            <a:off x="822960" y="4846320"/>
            <a:ext cx="4937760" cy="1005840"/>
          </a:xfrm>
          <a:prstGeom prst="rect">
            <a:avLst/>
          </a:prstGeom>
          <a:noFill/>
          <a:ln/>
        </p:spPr>
        <p:txBody>
          <a:bodyPr wrap="square" rtlCol="0" anchor="t"/>
          <a:lstStyle/>
          <a:p>
            <a:pPr marL="0" indent="0">
              <a:buNone/>
            </a:pPr>
            <a:r>
              <a:rPr lang="en-US" sz="1350" dirty="0">
                <a:solidFill>
                  <a:srgbClr val="1B2430"/>
                </a:solidFill>
                <a:latin typeface="Calibri" pitchFamily="34" charset="0"/>
                <a:ea typeface="Calibri" pitchFamily="34" charset="-122"/>
                <a:cs typeface="Calibri" pitchFamily="34" charset="-120"/>
              </a:rPr>
              <a:t>A modular workbench that converts natural-language goals into approval-gated Kali tool workflows and professional reports</a:t>
            </a:r>
            <a:endParaRPr lang="en-US" sz="1350" dirty="0"/>
          </a:p>
        </p:txBody>
      </p:sp>
      <p:sp>
        <p:nvSpPr>
          <p:cNvPr id="20" name="Shape 18"/>
          <p:cNvSpPr/>
          <p:nvPr/>
        </p:nvSpPr>
        <p:spPr>
          <a:xfrm>
            <a:off x="6217920" y="3931920"/>
            <a:ext cx="5486400" cy="2057400"/>
          </a:xfrm>
          <a:prstGeom prst="roundRect">
            <a:avLst>
              <a:gd name="adj" fmla="val 3556"/>
            </a:avLst>
          </a:prstGeom>
          <a:solidFill>
            <a:srgbClr val="F3F6FB"/>
          </a:solidFill>
          <a:ln w="12700">
            <a:solidFill>
              <a:srgbClr val="D9E1EC"/>
            </a:solidFill>
            <a:prstDash val="solid"/>
          </a:ln>
          <a:effectLst>
            <a:outerShdw blurRad="88900" dist="38100" dir="5400000" algn="bl" rotWithShape="0">
              <a:srgbClr val="8494A8">
                <a:alpha val="28000"/>
              </a:srgbClr>
            </a:outerShdw>
          </a:effectLst>
        </p:spPr>
      </p:sp>
      <p:sp>
        <p:nvSpPr>
          <p:cNvPr id="21" name="Shape 19"/>
          <p:cNvSpPr/>
          <p:nvPr/>
        </p:nvSpPr>
        <p:spPr>
          <a:xfrm>
            <a:off x="6492240" y="4206240"/>
            <a:ext cx="502920" cy="502920"/>
          </a:xfrm>
          <a:prstGeom prst="ellipse">
            <a:avLst/>
          </a:prstGeom>
          <a:solidFill>
            <a:srgbClr val="C9820A"/>
          </a:solidFill>
          <a:ln/>
        </p:spPr>
      </p:sp>
      <p:sp>
        <p:nvSpPr>
          <p:cNvPr id="22" name="Text 20"/>
          <p:cNvSpPr/>
          <p:nvPr/>
        </p:nvSpPr>
        <p:spPr>
          <a:xfrm>
            <a:off x="6492240" y="4206240"/>
            <a:ext cx="502920" cy="50292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3" name="Text 21"/>
          <p:cNvSpPr/>
          <p:nvPr/>
        </p:nvSpPr>
        <p:spPr>
          <a:xfrm>
            <a:off x="7178040" y="4224528"/>
            <a:ext cx="4297680" cy="365760"/>
          </a:xfrm>
          <a:prstGeom prst="rect">
            <a:avLst/>
          </a:prstGeom>
          <a:noFill/>
          <a:ln/>
        </p:spPr>
        <p:txBody>
          <a:bodyPr wrap="square" rtlCol="0" anchor="ctr"/>
          <a:lstStyle/>
          <a:p>
            <a:pPr marL="0" indent="0">
              <a:buNone/>
            </a:pPr>
            <a:r>
              <a:rPr lang="en-US" sz="1600" b="1" dirty="0">
                <a:solidFill>
                  <a:srgbClr val="1F3A5F"/>
                </a:solidFill>
                <a:latin typeface="Calibri" pitchFamily="34" charset="0"/>
                <a:ea typeface="Calibri" pitchFamily="34" charset="-122"/>
                <a:cs typeface="Calibri" pitchFamily="34" charset="-120"/>
              </a:rPr>
              <a:t>Key Technologies</a:t>
            </a:r>
            <a:endParaRPr lang="en-US" sz="1600" dirty="0"/>
          </a:p>
        </p:txBody>
      </p:sp>
      <p:sp>
        <p:nvSpPr>
          <p:cNvPr id="24" name="Text 22"/>
          <p:cNvSpPr/>
          <p:nvPr/>
        </p:nvSpPr>
        <p:spPr>
          <a:xfrm>
            <a:off x="6537960" y="4846320"/>
            <a:ext cx="4937760" cy="1005840"/>
          </a:xfrm>
          <a:prstGeom prst="rect">
            <a:avLst/>
          </a:prstGeom>
          <a:noFill/>
          <a:ln/>
        </p:spPr>
        <p:txBody>
          <a:bodyPr wrap="square" rtlCol="0" anchor="t"/>
          <a:lstStyle/>
          <a:p>
            <a:pPr marL="0" indent="0">
              <a:buNone/>
            </a:pPr>
            <a:r>
              <a:rPr lang="en-US" sz="1350" dirty="0">
                <a:solidFill>
                  <a:srgbClr val="1B2430"/>
                </a:solidFill>
                <a:latin typeface="Calibri" pitchFamily="34" charset="0"/>
                <a:ea typeface="Calibri" pitchFamily="34" charset="-122"/>
                <a:cs typeface="Calibri" pitchFamily="34" charset="-120"/>
              </a:rPr>
              <a:t>Python 3.12, PySide6, SQLite, Local LLM (Ollama), Plugin architecture</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6446520"/>
            <a:ext cx="9144000" cy="274320"/>
          </a:xfrm>
          <a:prstGeom prst="rect">
            <a:avLst/>
          </a:prstGeom>
          <a:noFill/>
          <a:ln/>
        </p:spPr>
        <p:txBody>
          <a:bodyPr wrap="square" rtlCol="0" anchor="ctr"/>
          <a:lstStyle/>
          <a:p>
            <a:pPr marL="0" indent="0">
              <a:buNone/>
            </a:pPr>
            <a:r>
              <a:rPr lang="en-US" sz="900" b="1" dirty="0">
                <a:solidFill>
                  <a:srgbClr val="5E6B7A"/>
                </a:solidFill>
                <a:latin typeface="Calibri" pitchFamily="34" charset="0"/>
                <a:ea typeface="Calibri" pitchFamily="34" charset="-122"/>
                <a:cs typeface="Calibri" pitchFamily="34" charset="-120"/>
              </a:rPr>
              <a:t>SecurityOps Assistant</a:t>
            </a:r>
            <a:r>
              <a:rPr lang="en-US" sz="900" dirty="0">
                <a:solidFill>
                  <a:srgbClr val="5E6B7A"/>
                </a:solidFill>
                <a:latin typeface="Calibri" pitchFamily="34" charset="0"/>
                <a:ea typeface="Calibri" pitchFamily="34" charset="-122"/>
                <a:cs typeface="Calibri" pitchFamily="34" charset="-120"/>
              </a:rPr>
              <a:t>   |   Project Proposal</a:t>
            </a:r>
            <a:endParaRPr lang="en-US" sz="900" dirty="0"/>
          </a:p>
        </p:txBody>
      </p:sp>
      <p:sp>
        <p:nvSpPr>
          <p:cNvPr id="3" name="Text 1"/>
          <p:cNvSpPr/>
          <p:nvPr/>
        </p:nvSpPr>
        <p:spPr>
          <a:xfrm>
            <a:off x="11338560" y="6446520"/>
            <a:ext cx="365760" cy="274320"/>
          </a:xfrm>
          <a:prstGeom prst="rect">
            <a:avLst/>
          </a:prstGeom>
          <a:noFill/>
          <a:ln/>
        </p:spPr>
        <p:txBody>
          <a:bodyPr wrap="square" rtlCol="0" anchor="ctr"/>
          <a:lstStyle/>
          <a:p>
            <a:pPr marL="0" indent="0" algn="r">
              <a:buNone/>
            </a:pPr>
            <a:r>
              <a:rPr lang="en-US" sz="900" dirty="0">
                <a:solidFill>
                  <a:srgbClr val="5E6B7A"/>
                </a:solidFill>
                <a:latin typeface="Calibri" pitchFamily="34" charset="0"/>
                <a:ea typeface="Calibri" pitchFamily="34" charset="-122"/>
                <a:cs typeface="Calibri" pitchFamily="34" charset="-120"/>
              </a:rPr>
              <a:t>3</a:t>
            </a:r>
            <a:endParaRPr lang="en-US" sz="900" dirty="0"/>
          </a:p>
        </p:txBody>
      </p:sp>
      <p:sp>
        <p:nvSpPr>
          <p:cNvPr id="4" name="Text 2"/>
          <p:cNvSpPr/>
          <p:nvPr/>
        </p:nvSpPr>
        <p:spPr>
          <a:xfrm>
            <a:off x="502920" y="411480"/>
            <a:ext cx="11155680" cy="640080"/>
          </a:xfrm>
          <a:prstGeom prst="rect">
            <a:avLst/>
          </a:prstGeom>
          <a:noFill/>
          <a:ln/>
        </p:spPr>
        <p:txBody>
          <a:bodyPr wrap="square" rtlCol="0" anchor="ctr"/>
          <a:lstStyle/>
          <a:p>
            <a:pPr marL="0" indent="0">
              <a:buNone/>
            </a:pPr>
            <a:r>
              <a:rPr lang="en-US" sz="3200" b="1" dirty="0">
                <a:solidFill>
                  <a:srgbClr val="1F3A5F"/>
                </a:solidFill>
                <a:latin typeface="Cambria" pitchFamily="34" charset="0"/>
                <a:ea typeface="Cambria" pitchFamily="34" charset="-122"/>
                <a:cs typeface="Cambria" pitchFamily="34" charset="-120"/>
              </a:rPr>
              <a:t>Problem Statement</a:t>
            </a:r>
            <a:endParaRPr lang="en-US" sz="3200" dirty="0"/>
          </a:p>
        </p:txBody>
      </p:sp>
      <p:sp>
        <p:nvSpPr>
          <p:cNvPr id="5" name="Shape 3"/>
          <p:cNvSpPr/>
          <p:nvPr/>
        </p:nvSpPr>
        <p:spPr>
          <a:xfrm>
            <a:off x="502920" y="1600200"/>
            <a:ext cx="11201400" cy="788213"/>
          </a:xfrm>
          <a:prstGeom prst="roundRect">
            <a:avLst>
              <a:gd name="adj" fmla="val 9281"/>
            </a:avLst>
          </a:prstGeom>
          <a:solidFill>
            <a:srgbClr val="F3F6FB"/>
          </a:solidFill>
          <a:ln w="12700">
            <a:solidFill>
              <a:srgbClr val="D9E1EC"/>
            </a:solidFill>
            <a:prstDash val="solid"/>
          </a:ln>
          <a:effectLst>
            <a:outerShdw blurRad="88900" dist="38100" dir="5400000" algn="bl" rotWithShape="0">
              <a:srgbClr val="8494A8">
                <a:alpha val="28000"/>
              </a:srgbClr>
            </a:outerShdw>
          </a:effectLst>
        </p:spPr>
      </p:sp>
      <p:sp>
        <p:nvSpPr>
          <p:cNvPr id="6" name="Shape 4"/>
          <p:cNvSpPr/>
          <p:nvPr/>
        </p:nvSpPr>
        <p:spPr>
          <a:xfrm>
            <a:off x="731520" y="1765706"/>
            <a:ext cx="457200" cy="457200"/>
          </a:xfrm>
          <a:prstGeom prst="ellipse">
            <a:avLst/>
          </a:prstGeom>
          <a:solidFill>
            <a:srgbClr val="2C5282"/>
          </a:solidFill>
          <a:ln/>
        </p:spPr>
      </p:sp>
      <p:sp>
        <p:nvSpPr>
          <p:cNvPr id="7" name="Text 5"/>
          <p:cNvSpPr/>
          <p:nvPr/>
        </p:nvSpPr>
        <p:spPr>
          <a:xfrm>
            <a:off x="731520" y="1765706"/>
            <a:ext cx="45720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p:nvPr/>
        </p:nvSpPr>
        <p:spPr>
          <a:xfrm>
            <a:off x="1417320" y="1600200"/>
            <a:ext cx="10058400" cy="788213"/>
          </a:xfrm>
          <a:prstGeom prst="rect">
            <a:avLst/>
          </a:prstGeom>
          <a:noFill/>
          <a:ln/>
        </p:spPr>
        <p:txBody>
          <a:bodyPr wrap="square" rtlCol="0" anchor="ctr"/>
          <a:lstStyle/>
          <a:p>
            <a:pPr marL="0" indent="0">
              <a:buNone/>
            </a:pPr>
            <a:r>
              <a:rPr lang="en-US" sz="1500" dirty="0">
                <a:solidFill>
                  <a:srgbClr val="1B2430"/>
                </a:solidFill>
                <a:latin typeface="Calibri" pitchFamily="34" charset="0"/>
                <a:ea typeface="Calibri" pitchFamily="34" charset="-122"/>
                <a:cs typeface="Calibri" pitchFamily="34" charset="-120"/>
              </a:rPr>
              <a:t>Existing problems: security tooling is fragmented across many separate CLI tools</a:t>
            </a:r>
            <a:endParaRPr lang="en-US" sz="1500" dirty="0"/>
          </a:p>
        </p:txBody>
      </p:sp>
      <p:sp>
        <p:nvSpPr>
          <p:cNvPr id="9" name="Shape 7"/>
          <p:cNvSpPr/>
          <p:nvPr/>
        </p:nvSpPr>
        <p:spPr>
          <a:xfrm>
            <a:off x="502920" y="2534717"/>
            <a:ext cx="11201400" cy="788213"/>
          </a:xfrm>
          <a:prstGeom prst="roundRect">
            <a:avLst>
              <a:gd name="adj" fmla="val 9281"/>
            </a:avLst>
          </a:prstGeom>
          <a:solidFill>
            <a:srgbClr val="F3F6FB"/>
          </a:solidFill>
          <a:ln w="12700">
            <a:solidFill>
              <a:srgbClr val="D9E1EC"/>
            </a:solidFill>
            <a:prstDash val="solid"/>
          </a:ln>
          <a:effectLst>
            <a:outerShdw blurRad="88900" dist="38100" dir="5400000" algn="bl" rotWithShape="0">
              <a:srgbClr val="8494A8">
                <a:alpha val="28000"/>
              </a:srgbClr>
            </a:outerShdw>
          </a:effectLst>
        </p:spPr>
      </p:sp>
      <p:sp>
        <p:nvSpPr>
          <p:cNvPr id="10" name="Shape 8"/>
          <p:cNvSpPr/>
          <p:nvPr/>
        </p:nvSpPr>
        <p:spPr>
          <a:xfrm>
            <a:off x="731520" y="2700223"/>
            <a:ext cx="457200" cy="457200"/>
          </a:xfrm>
          <a:prstGeom prst="ellipse">
            <a:avLst/>
          </a:prstGeom>
          <a:solidFill>
            <a:srgbClr val="2C9CA6"/>
          </a:solidFill>
          <a:ln/>
        </p:spPr>
      </p:sp>
      <p:sp>
        <p:nvSpPr>
          <p:cNvPr id="11" name="Text 9"/>
          <p:cNvSpPr/>
          <p:nvPr/>
        </p:nvSpPr>
        <p:spPr>
          <a:xfrm>
            <a:off x="731520" y="2700223"/>
            <a:ext cx="45720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1417320" y="2534717"/>
            <a:ext cx="10058400" cy="788213"/>
          </a:xfrm>
          <a:prstGeom prst="rect">
            <a:avLst/>
          </a:prstGeom>
          <a:noFill/>
          <a:ln/>
        </p:spPr>
        <p:txBody>
          <a:bodyPr wrap="square" rtlCol="0" anchor="ctr"/>
          <a:lstStyle/>
          <a:p>
            <a:pPr marL="0" indent="0">
              <a:buNone/>
            </a:pPr>
            <a:r>
              <a:rPr lang="en-US" sz="1500" dirty="0">
                <a:solidFill>
                  <a:srgbClr val="1B2430"/>
                </a:solidFill>
                <a:latin typeface="Calibri" pitchFamily="34" charset="0"/>
                <a:ea typeface="Calibri" pitchFamily="34" charset="-122"/>
                <a:cs typeface="Calibri" pitchFamily="34" charset="-120"/>
              </a:rPr>
              <a:t>Analysts manually craft commands, track scope, and copy-paste evidence</a:t>
            </a:r>
            <a:endParaRPr lang="en-US" sz="1500" dirty="0"/>
          </a:p>
        </p:txBody>
      </p:sp>
      <p:sp>
        <p:nvSpPr>
          <p:cNvPr id="13" name="Shape 11"/>
          <p:cNvSpPr/>
          <p:nvPr/>
        </p:nvSpPr>
        <p:spPr>
          <a:xfrm>
            <a:off x="502920" y="3469234"/>
            <a:ext cx="11201400" cy="788213"/>
          </a:xfrm>
          <a:prstGeom prst="roundRect">
            <a:avLst>
              <a:gd name="adj" fmla="val 9281"/>
            </a:avLst>
          </a:prstGeom>
          <a:solidFill>
            <a:srgbClr val="F3F6FB"/>
          </a:solidFill>
          <a:ln w="12700">
            <a:solidFill>
              <a:srgbClr val="D9E1EC"/>
            </a:solidFill>
            <a:prstDash val="solid"/>
          </a:ln>
          <a:effectLst>
            <a:outerShdw blurRad="88900" dist="38100" dir="5400000" algn="bl" rotWithShape="0">
              <a:srgbClr val="8494A8">
                <a:alpha val="28000"/>
              </a:srgbClr>
            </a:outerShdw>
          </a:effectLst>
        </p:spPr>
      </p:sp>
      <p:sp>
        <p:nvSpPr>
          <p:cNvPr id="14" name="Shape 12"/>
          <p:cNvSpPr/>
          <p:nvPr/>
        </p:nvSpPr>
        <p:spPr>
          <a:xfrm>
            <a:off x="731520" y="3634740"/>
            <a:ext cx="457200" cy="457200"/>
          </a:xfrm>
          <a:prstGeom prst="ellipse">
            <a:avLst/>
          </a:prstGeom>
          <a:solidFill>
            <a:srgbClr val="2E9E5B"/>
          </a:solidFill>
          <a:ln/>
        </p:spPr>
      </p:sp>
      <p:sp>
        <p:nvSpPr>
          <p:cNvPr id="15" name="Text 13"/>
          <p:cNvSpPr/>
          <p:nvPr/>
        </p:nvSpPr>
        <p:spPr>
          <a:xfrm>
            <a:off x="731520" y="3634740"/>
            <a:ext cx="45720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6" name="Text 14"/>
          <p:cNvSpPr/>
          <p:nvPr/>
        </p:nvSpPr>
        <p:spPr>
          <a:xfrm>
            <a:off x="1417320" y="3469234"/>
            <a:ext cx="10058400" cy="788213"/>
          </a:xfrm>
          <a:prstGeom prst="rect">
            <a:avLst/>
          </a:prstGeom>
          <a:noFill/>
          <a:ln/>
        </p:spPr>
        <p:txBody>
          <a:bodyPr wrap="square" rtlCol="0" anchor="ctr"/>
          <a:lstStyle/>
          <a:p>
            <a:pPr marL="0" indent="0">
              <a:buNone/>
            </a:pPr>
            <a:r>
              <a:rPr lang="en-US" sz="1500" dirty="0">
                <a:solidFill>
                  <a:srgbClr val="1B2430"/>
                </a:solidFill>
                <a:latin typeface="Calibri" pitchFamily="34" charset="0"/>
                <a:ea typeface="Calibri" pitchFamily="34" charset="-122"/>
                <a:cs typeface="Calibri" pitchFamily="34" charset="-120"/>
              </a:rPr>
              <a:t>Current challenges: steep learning curve, scattered evidence, slow manual reporting</a:t>
            </a:r>
            <a:endParaRPr lang="en-US" sz="1500" dirty="0"/>
          </a:p>
        </p:txBody>
      </p:sp>
      <p:sp>
        <p:nvSpPr>
          <p:cNvPr id="17" name="Shape 15"/>
          <p:cNvSpPr/>
          <p:nvPr/>
        </p:nvSpPr>
        <p:spPr>
          <a:xfrm>
            <a:off x="502920" y="4403750"/>
            <a:ext cx="11201400" cy="788213"/>
          </a:xfrm>
          <a:prstGeom prst="roundRect">
            <a:avLst>
              <a:gd name="adj" fmla="val 9281"/>
            </a:avLst>
          </a:prstGeom>
          <a:solidFill>
            <a:srgbClr val="F3F6FB"/>
          </a:solidFill>
          <a:ln w="12700">
            <a:solidFill>
              <a:srgbClr val="D9E1EC"/>
            </a:solidFill>
            <a:prstDash val="solid"/>
          </a:ln>
          <a:effectLst>
            <a:outerShdw blurRad="88900" dist="38100" dir="5400000" algn="bl" rotWithShape="0">
              <a:srgbClr val="8494A8">
                <a:alpha val="28000"/>
              </a:srgbClr>
            </a:outerShdw>
          </a:effectLst>
        </p:spPr>
      </p:sp>
      <p:sp>
        <p:nvSpPr>
          <p:cNvPr id="18" name="Shape 16"/>
          <p:cNvSpPr/>
          <p:nvPr/>
        </p:nvSpPr>
        <p:spPr>
          <a:xfrm>
            <a:off x="731520" y="4569257"/>
            <a:ext cx="457200" cy="457200"/>
          </a:xfrm>
          <a:prstGeom prst="ellipse">
            <a:avLst/>
          </a:prstGeom>
          <a:solidFill>
            <a:srgbClr val="C9820A"/>
          </a:solidFill>
          <a:ln/>
        </p:spPr>
      </p:sp>
      <p:sp>
        <p:nvSpPr>
          <p:cNvPr id="19" name="Text 17"/>
          <p:cNvSpPr/>
          <p:nvPr/>
        </p:nvSpPr>
        <p:spPr>
          <a:xfrm>
            <a:off x="731520" y="4569257"/>
            <a:ext cx="45720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0" name="Text 18"/>
          <p:cNvSpPr/>
          <p:nvPr/>
        </p:nvSpPr>
        <p:spPr>
          <a:xfrm>
            <a:off x="1417320" y="4403750"/>
            <a:ext cx="10058400" cy="788213"/>
          </a:xfrm>
          <a:prstGeom prst="rect">
            <a:avLst/>
          </a:prstGeom>
          <a:noFill/>
          <a:ln/>
        </p:spPr>
        <p:txBody>
          <a:bodyPr wrap="square" rtlCol="0" anchor="ctr"/>
          <a:lstStyle/>
          <a:p>
            <a:pPr marL="0" indent="0">
              <a:buNone/>
            </a:pPr>
            <a:r>
              <a:rPr lang="en-US" sz="1500" dirty="0">
                <a:solidFill>
                  <a:srgbClr val="1B2430"/>
                </a:solidFill>
                <a:latin typeface="Calibri" pitchFamily="34" charset="0"/>
                <a:ea typeface="Calibri" pitchFamily="34" charset="-122"/>
                <a:cs typeface="Calibri" pitchFamily="34" charset="-120"/>
              </a:rPr>
              <a:t>Cloud AI assistants raise privacy and data-confidentiality concerns</a:t>
            </a:r>
            <a:endParaRPr lang="en-US" sz="1500" dirty="0"/>
          </a:p>
        </p:txBody>
      </p:sp>
      <p:sp>
        <p:nvSpPr>
          <p:cNvPr id="21" name="Shape 19"/>
          <p:cNvSpPr/>
          <p:nvPr/>
        </p:nvSpPr>
        <p:spPr>
          <a:xfrm>
            <a:off x="502920" y="5338267"/>
            <a:ext cx="11201400" cy="788213"/>
          </a:xfrm>
          <a:prstGeom prst="roundRect">
            <a:avLst>
              <a:gd name="adj" fmla="val 9281"/>
            </a:avLst>
          </a:prstGeom>
          <a:solidFill>
            <a:srgbClr val="F3F6FB"/>
          </a:solidFill>
          <a:ln w="12700">
            <a:solidFill>
              <a:srgbClr val="D9E1EC"/>
            </a:solidFill>
            <a:prstDash val="solid"/>
          </a:ln>
          <a:effectLst>
            <a:outerShdw blurRad="88900" dist="38100" dir="5400000" algn="bl" rotWithShape="0">
              <a:srgbClr val="8494A8">
                <a:alpha val="28000"/>
              </a:srgbClr>
            </a:outerShdw>
          </a:effectLst>
        </p:spPr>
      </p:sp>
      <p:sp>
        <p:nvSpPr>
          <p:cNvPr id="22" name="Shape 20"/>
          <p:cNvSpPr/>
          <p:nvPr/>
        </p:nvSpPr>
        <p:spPr>
          <a:xfrm>
            <a:off x="731520" y="5503774"/>
            <a:ext cx="457200" cy="457200"/>
          </a:xfrm>
          <a:prstGeom prst="ellipse">
            <a:avLst/>
          </a:prstGeom>
          <a:solidFill>
            <a:srgbClr val="6C5CE7"/>
          </a:solidFill>
          <a:ln/>
        </p:spPr>
      </p:sp>
      <p:sp>
        <p:nvSpPr>
          <p:cNvPr id="23" name="Text 21"/>
          <p:cNvSpPr/>
          <p:nvPr/>
        </p:nvSpPr>
        <p:spPr>
          <a:xfrm>
            <a:off x="731520" y="5503774"/>
            <a:ext cx="45720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4" name="Text 22"/>
          <p:cNvSpPr/>
          <p:nvPr/>
        </p:nvSpPr>
        <p:spPr>
          <a:xfrm>
            <a:off x="1417320" y="5338267"/>
            <a:ext cx="10058400" cy="788213"/>
          </a:xfrm>
          <a:prstGeom prst="rect">
            <a:avLst/>
          </a:prstGeom>
          <a:noFill/>
          <a:ln/>
        </p:spPr>
        <p:txBody>
          <a:bodyPr wrap="square" rtlCol="0" anchor="ctr"/>
          <a:lstStyle/>
          <a:p>
            <a:pPr marL="0" indent="0">
              <a:buNone/>
            </a:pPr>
            <a:r>
              <a:rPr lang="en-US" sz="1500" dirty="0">
                <a:solidFill>
                  <a:srgbClr val="1B2430"/>
                </a:solidFill>
                <a:latin typeface="Calibri" pitchFamily="34" charset="0"/>
                <a:ea typeface="Calibri" pitchFamily="34" charset="-122"/>
                <a:cs typeface="Calibri" pitchFamily="34" charset="-120"/>
              </a:rPr>
              <a:t>Research gap: no offline, safety-gated, AI-assisted, integrated assessment workbench</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6446520"/>
            <a:ext cx="9144000" cy="274320"/>
          </a:xfrm>
          <a:prstGeom prst="rect">
            <a:avLst/>
          </a:prstGeom>
          <a:noFill/>
          <a:ln/>
        </p:spPr>
        <p:txBody>
          <a:bodyPr wrap="square" rtlCol="0" anchor="ctr"/>
          <a:lstStyle/>
          <a:p>
            <a:pPr marL="0" indent="0">
              <a:buNone/>
            </a:pPr>
            <a:r>
              <a:rPr lang="en-US" sz="900" b="1" dirty="0">
                <a:solidFill>
                  <a:srgbClr val="5E6B7A"/>
                </a:solidFill>
                <a:latin typeface="Calibri" pitchFamily="34" charset="0"/>
                <a:ea typeface="Calibri" pitchFamily="34" charset="-122"/>
                <a:cs typeface="Calibri" pitchFamily="34" charset="-120"/>
              </a:rPr>
              <a:t>SecurityOps Assistant</a:t>
            </a:r>
            <a:r>
              <a:rPr lang="en-US" sz="900" dirty="0">
                <a:solidFill>
                  <a:srgbClr val="5E6B7A"/>
                </a:solidFill>
                <a:latin typeface="Calibri" pitchFamily="34" charset="0"/>
                <a:ea typeface="Calibri" pitchFamily="34" charset="-122"/>
                <a:cs typeface="Calibri" pitchFamily="34" charset="-120"/>
              </a:rPr>
              <a:t>   |   Project Proposal</a:t>
            </a:r>
            <a:endParaRPr lang="en-US" sz="900" dirty="0"/>
          </a:p>
        </p:txBody>
      </p:sp>
      <p:sp>
        <p:nvSpPr>
          <p:cNvPr id="3" name="Text 1"/>
          <p:cNvSpPr/>
          <p:nvPr/>
        </p:nvSpPr>
        <p:spPr>
          <a:xfrm>
            <a:off x="11338560" y="6446520"/>
            <a:ext cx="365760" cy="274320"/>
          </a:xfrm>
          <a:prstGeom prst="rect">
            <a:avLst/>
          </a:prstGeom>
          <a:noFill/>
          <a:ln/>
        </p:spPr>
        <p:txBody>
          <a:bodyPr wrap="square" rtlCol="0" anchor="ctr"/>
          <a:lstStyle/>
          <a:p>
            <a:pPr marL="0" indent="0" algn="r">
              <a:buNone/>
            </a:pPr>
            <a:r>
              <a:rPr lang="en-US" sz="900" dirty="0">
                <a:solidFill>
                  <a:srgbClr val="5E6B7A"/>
                </a:solidFill>
                <a:latin typeface="Calibri" pitchFamily="34" charset="0"/>
                <a:ea typeface="Calibri" pitchFamily="34" charset="-122"/>
                <a:cs typeface="Calibri" pitchFamily="34" charset="-120"/>
              </a:rPr>
              <a:t>4</a:t>
            </a:r>
            <a:endParaRPr lang="en-US" sz="900" dirty="0"/>
          </a:p>
        </p:txBody>
      </p:sp>
      <p:sp>
        <p:nvSpPr>
          <p:cNvPr id="4" name="Text 2"/>
          <p:cNvSpPr/>
          <p:nvPr/>
        </p:nvSpPr>
        <p:spPr>
          <a:xfrm>
            <a:off x="502920" y="411480"/>
            <a:ext cx="11155680" cy="640080"/>
          </a:xfrm>
          <a:prstGeom prst="rect">
            <a:avLst/>
          </a:prstGeom>
          <a:noFill/>
          <a:ln/>
        </p:spPr>
        <p:txBody>
          <a:bodyPr wrap="square" rtlCol="0" anchor="ctr"/>
          <a:lstStyle/>
          <a:p>
            <a:pPr marL="0" indent="0">
              <a:buNone/>
            </a:pPr>
            <a:r>
              <a:rPr lang="en-US" sz="3200" b="1" dirty="0">
                <a:solidFill>
                  <a:srgbClr val="1F3A5F"/>
                </a:solidFill>
                <a:latin typeface="Cambria" pitchFamily="34" charset="0"/>
                <a:ea typeface="Cambria" pitchFamily="34" charset="-122"/>
                <a:cs typeface="Cambria" pitchFamily="34" charset="-120"/>
              </a:rPr>
              <a:t>Motivation</a:t>
            </a:r>
            <a:endParaRPr lang="en-US" sz="3200" dirty="0"/>
          </a:p>
        </p:txBody>
      </p:sp>
      <p:sp>
        <p:nvSpPr>
          <p:cNvPr id="5" name="Shape 3"/>
          <p:cNvSpPr/>
          <p:nvPr/>
        </p:nvSpPr>
        <p:spPr>
          <a:xfrm>
            <a:off x="502920" y="1600200"/>
            <a:ext cx="11201400" cy="788213"/>
          </a:xfrm>
          <a:prstGeom prst="roundRect">
            <a:avLst>
              <a:gd name="adj" fmla="val 9281"/>
            </a:avLst>
          </a:prstGeom>
          <a:solidFill>
            <a:srgbClr val="F3F6FB"/>
          </a:solidFill>
          <a:ln w="12700">
            <a:solidFill>
              <a:srgbClr val="D9E1EC"/>
            </a:solidFill>
            <a:prstDash val="solid"/>
          </a:ln>
          <a:effectLst>
            <a:outerShdw blurRad="88900" dist="38100" dir="5400000" algn="bl" rotWithShape="0">
              <a:srgbClr val="8494A8">
                <a:alpha val="28000"/>
              </a:srgbClr>
            </a:outerShdw>
          </a:effectLst>
        </p:spPr>
      </p:sp>
      <p:sp>
        <p:nvSpPr>
          <p:cNvPr id="6" name="Shape 4"/>
          <p:cNvSpPr/>
          <p:nvPr/>
        </p:nvSpPr>
        <p:spPr>
          <a:xfrm>
            <a:off x="731520" y="1765706"/>
            <a:ext cx="457200" cy="457200"/>
          </a:xfrm>
          <a:prstGeom prst="ellipse">
            <a:avLst/>
          </a:prstGeom>
          <a:solidFill>
            <a:srgbClr val="2C5282"/>
          </a:solidFill>
          <a:ln/>
        </p:spPr>
      </p:sp>
      <p:sp>
        <p:nvSpPr>
          <p:cNvPr id="7" name="Text 5"/>
          <p:cNvSpPr/>
          <p:nvPr/>
        </p:nvSpPr>
        <p:spPr>
          <a:xfrm>
            <a:off x="731520" y="1765706"/>
            <a:ext cx="45720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p:nvPr/>
        </p:nvSpPr>
        <p:spPr>
          <a:xfrm>
            <a:off x="1417320" y="1600200"/>
            <a:ext cx="10058400" cy="788213"/>
          </a:xfrm>
          <a:prstGeom prst="rect">
            <a:avLst/>
          </a:prstGeom>
          <a:noFill/>
          <a:ln/>
        </p:spPr>
        <p:txBody>
          <a:bodyPr wrap="square" rtlCol="0" anchor="ctr"/>
          <a:lstStyle/>
          <a:p>
            <a:pPr marL="0" indent="0">
              <a:buNone/>
            </a:pPr>
            <a:r>
              <a:rPr lang="en-US" sz="1500" dirty="0">
                <a:solidFill>
                  <a:srgbClr val="1B2430"/>
                </a:solidFill>
                <a:latin typeface="Calibri" pitchFamily="34" charset="0"/>
                <a:ea typeface="Calibri" pitchFamily="34" charset="-122"/>
                <a:cs typeface="Calibri" pitchFamily="34" charset="-120"/>
              </a:rPr>
              <a:t>Why selected: convergence of AI and cybersecurity is a high-impact, active research area</a:t>
            </a:r>
            <a:endParaRPr lang="en-US" sz="1500" dirty="0"/>
          </a:p>
        </p:txBody>
      </p:sp>
      <p:sp>
        <p:nvSpPr>
          <p:cNvPr id="9" name="Shape 7"/>
          <p:cNvSpPr/>
          <p:nvPr/>
        </p:nvSpPr>
        <p:spPr>
          <a:xfrm>
            <a:off x="502920" y="2534717"/>
            <a:ext cx="11201400" cy="788213"/>
          </a:xfrm>
          <a:prstGeom prst="roundRect">
            <a:avLst>
              <a:gd name="adj" fmla="val 9281"/>
            </a:avLst>
          </a:prstGeom>
          <a:solidFill>
            <a:srgbClr val="F3F6FB"/>
          </a:solidFill>
          <a:ln w="12700">
            <a:solidFill>
              <a:srgbClr val="D9E1EC"/>
            </a:solidFill>
            <a:prstDash val="solid"/>
          </a:ln>
          <a:effectLst>
            <a:outerShdw blurRad="88900" dist="38100" dir="5400000" algn="bl" rotWithShape="0">
              <a:srgbClr val="8494A8">
                <a:alpha val="28000"/>
              </a:srgbClr>
            </a:outerShdw>
          </a:effectLst>
        </p:spPr>
      </p:sp>
      <p:sp>
        <p:nvSpPr>
          <p:cNvPr id="10" name="Shape 8"/>
          <p:cNvSpPr/>
          <p:nvPr/>
        </p:nvSpPr>
        <p:spPr>
          <a:xfrm>
            <a:off x="731520" y="2700223"/>
            <a:ext cx="457200" cy="457200"/>
          </a:xfrm>
          <a:prstGeom prst="ellipse">
            <a:avLst/>
          </a:prstGeom>
          <a:solidFill>
            <a:srgbClr val="2C9CA6"/>
          </a:solidFill>
          <a:ln/>
        </p:spPr>
      </p:sp>
      <p:sp>
        <p:nvSpPr>
          <p:cNvPr id="11" name="Text 9"/>
          <p:cNvSpPr/>
          <p:nvPr/>
        </p:nvSpPr>
        <p:spPr>
          <a:xfrm>
            <a:off x="731520" y="2700223"/>
            <a:ext cx="45720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1417320" y="2534717"/>
            <a:ext cx="10058400" cy="788213"/>
          </a:xfrm>
          <a:prstGeom prst="rect">
            <a:avLst/>
          </a:prstGeom>
          <a:noFill/>
          <a:ln/>
        </p:spPr>
        <p:txBody>
          <a:bodyPr wrap="square" rtlCol="0" anchor="ctr"/>
          <a:lstStyle/>
          <a:p>
            <a:pPr marL="0" indent="0">
              <a:buNone/>
            </a:pPr>
            <a:r>
              <a:rPr lang="en-US" sz="1500" dirty="0">
                <a:solidFill>
                  <a:srgbClr val="1B2430"/>
                </a:solidFill>
                <a:latin typeface="Calibri" pitchFamily="34" charset="0"/>
                <a:ea typeface="Calibri" pitchFamily="34" charset="-122"/>
                <a:cs typeface="Calibri" pitchFamily="34" charset="-120"/>
              </a:rPr>
              <a:t>Industry demand: rapid growth in penetration testing and bug bounty programs</a:t>
            </a:r>
            <a:endParaRPr lang="en-US" sz="1500" dirty="0"/>
          </a:p>
        </p:txBody>
      </p:sp>
      <p:sp>
        <p:nvSpPr>
          <p:cNvPr id="13" name="Shape 11"/>
          <p:cNvSpPr/>
          <p:nvPr/>
        </p:nvSpPr>
        <p:spPr>
          <a:xfrm>
            <a:off x="502920" y="3469234"/>
            <a:ext cx="11201400" cy="788213"/>
          </a:xfrm>
          <a:prstGeom prst="roundRect">
            <a:avLst>
              <a:gd name="adj" fmla="val 9281"/>
            </a:avLst>
          </a:prstGeom>
          <a:solidFill>
            <a:srgbClr val="F3F6FB"/>
          </a:solidFill>
          <a:ln w="12700">
            <a:solidFill>
              <a:srgbClr val="D9E1EC"/>
            </a:solidFill>
            <a:prstDash val="solid"/>
          </a:ln>
          <a:effectLst>
            <a:outerShdw blurRad="88900" dist="38100" dir="5400000" algn="bl" rotWithShape="0">
              <a:srgbClr val="8494A8">
                <a:alpha val="28000"/>
              </a:srgbClr>
            </a:outerShdw>
          </a:effectLst>
        </p:spPr>
      </p:sp>
      <p:sp>
        <p:nvSpPr>
          <p:cNvPr id="14" name="Shape 12"/>
          <p:cNvSpPr/>
          <p:nvPr/>
        </p:nvSpPr>
        <p:spPr>
          <a:xfrm>
            <a:off x="731520" y="3634740"/>
            <a:ext cx="457200" cy="457200"/>
          </a:xfrm>
          <a:prstGeom prst="ellipse">
            <a:avLst/>
          </a:prstGeom>
          <a:solidFill>
            <a:srgbClr val="2E9E5B"/>
          </a:solidFill>
          <a:ln/>
        </p:spPr>
      </p:sp>
      <p:sp>
        <p:nvSpPr>
          <p:cNvPr id="15" name="Text 13"/>
          <p:cNvSpPr/>
          <p:nvPr/>
        </p:nvSpPr>
        <p:spPr>
          <a:xfrm>
            <a:off x="731520" y="3634740"/>
            <a:ext cx="45720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6" name="Text 14"/>
          <p:cNvSpPr/>
          <p:nvPr/>
        </p:nvSpPr>
        <p:spPr>
          <a:xfrm>
            <a:off x="1417320" y="3469234"/>
            <a:ext cx="10058400" cy="788213"/>
          </a:xfrm>
          <a:prstGeom prst="rect">
            <a:avLst/>
          </a:prstGeom>
          <a:noFill/>
          <a:ln/>
        </p:spPr>
        <p:txBody>
          <a:bodyPr wrap="square" rtlCol="0" anchor="ctr"/>
          <a:lstStyle/>
          <a:p>
            <a:pPr marL="0" indent="0">
              <a:buNone/>
            </a:pPr>
            <a:r>
              <a:rPr lang="en-US" sz="1500" dirty="0">
                <a:solidFill>
                  <a:srgbClr val="1B2430"/>
                </a:solidFill>
                <a:latin typeface="Calibri" pitchFamily="34" charset="0"/>
                <a:ea typeface="Calibri" pitchFamily="34" charset="-122"/>
                <a:cs typeface="Calibri" pitchFamily="34" charset="-120"/>
              </a:rPr>
              <a:t>A widening cybersecurity skills gap needs guided, assistive tooling</a:t>
            </a:r>
            <a:endParaRPr lang="en-US" sz="1500" dirty="0"/>
          </a:p>
        </p:txBody>
      </p:sp>
      <p:sp>
        <p:nvSpPr>
          <p:cNvPr id="17" name="Shape 15"/>
          <p:cNvSpPr/>
          <p:nvPr/>
        </p:nvSpPr>
        <p:spPr>
          <a:xfrm>
            <a:off x="502920" y="4403750"/>
            <a:ext cx="11201400" cy="788213"/>
          </a:xfrm>
          <a:prstGeom prst="roundRect">
            <a:avLst>
              <a:gd name="adj" fmla="val 9281"/>
            </a:avLst>
          </a:prstGeom>
          <a:solidFill>
            <a:srgbClr val="F3F6FB"/>
          </a:solidFill>
          <a:ln w="12700">
            <a:solidFill>
              <a:srgbClr val="D9E1EC"/>
            </a:solidFill>
            <a:prstDash val="solid"/>
          </a:ln>
          <a:effectLst>
            <a:outerShdw blurRad="88900" dist="38100" dir="5400000" algn="bl" rotWithShape="0">
              <a:srgbClr val="8494A8">
                <a:alpha val="28000"/>
              </a:srgbClr>
            </a:outerShdw>
          </a:effectLst>
        </p:spPr>
      </p:sp>
      <p:sp>
        <p:nvSpPr>
          <p:cNvPr id="18" name="Shape 16"/>
          <p:cNvSpPr/>
          <p:nvPr/>
        </p:nvSpPr>
        <p:spPr>
          <a:xfrm>
            <a:off x="731520" y="4569257"/>
            <a:ext cx="457200" cy="457200"/>
          </a:xfrm>
          <a:prstGeom prst="ellipse">
            <a:avLst/>
          </a:prstGeom>
          <a:solidFill>
            <a:srgbClr val="C9820A"/>
          </a:solidFill>
          <a:ln/>
        </p:spPr>
      </p:sp>
      <p:sp>
        <p:nvSpPr>
          <p:cNvPr id="19" name="Text 17"/>
          <p:cNvSpPr/>
          <p:nvPr/>
        </p:nvSpPr>
        <p:spPr>
          <a:xfrm>
            <a:off x="731520" y="4569257"/>
            <a:ext cx="45720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0" name="Text 18"/>
          <p:cNvSpPr/>
          <p:nvPr/>
        </p:nvSpPr>
        <p:spPr>
          <a:xfrm>
            <a:off x="1417320" y="4403750"/>
            <a:ext cx="10058400" cy="788213"/>
          </a:xfrm>
          <a:prstGeom prst="rect">
            <a:avLst/>
          </a:prstGeom>
          <a:noFill/>
          <a:ln/>
        </p:spPr>
        <p:txBody>
          <a:bodyPr wrap="square" rtlCol="0" anchor="ctr"/>
          <a:lstStyle/>
          <a:p>
            <a:pPr marL="0" indent="0">
              <a:buNone/>
            </a:pPr>
            <a:r>
              <a:rPr lang="en-US" sz="1500" dirty="0">
                <a:solidFill>
                  <a:srgbClr val="1B2430"/>
                </a:solidFill>
                <a:latin typeface="Calibri" pitchFamily="34" charset="0"/>
                <a:ea typeface="Calibri" pitchFamily="34" charset="-122"/>
                <a:cs typeface="Calibri" pitchFamily="34" charset="-120"/>
              </a:rPr>
              <a:t>User needs: faster guided workflows, strict authorization, and data privacy</a:t>
            </a:r>
            <a:endParaRPr lang="en-US" sz="1500" dirty="0"/>
          </a:p>
        </p:txBody>
      </p:sp>
      <p:sp>
        <p:nvSpPr>
          <p:cNvPr id="21" name="Shape 19"/>
          <p:cNvSpPr/>
          <p:nvPr/>
        </p:nvSpPr>
        <p:spPr>
          <a:xfrm>
            <a:off x="502920" y="5338267"/>
            <a:ext cx="11201400" cy="788213"/>
          </a:xfrm>
          <a:prstGeom prst="roundRect">
            <a:avLst>
              <a:gd name="adj" fmla="val 9281"/>
            </a:avLst>
          </a:prstGeom>
          <a:solidFill>
            <a:srgbClr val="F3F6FB"/>
          </a:solidFill>
          <a:ln w="12700">
            <a:solidFill>
              <a:srgbClr val="D9E1EC"/>
            </a:solidFill>
            <a:prstDash val="solid"/>
          </a:ln>
          <a:effectLst>
            <a:outerShdw blurRad="88900" dist="38100" dir="5400000" algn="bl" rotWithShape="0">
              <a:srgbClr val="8494A8">
                <a:alpha val="28000"/>
              </a:srgbClr>
            </a:outerShdw>
          </a:effectLst>
        </p:spPr>
      </p:sp>
      <p:sp>
        <p:nvSpPr>
          <p:cNvPr id="22" name="Shape 20"/>
          <p:cNvSpPr/>
          <p:nvPr/>
        </p:nvSpPr>
        <p:spPr>
          <a:xfrm>
            <a:off x="731520" y="5503774"/>
            <a:ext cx="457200" cy="457200"/>
          </a:xfrm>
          <a:prstGeom prst="ellipse">
            <a:avLst/>
          </a:prstGeom>
          <a:solidFill>
            <a:srgbClr val="6C5CE7"/>
          </a:solidFill>
          <a:ln/>
        </p:spPr>
      </p:sp>
      <p:sp>
        <p:nvSpPr>
          <p:cNvPr id="23" name="Text 21"/>
          <p:cNvSpPr/>
          <p:nvPr/>
        </p:nvSpPr>
        <p:spPr>
          <a:xfrm>
            <a:off x="731520" y="5503774"/>
            <a:ext cx="45720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4" name="Text 22"/>
          <p:cNvSpPr/>
          <p:nvPr/>
        </p:nvSpPr>
        <p:spPr>
          <a:xfrm>
            <a:off x="1417320" y="5338267"/>
            <a:ext cx="10058400" cy="788213"/>
          </a:xfrm>
          <a:prstGeom prst="rect">
            <a:avLst/>
          </a:prstGeom>
          <a:noFill/>
          <a:ln/>
        </p:spPr>
        <p:txBody>
          <a:bodyPr wrap="square" rtlCol="0" anchor="ctr"/>
          <a:lstStyle/>
          <a:p>
            <a:pPr marL="0" indent="0">
              <a:buNone/>
            </a:pPr>
            <a:r>
              <a:rPr lang="en-US" sz="1500" dirty="0">
                <a:solidFill>
                  <a:srgbClr val="1B2430"/>
                </a:solidFill>
                <a:latin typeface="Calibri" pitchFamily="34" charset="0"/>
                <a:ea typeface="Calibri" pitchFamily="34" charset="-122"/>
                <a:cs typeface="Calibri" pitchFamily="34" charset="-120"/>
              </a:rPr>
              <a:t>Personal goal: build a production-quality, safety-first security tool</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6446520"/>
            <a:ext cx="9144000" cy="274320"/>
          </a:xfrm>
          <a:prstGeom prst="rect">
            <a:avLst/>
          </a:prstGeom>
          <a:noFill/>
          <a:ln/>
        </p:spPr>
        <p:txBody>
          <a:bodyPr wrap="square" rtlCol="0" anchor="ctr"/>
          <a:lstStyle/>
          <a:p>
            <a:pPr marL="0" indent="0">
              <a:buNone/>
            </a:pPr>
            <a:r>
              <a:rPr lang="en-US" sz="900" b="1" dirty="0">
                <a:solidFill>
                  <a:srgbClr val="5E6B7A"/>
                </a:solidFill>
                <a:latin typeface="Calibri" pitchFamily="34" charset="0"/>
                <a:ea typeface="Calibri" pitchFamily="34" charset="-122"/>
                <a:cs typeface="Calibri" pitchFamily="34" charset="-120"/>
              </a:rPr>
              <a:t>SecurityOps Assistant</a:t>
            </a:r>
            <a:r>
              <a:rPr lang="en-US" sz="900" dirty="0">
                <a:solidFill>
                  <a:srgbClr val="5E6B7A"/>
                </a:solidFill>
                <a:latin typeface="Calibri" pitchFamily="34" charset="0"/>
                <a:ea typeface="Calibri" pitchFamily="34" charset="-122"/>
                <a:cs typeface="Calibri" pitchFamily="34" charset="-120"/>
              </a:rPr>
              <a:t>   |   Project Proposal</a:t>
            </a:r>
            <a:endParaRPr lang="en-US" sz="900" dirty="0"/>
          </a:p>
        </p:txBody>
      </p:sp>
      <p:sp>
        <p:nvSpPr>
          <p:cNvPr id="3" name="Text 1"/>
          <p:cNvSpPr/>
          <p:nvPr/>
        </p:nvSpPr>
        <p:spPr>
          <a:xfrm>
            <a:off x="11338560" y="6446520"/>
            <a:ext cx="365760" cy="274320"/>
          </a:xfrm>
          <a:prstGeom prst="rect">
            <a:avLst/>
          </a:prstGeom>
          <a:noFill/>
          <a:ln/>
        </p:spPr>
        <p:txBody>
          <a:bodyPr wrap="square" rtlCol="0" anchor="ctr"/>
          <a:lstStyle/>
          <a:p>
            <a:pPr marL="0" indent="0" algn="r">
              <a:buNone/>
            </a:pPr>
            <a:r>
              <a:rPr lang="en-US" sz="900" dirty="0">
                <a:solidFill>
                  <a:srgbClr val="5E6B7A"/>
                </a:solidFill>
                <a:latin typeface="Calibri" pitchFamily="34" charset="0"/>
                <a:ea typeface="Calibri" pitchFamily="34" charset="-122"/>
                <a:cs typeface="Calibri" pitchFamily="34" charset="-120"/>
              </a:rPr>
              <a:t>5</a:t>
            </a:r>
            <a:endParaRPr lang="en-US" sz="900" dirty="0"/>
          </a:p>
        </p:txBody>
      </p:sp>
      <p:sp>
        <p:nvSpPr>
          <p:cNvPr id="4" name="Text 2"/>
          <p:cNvSpPr/>
          <p:nvPr/>
        </p:nvSpPr>
        <p:spPr>
          <a:xfrm>
            <a:off x="502920" y="411480"/>
            <a:ext cx="11155680" cy="640080"/>
          </a:xfrm>
          <a:prstGeom prst="rect">
            <a:avLst/>
          </a:prstGeom>
          <a:noFill/>
          <a:ln/>
        </p:spPr>
        <p:txBody>
          <a:bodyPr wrap="square" rtlCol="0" anchor="ctr"/>
          <a:lstStyle/>
          <a:p>
            <a:pPr marL="0" indent="0">
              <a:buNone/>
            </a:pPr>
            <a:r>
              <a:rPr lang="en-US" sz="3200" b="1" dirty="0">
                <a:solidFill>
                  <a:srgbClr val="1F3A5F"/>
                </a:solidFill>
                <a:latin typeface="Cambria" pitchFamily="34" charset="0"/>
                <a:ea typeface="Cambria" pitchFamily="34" charset="-122"/>
                <a:cs typeface="Cambria" pitchFamily="34" charset="-120"/>
              </a:rPr>
              <a:t>Objectives</a:t>
            </a:r>
            <a:endParaRPr lang="en-US" sz="3200" dirty="0"/>
          </a:p>
        </p:txBody>
      </p:sp>
      <p:sp>
        <p:nvSpPr>
          <p:cNvPr id="5" name="Shape 3"/>
          <p:cNvSpPr/>
          <p:nvPr/>
        </p:nvSpPr>
        <p:spPr>
          <a:xfrm>
            <a:off x="502920" y="1600200"/>
            <a:ext cx="11201400" cy="632460"/>
          </a:xfrm>
          <a:prstGeom prst="roundRect">
            <a:avLst>
              <a:gd name="adj" fmla="val 11566"/>
            </a:avLst>
          </a:prstGeom>
          <a:solidFill>
            <a:srgbClr val="F3F6FB"/>
          </a:solidFill>
          <a:ln w="12700">
            <a:solidFill>
              <a:srgbClr val="D9E1EC"/>
            </a:solidFill>
            <a:prstDash val="solid"/>
          </a:ln>
          <a:effectLst>
            <a:outerShdw blurRad="88900" dist="38100" dir="5400000" algn="bl" rotWithShape="0">
              <a:srgbClr val="8494A8">
                <a:alpha val="28000"/>
              </a:srgbClr>
            </a:outerShdw>
          </a:effectLst>
        </p:spPr>
      </p:sp>
      <p:sp>
        <p:nvSpPr>
          <p:cNvPr id="6" name="Shape 4"/>
          <p:cNvSpPr/>
          <p:nvPr/>
        </p:nvSpPr>
        <p:spPr>
          <a:xfrm>
            <a:off x="731520" y="1687830"/>
            <a:ext cx="457200" cy="457200"/>
          </a:xfrm>
          <a:prstGeom prst="ellipse">
            <a:avLst/>
          </a:prstGeom>
          <a:solidFill>
            <a:srgbClr val="2C5282"/>
          </a:solidFill>
          <a:ln/>
        </p:spPr>
      </p:sp>
      <p:sp>
        <p:nvSpPr>
          <p:cNvPr id="7" name="Text 5"/>
          <p:cNvSpPr/>
          <p:nvPr/>
        </p:nvSpPr>
        <p:spPr>
          <a:xfrm>
            <a:off x="731520" y="1687830"/>
            <a:ext cx="45720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p:nvPr/>
        </p:nvSpPr>
        <p:spPr>
          <a:xfrm>
            <a:off x="1417320" y="1600200"/>
            <a:ext cx="10058400" cy="632460"/>
          </a:xfrm>
          <a:prstGeom prst="rect">
            <a:avLst/>
          </a:prstGeom>
          <a:noFill/>
          <a:ln/>
        </p:spPr>
        <p:txBody>
          <a:bodyPr wrap="square" rtlCol="0" anchor="ctr"/>
          <a:lstStyle/>
          <a:p>
            <a:pPr marL="0" indent="0">
              <a:buNone/>
            </a:pPr>
            <a:r>
              <a:rPr lang="en-US" sz="1500" dirty="0">
                <a:solidFill>
                  <a:srgbClr val="1B2430"/>
                </a:solidFill>
                <a:latin typeface="Calibri" pitchFamily="34" charset="0"/>
                <a:ea typeface="Calibri" pitchFamily="34" charset="-122"/>
                <a:cs typeface="Calibri" pitchFamily="34" charset="-120"/>
              </a:rPr>
              <a:t>Convert natural-language goals into structured, reviewable assessment plans</a:t>
            </a:r>
            <a:endParaRPr lang="en-US" sz="1500" dirty="0"/>
          </a:p>
        </p:txBody>
      </p:sp>
      <p:sp>
        <p:nvSpPr>
          <p:cNvPr id="9" name="Shape 7"/>
          <p:cNvSpPr/>
          <p:nvPr/>
        </p:nvSpPr>
        <p:spPr>
          <a:xfrm>
            <a:off x="502920" y="2378964"/>
            <a:ext cx="11201400" cy="632460"/>
          </a:xfrm>
          <a:prstGeom prst="roundRect">
            <a:avLst>
              <a:gd name="adj" fmla="val 11566"/>
            </a:avLst>
          </a:prstGeom>
          <a:solidFill>
            <a:srgbClr val="F3F6FB"/>
          </a:solidFill>
          <a:ln w="12700">
            <a:solidFill>
              <a:srgbClr val="D9E1EC"/>
            </a:solidFill>
            <a:prstDash val="solid"/>
          </a:ln>
          <a:effectLst>
            <a:outerShdw blurRad="88900" dist="38100" dir="5400000" algn="bl" rotWithShape="0">
              <a:srgbClr val="8494A8">
                <a:alpha val="28000"/>
              </a:srgbClr>
            </a:outerShdw>
          </a:effectLst>
        </p:spPr>
      </p:sp>
      <p:sp>
        <p:nvSpPr>
          <p:cNvPr id="10" name="Shape 8"/>
          <p:cNvSpPr/>
          <p:nvPr/>
        </p:nvSpPr>
        <p:spPr>
          <a:xfrm>
            <a:off x="731520" y="2466594"/>
            <a:ext cx="457200" cy="457200"/>
          </a:xfrm>
          <a:prstGeom prst="ellipse">
            <a:avLst/>
          </a:prstGeom>
          <a:solidFill>
            <a:srgbClr val="2C9CA6"/>
          </a:solidFill>
          <a:ln/>
        </p:spPr>
      </p:sp>
      <p:sp>
        <p:nvSpPr>
          <p:cNvPr id="11" name="Text 9"/>
          <p:cNvSpPr/>
          <p:nvPr/>
        </p:nvSpPr>
        <p:spPr>
          <a:xfrm>
            <a:off x="731520" y="2466594"/>
            <a:ext cx="45720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1417320" y="2378964"/>
            <a:ext cx="10058400" cy="632460"/>
          </a:xfrm>
          <a:prstGeom prst="rect">
            <a:avLst/>
          </a:prstGeom>
          <a:noFill/>
          <a:ln/>
        </p:spPr>
        <p:txBody>
          <a:bodyPr wrap="square" rtlCol="0" anchor="ctr"/>
          <a:lstStyle/>
          <a:p>
            <a:pPr marL="0" indent="0">
              <a:buNone/>
            </a:pPr>
            <a:r>
              <a:rPr lang="en-US" sz="1500" dirty="0">
                <a:solidFill>
                  <a:srgbClr val="1B2430"/>
                </a:solidFill>
                <a:latin typeface="Calibri" pitchFamily="34" charset="0"/>
                <a:ea typeface="Calibri" pitchFamily="34" charset="-122"/>
                <a:cs typeface="Calibri" pitchFamily="34" charset="-120"/>
              </a:rPr>
              <a:t>Enforce safety: approval-gated execution and refusal of harmful/out-of-scope actions</a:t>
            </a:r>
            <a:endParaRPr lang="en-US" sz="1500" dirty="0"/>
          </a:p>
        </p:txBody>
      </p:sp>
      <p:sp>
        <p:nvSpPr>
          <p:cNvPr id="13" name="Shape 11"/>
          <p:cNvSpPr/>
          <p:nvPr/>
        </p:nvSpPr>
        <p:spPr>
          <a:xfrm>
            <a:off x="502920" y="3157728"/>
            <a:ext cx="11201400" cy="632460"/>
          </a:xfrm>
          <a:prstGeom prst="roundRect">
            <a:avLst>
              <a:gd name="adj" fmla="val 11566"/>
            </a:avLst>
          </a:prstGeom>
          <a:solidFill>
            <a:srgbClr val="F3F6FB"/>
          </a:solidFill>
          <a:ln w="12700">
            <a:solidFill>
              <a:srgbClr val="D9E1EC"/>
            </a:solidFill>
            <a:prstDash val="solid"/>
          </a:ln>
          <a:effectLst>
            <a:outerShdw blurRad="88900" dist="38100" dir="5400000" algn="bl" rotWithShape="0">
              <a:srgbClr val="8494A8">
                <a:alpha val="28000"/>
              </a:srgbClr>
            </a:outerShdw>
          </a:effectLst>
        </p:spPr>
      </p:sp>
      <p:sp>
        <p:nvSpPr>
          <p:cNvPr id="14" name="Shape 12"/>
          <p:cNvSpPr/>
          <p:nvPr/>
        </p:nvSpPr>
        <p:spPr>
          <a:xfrm>
            <a:off x="731520" y="3245358"/>
            <a:ext cx="457200" cy="457200"/>
          </a:xfrm>
          <a:prstGeom prst="ellipse">
            <a:avLst/>
          </a:prstGeom>
          <a:solidFill>
            <a:srgbClr val="2E9E5B"/>
          </a:solidFill>
          <a:ln/>
        </p:spPr>
      </p:sp>
      <p:sp>
        <p:nvSpPr>
          <p:cNvPr id="15" name="Text 13"/>
          <p:cNvSpPr/>
          <p:nvPr/>
        </p:nvSpPr>
        <p:spPr>
          <a:xfrm>
            <a:off x="731520" y="3245358"/>
            <a:ext cx="45720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6" name="Text 14"/>
          <p:cNvSpPr/>
          <p:nvPr/>
        </p:nvSpPr>
        <p:spPr>
          <a:xfrm>
            <a:off x="1417320" y="3157728"/>
            <a:ext cx="10058400" cy="632460"/>
          </a:xfrm>
          <a:prstGeom prst="rect">
            <a:avLst/>
          </a:prstGeom>
          <a:noFill/>
          <a:ln/>
        </p:spPr>
        <p:txBody>
          <a:bodyPr wrap="square" rtlCol="0" anchor="ctr"/>
          <a:lstStyle/>
          <a:p>
            <a:pPr marL="0" indent="0">
              <a:buNone/>
            </a:pPr>
            <a:r>
              <a:rPr lang="en-US" sz="1500" dirty="0">
                <a:solidFill>
                  <a:srgbClr val="1B2430"/>
                </a:solidFill>
                <a:latin typeface="Calibri" pitchFamily="34" charset="0"/>
                <a:ea typeface="Calibri" pitchFamily="34" charset="-122"/>
                <a:cs typeface="Calibri" pitchFamily="34" charset="-120"/>
              </a:rPr>
              <a:t>Auto-detect and coordinate installed Kali tools from one interface</a:t>
            </a:r>
            <a:endParaRPr lang="en-US" sz="1500" dirty="0"/>
          </a:p>
        </p:txBody>
      </p:sp>
      <p:sp>
        <p:nvSpPr>
          <p:cNvPr id="17" name="Shape 15"/>
          <p:cNvSpPr/>
          <p:nvPr/>
        </p:nvSpPr>
        <p:spPr>
          <a:xfrm>
            <a:off x="502920" y="3936492"/>
            <a:ext cx="11201400" cy="632460"/>
          </a:xfrm>
          <a:prstGeom prst="roundRect">
            <a:avLst>
              <a:gd name="adj" fmla="val 11566"/>
            </a:avLst>
          </a:prstGeom>
          <a:solidFill>
            <a:srgbClr val="F3F6FB"/>
          </a:solidFill>
          <a:ln w="12700">
            <a:solidFill>
              <a:srgbClr val="D9E1EC"/>
            </a:solidFill>
            <a:prstDash val="solid"/>
          </a:ln>
          <a:effectLst>
            <a:outerShdw blurRad="88900" dist="38100" dir="5400000" algn="bl" rotWithShape="0">
              <a:srgbClr val="8494A8">
                <a:alpha val="28000"/>
              </a:srgbClr>
            </a:outerShdw>
          </a:effectLst>
        </p:spPr>
      </p:sp>
      <p:sp>
        <p:nvSpPr>
          <p:cNvPr id="18" name="Shape 16"/>
          <p:cNvSpPr/>
          <p:nvPr/>
        </p:nvSpPr>
        <p:spPr>
          <a:xfrm>
            <a:off x="731520" y="4024122"/>
            <a:ext cx="457200" cy="457200"/>
          </a:xfrm>
          <a:prstGeom prst="ellipse">
            <a:avLst/>
          </a:prstGeom>
          <a:solidFill>
            <a:srgbClr val="C9820A"/>
          </a:solidFill>
          <a:ln/>
        </p:spPr>
      </p:sp>
      <p:sp>
        <p:nvSpPr>
          <p:cNvPr id="19" name="Text 17"/>
          <p:cNvSpPr/>
          <p:nvPr/>
        </p:nvSpPr>
        <p:spPr>
          <a:xfrm>
            <a:off x="731520" y="4024122"/>
            <a:ext cx="45720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0" name="Text 18"/>
          <p:cNvSpPr/>
          <p:nvPr/>
        </p:nvSpPr>
        <p:spPr>
          <a:xfrm>
            <a:off x="1417320" y="3936492"/>
            <a:ext cx="10058400" cy="632460"/>
          </a:xfrm>
          <a:prstGeom prst="rect">
            <a:avLst/>
          </a:prstGeom>
          <a:noFill/>
          <a:ln/>
        </p:spPr>
        <p:txBody>
          <a:bodyPr wrap="square" rtlCol="0" anchor="ctr"/>
          <a:lstStyle/>
          <a:p>
            <a:pPr marL="0" indent="0">
              <a:buNone/>
            </a:pPr>
            <a:r>
              <a:rPr lang="en-US" sz="1500" dirty="0">
                <a:solidFill>
                  <a:srgbClr val="1B2430"/>
                </a:solidFill>
                <a:latin typeface="Calibri" pitchFamily="34" charset="0"/>
                <a:ea typeface="Calibri" pitchFamily="34" charset="-122"/>
                <a:cs typeface="Calibri" pitchFamily="34" charset="-120"/>
              </a:rPr>
              <a:t>Extract and organize findings; support CVSS severity and evidence</a:t>
            </a:r>
            <a:endParaRPr lang="en-US" sz="1500" dirty="0"/>
          </a:p>
        </p:txBody>
      </p:sp>
      <p:sp>
        <p:nvSpPr>
          <p:cNvPr id="21" name="Shape 19"/>
          <p:cNvSpPr/>
          <p:nvPr/>
        </p:nvSpPr>
        <p:spPr>
          <a:xfrm>
            <a:off x="502920" y="4715256"/>
            <a:ext cx="11201400" cy="632460"/>
          </a:xfrm>
          <a:prstGeom prst="roundRect">
            <a:avLst>
              <a:gd name="adj" fmla="val 11566"/>
            </a:avLst>
          </a:prstGeom>
          <a:solidFill>
            <a:srgbClr val="F3F6FB"/>
          </a:solidFill>
          <a:ln w="12700">
            <a:solidFill>
              <a:srgbClr val="D9E1EC"/>
            </a:solidFill>
            <a:prstDash val="solid"/>
          </a:ln>
          <a:effectLst>
            <a:outerShdw blurRad="88900" dist="38100" dir="5400000" algn="bl" rotWithShape="0">
              <a:srgbClr val="8494A8">
                <a:alpha val="28000"/>
              </a:srgbClr>
            </a:outerShdw>
          </a:effectLst>
        </p:spPr>
      </p:sp>
      <p:sp>
        <p:nvSpPr>
          <p:cNvPr id="22" name="Shape 20"/>
          <p:cNvSpPr/>
          <p:nvPr/>
        </p:nvSpPr>
        <p:spPr>
          <a:xfrm>
            <a:off x="731520" y="4802886"/>
            <a:ext cx="457200" cy="457200"/>
          </a:xfrm>
          <a:prstGeom prst="ellipse">
            <a:avLst/>
          </a:prstGeom>
          <a:solidFill>
            <a:srgbClr val="6C5CE7"/>
          </a:solidFill>
          <a:ln/>
        </p:spPr>
      </p:sp>
      <p:sp>
        <p:nvSpPr>
          <p:cNvPr id="23" name="Text 21"/>
          <p:cNvSpPr/>
          <p:nvPr/>
        </p:nvSpPr>
        <p:spPr>
          <a:xfrm>
            <a:off x="731520" y="4802886"/>
            <a:ext cx="45720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4" name="Text 22"/>
          <p:cNvSpPr/>
          <p:nvPr/>
        </p:nvSpPr>
        <p:spPr>
          <a:xfrm>
            <a:off x="1417320" y="4715256"/>
            <a:ext cx="10058400" cy="632460"/>
          </a:xfrm>
          <a:prstGeom prst="rect">
            <a:avLst/>
          </a:prstGeom>
          <a:noFill/>
          <a:ln/>
        </p:spPr>
        <p:txBody>
          <a:bodyPr wrap="square" rtlCol="0" anchor="ctr"/>
          <a:lstStyle/>
          <a:p>
            <a:pPr marL="0" indent="0">
              <a:buNone/>
            </a:pPr>
            <a:r>
              <a:rPr lang="en-US" sz="1500" dirty="0">
                <a:solidFill>
                  <a:srgbClr val="1B2430"/>
                </a:solidFill>
                <a:latin typeface="Calibri" pitchFamily="34" charset="0"/>
                <a:ea typeface="Calibri" pitchFamily="34" charset="-122"/>
                <a:cs typeface="Calibri" pitchFamily="34" charset="-120"/>
              </a:rPr>
              <a:t>Generate professional HTML / PDF / Markdown reports</a:t>
            </a:r>
            <a:endParaRPr lang="en-US" sz="1500" dirty="0"/>
          </a:p>
        </p:txBody>
      </p:sp>
      <p:sp>
        <p:nvSpPr>
          <p:cNvPr id="25" name="Shape 23"/>
          <p:cNvSpPr/>
          <p:nvPr/>
        </p:nvSpPr>
        <p:spPr>
          <a:xfrm>
            <a:off x="502920" y="5494020"/>
            <a:ext cx="11201400" cy="632460"/>
          </a:xfrm>
          <a:prstGeom prst="roundRect">
            <a:avLst>
              <a:gd name="adj" fmla="val 11566"/>
            </a:avLst>
          </a:prstGeom>
          <a:solidFill>
            <a:srgbClr val="F3F6FB"/>
          </a:solidFill>
          <a:ln w="12700">
            <a:solidFill>
              <a:srgbClr val="D9E1EC"/>
            </a:solidFill>
            <a:prstDash val="solid"/>
          </a:ln>
          <a:effectLst>
            <a:outerShdw blurRad="88900" dist="38100" dir="5400000" algn="bl" rotWithShape="0">
              <a:srgbClr val="8494A8">
                <a:alpha val="28000"/>
              </a:srgbClr>
            </a:outerShdw>
          </a:effectLst>
        </p:spPr>
      </p:sp>
      <p:sp>
        <p:nvSpPr>
          <p:cNvPr id="26" name="Shape 24"/>
          <p:cNvSpPr/>
          <p:nvPr/>
        </p:nvSpPr>
        <p:spPr>
          <a:xfrm>
            <a:off x="731520" y="5581650"/>
            <a:ext cx="457200" cy="457200"/>
          </a:xfrm>
          <a:prstGeom prst="ellipse">
            <a:avLst/>
          </a:prstGeom>
          <a:solidFill>
            <a:srgbClr val="C0392B"/>
          </a:solidFill>
          <a:ln/>
        </p:spPr>
      </p:sp>
      <p:sp>
        <p:nvSpPr>
          <p:cNvPr id="27" name="Text 25"/>
          <p:cNvSpPr/>
          <p:nvPr/>
        </p:nvSpPr>
        <p:spPr>
          <a:xfrm>
            <a:off x="731520" y="5581650"/>
            <a:ext cx="45720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28" name="Text 26"/>
          <p:cNvSpPr/>
          <p:nvPr/>
        </p:nvSpPr>
        <p:spPr>
          <a:xfrm>
            <a:off x="1417320" y="5494020"/>
            <a:ext cx="10058400" cy="632460"/>
          </a:xfrm>
          <a:prstGeom prst="rect">
            <a:avLst/>
          </a:prstGeom>
          <a:noFill/>
          <a:ln/>
        </p:spPr>
        <p:txBody>
          <a:bodyPr wrap="square" rtlCol="0" anchor="ctr"/>
          <a:lstStyle/>
          <a:p>
            <a:pPr marL="0" indent="0">
              <a:buNone/>
            </a:pPr>
            <a:r>
              <a:rPr lang="en-US" sz="1500" dirty="0">
                <a:solidFill>
                  <a:srgbClr val="1B2430"/>
                </a:solidFill>
                <a:latin typeface="Calibri" pitchFamily="34" charset="0"/>
                <a:ea typeface="Calibri" pitchFamily="34" charset="-122"/>
                <a:cs typeface="Calibri" pitchFamily="34" charset="-120"/>
              </a:rPr>
              <a:t>Operate fully offline with an optional local AI model; remain extensible via plugins</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6446520"/>
            <a:ext cx="9144000" cy="274320"/>
          </a:xfrm>
          <a:prstGeom prst="rect">
            <a:avLst/>
          </a:prstGeom>
          <a:noFill/>
          <a:ln/>
        </p:spPr>
        <p:txBody>
          <a:bodyPr wrap="square" rtlCol="0" anchor="ctr"/>
          <a:lstStyle/>
          <a:p>
            <a:pPr marL="0" indent="0">
              <a:buNone/>
            </a:pPr>
            <a:r>
              <a:rPr lang="en-US" sz="900" b="1" dirty="0">
                <a:solidFill>
                  <a:srgbClr val="5E6B7A"/>
                </a:solidFill>
                <a:latin typeface="Calibri" pitchFamily="34" charset="0"/>
                <a:ea typeface="Calibri" pitchFamily="34" charset="-122"/>
                <a:cs typeface="Calibri" pitchFamily="34" charset="-120"/>
              </a:rPr>
              <a:t>SecurityOps Assistant</a:t>
            </a:r>
            <a:r>
              <a:rPr lang="en-US" sz="900" dirty="0">
                <a:solidFill>
                  <a:srgbClr val="5E6B7A"/>
                </a:solidFill>
                <a:latin typeface="Calibri" pitchFamily="34" charset="0"/>
                <a:ea typeface="Calibri" pitchFamily="34" charset="-122"/>
                <a:cs typeface="Calibri" pitchFamily="34" charset="-120"/>
              </a:rPr>
              <a:t>   |   Project Proposal</a:t>
            </a:r>
            <a:endParaRPr lang="en-US" sz="900" dirty="0"/>
          </a:p>
        </p:txBody>
      </p:sp>
      <p:sp>
        <p:nvSpPr>
          <p:cNvPr id="3" name="Text 1"/>
          <p:cNvSpPr/>
          <p:nvPr/>
        </p:nvSpPr>
        <p:spPr>
          <a:xfrm>
            <a:off x="11338560" y="6446520"/>
            <a:ext cx="365760" cy="274320"/>
          </a:xfrm>
          <a:prstGeom prst="rect">
            <a:avLst/>
          </a:prstGeom>
          <a:noFill/>
          <a:ln/>
        </p:spPr>
        <p:txBody>
          <a:bodyPr wrap="square" rtlCol="0" anchor="ctr"/>
          <a:lstStyle/>
          <a:p>
            <a:pPr marL="0" indent="0" algn="r">
              <a:buNone/>
            </a:pPr>
            <a:r>
              <a:rPr lang="en-US" sz="900" dirty="0">
                <a:solidFill>
                  <a:srgbClr val="5E6B7A"/>
                </a:solidFill>
                <a:latin typeface="Calibri" pitchFamily="34" charset="0"/>
                <a:ea typeface="Calibri" pitchFamily="34" charset="-122"/>
                <a:cs typeface="Calibri" pitchFamily="34" charset="-120"/>
              </a:rPr>
              <a:t>6</a:t>
            </a:r>
            <a:endParaRPr lang="en-US" sz="900" dirty="0"/>
          </a:p>
        </p:txBody>
      </p:sp>
      <p:sp>
        <p:nvSpPr>
          <p:cNvPr id="4" name="Text 2"/>
          <p:cNvSpPr/>
          <p:nvPr/>
        </p:nvSpPr>
        <p:spPr>
          <a:xfrm>
            <a:off x="502920" y="411480"/>
            <a:ext cx="11155680" cy="640080"/>
          </a:xfrm>
          <a:prstGeom prst="rect">
            <a:avLst/>
          </a:prstGeom>
          <a:noFill/>
          <a:ln/>
        </p:spPr>
        <p:txBody>
          <a:bodyPr wrap="square" rtlCol="0" anchor="ctr"/>
          <a:lstStyle/>
          <a:p>
            <a:pPr marL="0" indent="0">
              <a:buNone/>
            </a:pPr>
            <a:r>
              <a:rPr lang="en-US" sz="3200" b="1" dirty="0">
                <a:solidFill>
                  <a:srgbClr val="1F3A5F"/>
                </a:solidFill>
                <a:latin typeface="Cambria" pitchFamily="34" charset="0"/>
                <a:ea typeface="Cambria" pitchFamily="34" charset="-122"/>
                <a:cs typeface="Cambria" pitchFamily="34" charset="-120"/>
              </a:rPr>
              <a:t>Scope of Project</a:t>
            </a:r>
            <a:endParaRPr lang="en-US" sz="3200" dirty="0"/>
          </a:p>
        </p:txBody>
      </p:sp>
      <p:sp>
        <p:nvSpPr>
          <p:cNvPr id="5" name="Shape 3"/>
          <p:cNvSpPr/>
          <p:nvPr/>
        </p:nvSpPr>
        <p:spPr>
          <a:xfrm>
            <a:off x="502920" y="1600200"/>
            <a:ext cx="5486400" cy="4480560"/>
          </a:xfrm>
          <a:prstGeom prst="roundRect">
            <a:avLst>
              <a:gd name="adj" fmla="val 1633"/>
            </a:avLst>
          </a:prstGeom>
          <a:solidFill>
            <a:srgbClr val="EEF7F0"/>
          </a:solidFill>
          <a:ln w="12700">
            <a:solidFill>
              <a:srgbClr val="D9E1EC"/>
            </a:solidFill>
            <a:prstDash val="solid"/>
          </a:ln>
          <a:effectLst>
            <a:outerShdw blurRad="88900" dist="38100" dir="5400000" algn="bl" rotWithShape="0">
              <a:srgbClr val="8494A8">
                <a:alpha val="28000"/>
              </a:srgbClr>
            </a:outerShdw>
          </a:effectLst>
        </p:spPr>
      </p:sp>
      <p:sp>
        <p:nvSpPr>
          <p:cNvPr id="6" name="Shape 4"/>
          <p:cNvSpPr/>
          <p:nvPr/>
        </p:nvSpPr>
        <p:spPr>
          <a:xfrm>
            <a:off x="6199632" y="1600200"/>
            <a:ext cx="5486400" cy="4480560"/>
          </a:xfrm>
          <a:prstGeom prst="roundRect">
            <a:avLst>
              <a:gd name="adj" fmla="val 1633"/>
            </a:avLst>
          </a:prstGeom>
          <a:solidFill>
            <a:srgbClr val="FBEEEE"/>
          </a:solidFill>
          <a:ln w="12700">
            <a:solidFill>
              <a:srgbClr val="D9E1EC"/>
            </a:solidFill>
            <a:prstDash val="solid"/>
          </a:ln>
          <a:effectLst>
            <a:outerShdw blurRad="88900" dist="38100" dir="5400000" algn="bl" rotWithShape="0">
              <a:srgbClr val="8494A8">
                <a:alpha val="28000"/>
              </a:srgbClr>
            </a:outerShdw>
          </a:effectLst>
        </p:spPr>
      </p:sp>
      <p:sp>
        <p:nvSpPr>
          <p:cNvPr id="7" name="Text 5"/>
          <p:cNvSpPr/>
          <p:nvPr/>
        </p:nvSpPr>
        <p:spPr>
          <a:xfrm>
            <a:off x="777240" y="1801368"/>
            <a:ext cx="4937760" cy="457200"/>
          </a:xfrm>
          <a:prstGeom prst="rect">
            <a:avLst/>
          </a:prstGeom>
          <a:noFill/>
          <a:ln/>
        </p:spPr>
        <p:txBody>
          <a:bodyPr wrap="square" rtlCol="0" anchor="ctr"/>
          <a:lstStyle/>
          <a:p>
            <a:pPr marL="0" indent="0">
              <a:buNone/>
            </a:pPr>
            <a:r>
              <a:rPr lang="en-US" sz="1800" b="1" dirty="0">
                <a:solidFill>
                  <a:srgbClr val="2E9E5B"/>
                </a:solidFill>
                <a:latin typeface="Calibri" pitchFamily="34" charset="0"/>
                <a:ea typeface="Calibri" pitchFamily="34" charset="-122"/>
                <a:cs typeface="Calibri" pitchFamily="34" charset="-120"/>
              </a:rPr>
              <a:t>✔  In Scope</a:t>
            </a:r>
            <a:endParaRPr lang="en-US" sz="1800" dirty="0"/>
          </a:p>
        </p:txBody>
      </p:sp>
      <p:sp>
        <p:nvSpPr>
          <p:cNvPr id="8" name="Text 6"/>
          <p:cNvSpPr/>
          <p:nvPr/>
        </p:nvSpPr>
        <p:spPr>
          <a:xfrm>
            <a:off x="6473952" y="1801368"/>
            <a:ext cx="4937760" cy="457200"/>
          </a:xfrm>
          <a:prstGeom prst="rect">
            <a:avLst/>
          </a:prstGeom>
          <a:noFill/>
          <a:ln/>
        </p:spPr>
        <p:txBody>
          <a:bodyPr wrap="square" rtlCol="0" anchor="ctr"/>
          <a:lstStyle/>
          <a:p>
            <a:pPr marL="0" indent="0">
              <a:buNone/>
            </a:pPr>
            <a:r>
              <a:rPr lang="en-US" sz="1800" b="1" dirty="0">
                <a:solidFill>
                  <a:srgbClr val="C0392B"/>
                </a:solidFill>
                <a:latin typeface="Calibri" pitchFamily="34" charset="0"/>
                <a:ea typeface="Calibri" pitchFamily="34" charset="-122"/>
                <a:cs typeface="Calibri" pitchFamily="34" charset="-120"/>
              </a:rPr>
              <a:t>✘  Out of Scope</a:t>
            </a:r>
            <a:endParaRPr lang="en-US" sz="1800" dirty="0"/>
          </a:p>
        </p:txBody>
      </p:sp>
      <p:sp>
        <p:nvSpPr>
          <p:cNvPr id="9" name="Text 7"/>
          <p:cNvSpPr/>
          <p:nvPr/>
        </p:nvSpPr>
        <p:spPr>
          <a:xfrm>
            <a:off x="822960" y="2468880"/>
            <a:ext cx="4846320" cy="3474720"/>
          </a:xfrm>
          <a:prstGeom prst="rect">
            <a:avLst/>
          </a:prstGeom>
          <a:noFill/>
          <a:ln/>
        </p:spPr>
        <p:txBody>
          <a:bodyPr wrap="square" rtlCol="0" anchor="t"/>
          <a:lstStyle/>
          <a:p>
            <a:pPr marL="177800" indent="-177800">
              <a:spcAft>
                <a:spcPts val="1200"/>
              </a:spcAft>
              <a:buSzPct val="100000"/>
              <a:buChar char="•"/>
            </a:pPr>
            <a:r>
              <a:rPr lang="en-US" sz="1350" dirty="0">
                <a:solidFill>
                  <a:srgbClr val="1B2430"/>
                </a:solidFill>
                <a:latin typeface="Calibri" pitchFamily="34" charset="0"/>
                <a:ea typeface="Calibri" pitchFamily="34" charset="-122"/>
                <a:cs typeface="Calibri" pitchFamily="34" charset="-120"/>
              </a:rPr>
              <a:t>Authorized assessment of owned / in-scope assets</a:t>
            </a:r>
            <a:endParaRPr lang="en-US" sz="1350" dirty="0"/>
          </a:p>
          <a:p>
            <a:pPr marL="177800" indent="-177800">
              <a:spcAft>
                <a:spcPts val="1200"/>
              </a:spcAft>
              <a:buSzPct val="100000"/>
              <a:buChar char="•"/>
            </a:pPr>
            <a:r>
              <a:rPr lang="en-US" sz="1350" dirty="0">
                <a:solidFill>
                  <a:srgbClr val="1B2430"/>
                </a:solidFill>
                <a:latin typeface="Calibri" pitchFamily="34" charset="0"/>
                <a:ea typeface="Calibri" pitchFamily="34" charset="-122"/>
                <a:cs typeface="Calibri" pitchFamily="34" charset="-120"/>
              </a:rPr>
              <a:t>Web apps, APIs, mobile backends, desktop apps, networks</a:t>
            </a:r>
            <a:endParaRPr lang="en-US" sz="1350" dirty="0"/>
          </a:p>
          <a:p>
            <a:pPr marL="177800" indent="-177800">
              <a:spcAft>
                <a:spcPts val="1200"/>
              </a:spcAft>
              <a:buSzPct val="100000"/>
              <a:buChar char="•"/>
            </a:pPr>
            <a:r>
              <a:rPr lang="en-US" sz="1350" dirty="0">
                <a:solidFill>
                  <a:srgbClr val="1B2430"/>
                </a:solidFill>
                <a:latin typeface="Calibri" pitchFamily="34" charset="0"/>
                <a:ea typeface="Calibri" pitchFamily="34" charset="-122"/>
                <a:cs typeface="Calibri" pitchFamily="34" charset="-120"/>
              </a:rPr>
              <a:t>Reconnaissance, enumeration, vulnerability assessment</a:t>
            </a:r>
            <a:endParaRPr lang="en-US" sz="1350" dirty="0"/>
          </a:p>
          <a:p>
            <a:pPr marL="177800" indent="-177800">
              <a:spcAft>
                <a:spcPts val="1200"/>
              </a:spcAft>
              <a:buSzPct val="100000"/>
              <a:buChar char="•"/>
            </a:pPr>
            <a:r>
              <a:rPr lang="en-US" sz="1350" dirty="0">
                <a:solidFill>
                  <a:srgbClr val="1B2430"/>
                </a:solidFill>
                <a:latin typeface="Calibri" pitchFamily="34" charset="0"/>
                <a:ea typeface="Calibri" pitchFamily="34" charset="-122"/>
                <a:cs typeface="Calibri" pitchFamily="34" charset="-120"/>
              </a:rPr>
              <a:t>Scope import &amp; validation for bug bounty engagements</a:t>
            </a:r>
            <a:endParaRPr lang="en-US" sz="1350" dirty="0"/>
          </a:p>
          <a:p>
            <a:pPr marL="177800" indent="-177800">
              <a:spcAft>
                <a:spcPts val="1200"/>
              </a:spcAft>
              <a:buSzPct val="100000"/>
              <a:buChar char="•"/>
            </a:pPr>
            <a:r>
              <a:rPr lang="en-US" sz="1350" dirty="0">
                <a:solidFill>
                  <a:srgbClr val="1B2430"/>
                </a:solidFill>
                <a:latin typeface="Calibri" pitchFamily="34" charset="0"/>
                <a:ea typeface="Calibri" pitchFamily="34" charset="-122"/>
                <a:cs typeface="Calibri" pitchFamily="34" charset="-120"/>
              </a:rPr>
              <a:t>Findings management and professional reporting</a:t>
            </a:r>
            <a:endParaRPr lang="en-US" sz="1350" dirty="0"/>
          </a:p>
          <a:p>
            <a:pPr marL="177800" indent="-177800">
              <a:spcAft>
                <a:spcPts val="1200"/>
              </a:spcAft>
              <a:buSzPct val="100000"/>
              <a:buChar char="•"/>
            </a:pPr>
            <a:r>
              <a:rPr lang="en-US" sz="1350" dirty="0">
                <a:solidFill>
                  <a:srgbClr val="1B2430"/>
                </a:solidFill>
                <a:latin typeface="Calibri" pitchFamily="34" charset="0"/>
                <a:ea typeface="Calibri" pitchFamily="34" charset="-122"/>
                <a:cs typeface="Calibri" pitchFamily="34" charset="-120"/>
              </a:rPr>
              <a:t>Fully offline, local operation</a:t>
            </a:r>
            <a:endParaRPr lang="en-US" sz="1350" dirty="0"/>
          </a:p>
        </p:txBody>
      </p:sp>
      <p:sp>
        <p:nvSpPr>
          <p:cNvPr id="10" name="Text 8"/>
          <p:cNvSpPr/>
          <p:nvPr/>
        </p:nvSpPr>
        <p:spPr>
          <a:xfrm>
            <a:off x="6519672" y="2468880"/>
            <a:ext cx="4846320" cy="3474720"/>
          </a:xfrm>
          <a:prstGeom prst="rect">
            <a:avLst/>
          </a:prstGeom>
          <a:noFill/>
          <a:ln/>
        </p:spPr>
        <p:txBody>
          <a:bodyPr wrap="square" rtlCol="0" anchor="t"/>
          <a:lstStyle/>
          <a:p>
            <a:pPr marL="177800" indent="-177800">
              <a:spcAft>
                <a:spcPts val="1200"/>
              </a:spcAft>
              <a:buSzPct val="100000"/>
              <a:buChar char="•"/>
            </a:pPr>
            <a:r>
              <a:rPr lang="en-US" sz="1350" dirty="0">
                <a:solidFill>
                  <a:srgbClr val="1B2430"/>
                </a:solidFill>
                <a:latin typeface="Calibri" pitchFamily="34" charset="0"/>
                <a:ea typeface="Calibri" pitchFamily="34" charset="-122"/>
                <a:cs typeface="Calibri" pitchFamily="34" charset="-120"/>
              </a:rPr>
              <a:t>Automated exploitation or attack execution</a:t>
            </a:r>
            <a:endParaRPr lang="en-US" sz="1350" dirty="0"/>
          </a:p>
          <a:p>
            <a:pPr marL="177800" indent="-177800">
              <a:spcAft>
                <a:spcPts val="1200"/>
              </a:spcAft>
              <a:buSzPct val="100000"/>
              <a:buChar char="•"/>
            </a:pPr>
            <a:r>
              <a:rPr lang="en-US" sz="1350" dirty="0">
                <a:solidFill>
                  <a:srgbClr val="1B2430"/>
                </a:solidFill>
                <a:latin typeface="Calibri" pitchFamily="34" charset="0"/>
                <a:ea typeface="Calibri" pitchFamily="34" charset="-122"/>
                <a:cs typeface="Calibri" pitchFamily="34" charset="-120"/>
              </a:rPr>
              <a:t>Malware, ransomware, phishing, or DoS capabilities</a:t>
            </a:r>
            <a:endParaRPr lang="en-US" sz="1350" dirty="0"/>
          </a:p>
          <a:p>
            <a:pPr marL="177800" indent="-177800">
              <a:spcAft>
                <a:spcPts val="1200"/>
              </a:spcAft>
              <a:buSzPct val="100000"/>
              <a:buChar char="•"/>
            </a:pPr>
            <a:r>
              <a:rPr lang="en-US" sz="1350" dirty="0">
                <a:solidFill>
                  <a:srgbClr val="1B2430"/>
                </a:solidFill>
                <a:latin typeface="Calibri" pitchFamily="34" charset="0"/>
                <a:ea typeface="Calibri" pitchFamily="34" charset="-122"/>
                <a:cs typeface="Calibri" pitchFamily="34" charset="-120"/>
              </a:rPr>
              <a:t>Testing of unauthorized or out-of-scope targets</a:t>
            </a:r>
            <a:endParaRPr lang="en-US" sz="1350" dirty="0"/>
          </a:p>
          <a:p>
            <a:pPr marL="177800" indent="-177800">
              <a:spcAft>
                <a:spcPts val="1200"/>
              </a:spcAft>
              <a:buSzPct val="100000"/>
              <a:buChar char="•"/>
            </a:pPr>
            <a:r>
              <a:rPr lang="en-US" sz="1350" dirty="0">
                <a:solidFill>
                  <a:srgbClr val="1B2430"/>
                </a:solidFill>
                <a:latin typeface="Calibri" pitchFamily="34" charset="0"/>
                <a:ea typeface="Calibri" pitchFamily="34" charset="-122"/>
                <a:cs typeface="Calibri" pitchFamily="34" charset="-120"/>
              </a:rPr>
              <a:t>Cloud services or remote data storage</a:t>
            </a:r>
            <a:endParaRPr lang="en-US" sz="1350" dirty="0"/>
          </a:p>
          <a:p>
            <a:pPr marL="177800" indent="-177800">
              <a:spcAft>
                <a:spcPts val="1200"/>
              </a:spcAft>
              <a:buSzPct val="100000"/>
              <a:buChar char="•"/>
            </a:pPr>
            <a:r>
              <a:rPr lang="en-US" sz="1350" dirty="0">
                <a:solidFill>
                  <a:srgbClr val="1B2430"/>
                </a:solidFill>
                <a:latin typeface="Calibri" pitchFamily="34" charset="0"/>
                <a:ea typeface="Calibri" pitchFamily="34" charset="-122"/>
                <a:cs typeface="Calibri" pitchFamily="34" charset="-120"/>
              </a:rPr>
              <a:t>Mobile application binary reverse engineering</a:t>
            </a:r>
            <a:endParaRPr lang="en-US" sz="1350" dirty="0"/>
          </a:p>
          <a:p>
            <a:pPr marL="177800" indent="-177800">
              <a:spcAft>
                <a:spcPts val="1200"/>
              </a:spcAft>
              <a:buSzPct val="100000"/>
              <a:buChar char="•"/>
            </a:pPr>
            <a:r>
              <a:rPr lang="en-US" sz="1350" dirty="0">
                <a:solidFill>
                  <a:srgbClr val="1B2430"/>
                </a:solidFill>
                <a:latin typeface="Calibri" pitchFamily="34" charset="0"/>
                <a:ea typeface="Calibri" pitchFamily="34" charset="-122"/>
                <a:cs typeface="Calibri" pitchFamily="34" charset="-120"/>
              </a:rPr>
              <a:t>Fully autonomous, unsupervised operation</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6446520"/>
            <a:ext cx="9144000" cy="274320"/>
          </a:xfrm>
          <a:prstGeom prst="rect">
            <a:avLst/>
          </a:prstGeom>
          <a:noFill/>
          <a:ln/>
        </p:spPr>
        <p:txBody>
          <a:bodyPr wrap="square" rtlCol="0" anchor="ctr"/>
          <a:lstStyle/>
          <a:p>
            <a:pPr marL="0" indent="0">
              <a:buNone/>
            </a:pPr>
            <a:r>
              <a:rPr lang="en-US" sz="900" b="1" dirty="0">
                <a:solidFill>
                  <a:srgbClr val="5E6B7A"/>
                </a:solidFill>
                <a:latin typeface="Calibri" pitchFamily="34" charset="0"/>
                <a:ea typeface="Calibri" pitchFamily="34" charset="-122"/>
                <a:cs typeface="Calibri" pitchFamily="34" charset="-120"/>
              </a:rPr>
              <a:t>SecurityOps Assistant</a:t>
            </a:r>
            <a:r>
              <a:rPr lang="en-US" sz="900" dirty="0">
                <a:solidFill>
                  <a:srgbClr val="5E6B7A"/>
                </a:solidFill>
                <a:latin typeface="Calibri" pitchFamily="34" charset="0"/>
                <a:ea typeface="Calibri" pitchFamily="34" charset="-122"/>
                <a:cs typeface="Calibri" pitchFamily="34" charset="-120"/>
              </a:rPr>
              <a:t>   |   Project Proposal</a:t>
            </a:r>
            <a:endParaRPr lang="en-US" sz="900" dirty="0"/>
          </a:p>
        </p:txBody>
      </p:sp>
      <p:sp>
        <p:nvSpPr>
          <p:cNvPr id="3" name="Text 1"/>
          <p:cNvSpPr/>
          <p:nvPr/>
        </p:nvSpPr>
        <p:spPr>
          <a:xfrm>
            <a:off x="11338560" y="6446520"/>
            <a:ext cx="365760" cy="274320"/>
          </a:xfrm>
          <a:prstGeom prst="rect">
            <a:avLst/>
          </a:prstGeom>
          <a:noFill/>
          <a:ln/>
        </p:spPr>
        <p:txBody>
          <a:bodyPr wrap="square" rtlCol="0" anchor="ctr"/>
          <a:lstStyle/>
          <a:p>
            <a:pPr marL="0" indent="0" algn="r">
              <a:buNone/>
            </a:pPr>
            <a:r>
              <a:rPr lang="en-US" sz="900" dirty="0">
                <a:solidFill>
                  <a:srgbClr val="5E6B7A"/>
                </a:solidFill>
                <a:latin typeface="Calibri" pitchFamily="34" charset="0"/>
                <a:ea typeface="Calibri" pitchFamily="34" charset="-122"/>
                <a:cs typeface="Calibri" pitchFamily="34" charset="-120"/>
              </a:rPr>
              <a:t>7</a:t>
            </a:r>
            <a:endParaRPr lang="en-US" sz="900" dirty="0"/>
          </a:p>
        </p:txBody>
      </p:sp>
      <p:sp>
        <p:nvSpPr>
          <p:cNvPr id="4" name="Text 2"/>
          <p:cNvSpPr/>
          <p:nvPr/>
        </p:nvSpPr>
        <p:spPr>
          <a:xfrm>
            <a:off x="502920" y="411480"/>
            <a:ext cx="11155680" cy="640080"/>
          </a:xfrm>
          <a:prstGeom prst="rect">
            <a:avLst/>
          </a:prstGeom>
          <a:noFill/>
          <a:ln/>
        </p:spPr>
        <p:txBody>
          <a:bodyPr wrap="square" rtlCol="0" anchor="ctr"/>
          <a:lstStyle/>
          <a:p>
            <a:pPr marL="0" indent="0">
              <a:buNone/>
            </a:pPr>
            <a:r>
              <a:rPr lang="en-US" sz="3200" b="1" dirty="0">
                <a:solidFill>
                  <a:srgbClr val="1F3A5F"/>
                </a:solidFill>
                <a:latin typeface="Cambria" pitchFamily="34" charset="0"/>
                <a:ea typeface="Cambria" pitchFamily="34" charset="-122"/>
                <a:cs typeface="Cambria" pitchFamily="34" charset="-120"/>
              </a:rPr>
              <a:t>Proposed Solution</a:t>
            </a:r>
            <a:endParaRPr lang="en-US" sz="3200" dirty="0"/>
          </a:p>
        </p:txBody>
      </p:sp>
      <p:sp>
        <p:nvSpPr>
          <p:cNvPr id="5" name="Shape 3"/>
          <p:cNvSpPr/>
          <p:nvPr/>
        </p:nvSpPr>
        <p:spPr>
          <a:xfrm>
            <a:off x="502920" y="1600200"/>
            <a:ext cx="11201400" cy="632460"/>
          </a:xfrm>
          <a:prstGeom prst="roundRect">
            <a:avLst>
              <a:gd name="adj" fmla="val 11566"/>
            </a:avLst>
          </a:prstGeom>
          <a:solidFill>
            <a:srgbClr val="F3F6FB"/>
          </a:solidFill>
          <a:ln w="12700">
            <a:solidFill>
              <a:srgbClr val="D9E1EC"/>
            </a:solidFill>
            <a:prstDash val="solid"/>
          </a:ln>
          <a:effectLst>
            <a:outerShdw blurRad="88900" dist="38100" dir="5400000" algn="bl" rotWithShape="0">
              <a:srgbClr val="8494A8">
                <a:alpha val="28000"/>
              </a:srgbClr>
            </a:outerShdw>
          </a:effectLst>
        </p:spPr>
      </p:sp>
      <p:sp>
        <p:nvSpPr>
          <p:cNvPr id="6" name="Shape 4"/>
          <p:cNvSpPr/>
          <p:nvPr/>
        </p:nvSpPr>
        <p:spPr>
          <a:xfrm>
            <a:off x="731520" y="1687830"/>
            <a:ext cx="457200" cy="457200"/>
          </a:xfrm>
          <a:prstGeom prst="ellipse">
            <a:avLst/>
          </a:prstGeom>
          <a:solidFill>
            <a:srgbClr val="2C5282"/>
          </a:solidFill>
          <a:ln/>
        </p:spPr>
      </p:sp>
      <p:sp>
        <p:nvSpPr>
          <p:cNvPr id="7" name="Text 5"/>
          <p:cNvSpPr/>
          <p:nvPr/>
        </p:nvSpPr>
        <p:spPr>
          <a:xfrm>
            <a:off x="731520" y="1687830"/>
            <a:ext cx="45720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p:nvPr/>
        </p:nvSpPr>
        <p:spPr>
          <a:xfrm>
            <a:off x="1417320" y="1600200"/>
            <a:ext cx="10058400" cy="632460"/>
          </a:xfrm>
          <a:prstGeom prst="rect">
            <a:avLst/>
          </a:prstGeom>
          <a:noFill/>
          <a:ln/>
        </p:spPr>
        <p:txBody>
          <a:bodyPr wrap="square" rtlCol="0" anchor="ctr"/>
          <a:lstStyle/>
          <a:p>
            <a:pPr marL="0" indent="0">
              <a:buNone/>
            </a:pPr>
            <a:r>
              <a:rPr lang="en-US" sz="1500" dirty="0">
                <a:solidFill>
                  <a:srgbClr val="1B2430"/>
                </a:solidFill>
                <a:latin typeface="Calibri" pitchFamily="34" charset="0"/>
                <a:ea typeface="Calibri" pitchFamily="34" charset="-122"/>
                <a:cs typeface="Calibri" pitchFamily="34" charset="-120"/>
              </a:rPr>
              <a:t>Overview: a local AI assistant that plans and coordinates Kali tools with human approval</a:t>
            </a:r>
            <a:endParaRPr lang="en-US" sz="1500" dirty="0"/>
          </a:p>
        </p:txBody>
      </p:sp>
      <p:sp>
        <p:nvSpPr>
          <p:cNvPr id="9" name="Shape 7"/>
          <p:cNvSpPr/>
          <p:nvPr/>
        </p:nvSpPr>
        <p:spPr>
          <a:xfrm>
            <a:off x="502920" y="2378964"/>
            <a:ext cx="11201400" cy="632460"/>
          </a:xfrm>
          <a:prstGeom prst="roundRect">
            <a:avLst>
              <a:gd name="adj" fmla="val 11566"/>
            </a:avLst>
          </a:prstGeom>
          <a:solidFill>
            <a:srgbClr val="F3F6FB"/>
          </a:solidFill>
          <a:ln w="12700">
            <a:solidFill>
              <a:srgbClr val="D9E1EC"/>
            </a:solidFill>
            <a:prstDash val="solid"/>
          </a:ln>
          <a:effectLst>
            <a:outerShdw blurRad="88900" dist="38100" dir="5400000" algn="bl" rotWithShape="0">
              <a:srgbClr val="8494A8">
                <a:alpha val="28000"/>
              </a:srgbClr>
            </a:outerShdw>
          </a:effectLst>
        </p:spPr>
      </p:sp>
      <p:sp>
        <p:nvSpPr>
          <p:cNvPr id="10" name="Shape 8"/>
          <p:cNvSpPr/>
          <p:nvPr/>
        </p:nvSpPr>
        <p:spPr>
          <a:xfrm>
            <a:off x="731520" y="2466594"/>
            <a:ext cx="457200" cy="457200"/>
          </a:xfrm>
          <a:prstGeom prst="ellipse">
            <a:avLst/>
          </a:prstGeom>
          <a:solidFill>
            <a:srgbClr val="2C9CA6"/>
          </a:solidFill>
          <a:ln/>
        </p:spPr>
      </p:sp>
      <p:sp>
        <p:nvSpPr>
          <p:cNvPr id="11" name="Text 9"/>
          <p:cNvSpPr/>
          <p:nvPr/>
        </p:nvSpPr>
        <p:spPr>
          <a:xfrm>
            <a:off x="731520" y="2466594"/>
            <a:ext cx="45720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1417320" y="2378964"/>
            <a:ext cx="10058400" cy="632460"/>
          </a:xfrm>
          <a:prstGeom prst="rect">
            <a:avLst/>
          </a:prstGeom>
          <a:noFill/>
          <a:ln/>
        </p:spPr>
        <p:txBody>
          <a:bodyPr wrap="square" rtlCol="0" anchor="ctr"/>
          <a:lstStyle/>
          <a:p>
            <a:pPr marL="0" indent="0">
              <a:buNone/>
            </a:pPr>
            <a:r>
              <a:rPr lang="en-US" sz="1500" dirty="0">
                <a:solidFill>
                  <a:srgbClr val="1B2430"/>
                </a:solidFill>
                <a:latin typeface="Calibri" pitchFamily="34" charset="0"/>
                <a:ea typeface="Calibri" pitchFamily="34" charset="-122"/>
                <a:cs typeface="Calibri" pitchFamily="34" charset="-120"/>
              </a:rPr>
              <a:t>Feature: natural-language workflow — plan, approve, run, explain</a:t>
            </a:r>
            <a:endParaRPr lang="en-US" sz="1500" dirty="0"/>
          </a:p>
        </p:txBody>
      </p:sp>
      <p:sp>
        <p:nvSpPr>
          <p:cNvPr id="13" name="Shape 11"/>
          <p:cNvSpPr/>
          <p:nvPr/>
        </p:nvSpPr>
        <p:spPr>
          <a:xfrm>
            <a:off x="502920" y="3157728"/>
            <a:ext cx="11201400" cy="632460"/>
          </a:xfrm>
          <a:prstGeom prst="roundRect">
            <a:avLst>
              <a:gd name="adj" fmla="val 11566"/>
            </a:avLst>
          </a:prstGeom>
          <a:solidFill>
            <a:srgbClr val="F3F6FB"/>
          </a:solidFill>
          <a:ln w="12700">
            <a:solidFill>
              <a:srgbClr val="D9E1EC"/>
            </a:solidFill>
            <a:prstDash val="solid"/>
          </a:ln>
          <a:effectLst>
            <a:outerShdw blurRad="88900" dist="38100" dir="5400000" algn="bl" rotWithShape="0">
              <a:srgbClr val="8494A8">
                <a:alpha val="28000"/>
              </a:srgbClr>
            </a:outerShdw>
          </a:effectLst>
        </p:spPr>
      </p:sp>
      <p:sp>
        <p:nvSpPr>
          <p:cNvPr id="14" name="Shape 12"/>
          <p:cNvSpPr/>
          <p:nvPr/>
        </p:nvSpPr>
        <p:spPr>
          <a:xfrm>
            <a:off x="731520" y="3245358"/>
            <a:ext cx="457200" cy="457200"/>
          </a:xfrm>
          <a:prstGeom prst="ellipse">
            <a:avLst/>
          </a:prstGeom>
          <a:solidFill>
            <a:srgbClr val="2E9E5B"/>
          </a:solidFill>
          <a:ln/>
        </p:spPr>
      </p:sp>
      <p:sp>
        <p:nvSpPr>
          <p:cNvPr id="15" name="Text 13"/>
          <p:cNvSpPr/>
          <p:nvPr/>
        </p:nvSpPr>
        <p:spPr>
          <a:xfrm>
            <a:off x="731520" y="3245358"/>
            <a:ext cx="45720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6" name="Text 14"/>
          <p:cNvSpPr/>
          <p:nvPr/>
        </p:nvSpPr>
        <p:spPr>
          <a:xfrm>
            <a:off x="1417320" y="3157728"/>
            <a:ext cx="10058400" cy="632460"/>
          </a:xfrm>
          <a:prstGeom prst="rect">
            <a:avLst/>
          </a:prstGeom>
          <a:noFill/>
          <a:ln/>
        </p:spPr>
        <p:txBody>
          <a:bodyPr wrap="square" rtlCol="0" anchor="ctr"/>
          <a:lstStyle/>
          <a:p>
            <a:pPr marL="0" indent="0">
              <a:buNone/>
            </a:pPr>
            <a:r>
              <a:rPr lang="en-US" sz="1500" dirty="0">
                <a:solidFill>
                  <a:srgbClr val="1B2430"/>
                </a:solidFill>
                <a:latin typeface="Calibri" pitchFamily="34" charset="0"/>
                <a:ea typeface="Calibri" pitchFamily="34" charset="-122"/>
                <a:cs typeface="Calibri" pitchFamily="34" charset="-120"/>
              </a:rPr>
              <a:t>Feature: bug bounty module with scope validation and target-type methodology</a:t>
            </a:r>
            <a:endParaRPr lang="en-US" sz="1500" dirty="0"/>
          </a:p>
        </p:txBody>
      </p:sp>
      <p:sp>
        <p:nvSpPr>
          <p:cNvPr id="17" name="Shape 15"/>
          <p:cNvSpPr/>
          <p:nvPr/>
        </p:nvSpPr>
        <p:spPr>
          <a:xfrm>
            <a:off x="502920" y="3936492"/>
            <a:ext cx="11201400" cy="632460"/>
          </a:xfrm>
          <a:prstGeom prst="roundRect">
            <a:avLst>
              <a:gd name="adj" fmla="val 11566"/>
            </a:avLst>
          </a:prstGeom>
          <a:solidFill>
            <a:srgbClr val="F3F6FB"/>
          </a:solidFill>
          <a:ln w="12700">
            <a:solidFill>
              <a:srgbClr val="D9E1EC"/>
            </a:solidFill>
            <a:prstDash val="solid"/>
          </a:ln>
          <a:effectLst>
            <a:outerShdw blurRad="88900" dist="38100" dir="5400000" algn="bl" rotWithShape="0">
              <a:srgbClr val="8494A8">
                <a:alpha val="28000"/>
              </a:srgbClr>
            </a:outerShdw>
          </a:effectLst>
        </p:spPr>
      </p:sp>
      <p:sp>
        <p:nvSpPr>
          <p:cNvPr id="18" name="Shape 16"/>
          <p:cNvSpPr/>
          <p:nvPr/>
        </p:nvSpPr>
        <p:spPr>
          <a:xfrm>
            <a:off x="731520" y="4024122"/>
            <a:ext cx="457200" cy="457200"/>
          </a:xfrm>
          <a:prstGeom prst="ellipse">
            <a:avLst/>
          </a:prstGeom>
          <a:solidFill>
            <a:srgbClr val="C9820A"/>
          </a:solidFill>
          <a:ln/>
        </p:spPr>
      </p:sp>
      <p:sp>
        <p:nvSpPr>
          <p:cNvPr id="19" name="Text 17"/>
          <p:cNvSpPr/>
          <p:nvPr/>
        </p:nvSpPr>
        <p:spPr>
          <a:xfrm>
            <a:off x="731520" y="4024122"/>
            <a:ext cx="45720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0" name="Text 18"/>
          <p:cNvSpPr/>
          <p:nvPr/>
        </p:nvSpPr>
        <p:spPr>
          <a:xfrm>
            <a:off x="1417320" y="3936492"/>
            <a:ext cx="10058400" cy="632460"/>
          </a:xfrm>
          <a:prstGeom prst="rect">
            <a:avLst/>
          </a:prstGeom>
          <a:noFill/>
          <a:ln/>
        </p:spPr>
        <p:txBody>
          <a:bodyPr wrap="square" rtlCol="0" anchor="ctr"/>
          <a:lstStyle/>
          <a:p>
            <a:pPr marL="0" indent="0">
              <a:buNone/>
            </a:pPr>
            <a:r>
              <a:rPr lang="en-US" sz="1500" dirty="0">
                <a:solidFill>
                  <a:srgbClr val="1B2430"/>
                </a:solidFill>
                <a:latin typeface="Calibri" pitchFamily="34" charset="0"/>
                <a:ea typeface="Calibri" pitchFamily="34" charset="-122"/>
                <a:cs typeface="Calibri" pitchFamily="34" charset="-120"/>
              </a:rPr>
              <a:t>Feature: responsible disclosure — curate findings, draft &amp; record vendor reports</a:t>
            </a:r>
            <a:endParaRPr lang="en-US" sz="1500" dirty="0"/>
          </a:p>
        </p:txBody>
      </p:sp>
      <p:sp>
        <p:nvSpPr>
          <p:cNvPr id="21" name="Shape 19"/>
          <p:cNvSpPr/>
          <p:nvPr/>
        </p:nvSpPr>
        <p:spPr>
          <a:xfrm>
            <a:off x="502920" y="4715256"/>
            <a:ext cx="11201400" cy="632460"/>
          </a:xfrm>
          <a:prstGeom prst="roundRect">
            <a:avLst>
              <a:gd name="adj" fmla="val 11566"/>
            </a:avLst>
          </a:prstGeom>
          <a:solidFill>
            <a:srgbClr val="F3F6FB"/>
          </a:solidFill>
          <a:ln w="12700">
            <a:solidFill>
              <a:srgbClr val="D9E1EC"/>
            </a:solidFill>
            <a:prstDash val="solid"/>
          </a:ln>
          <a:effectLst>
            <a:outerShdw blurRad="88900" dist="38100" dir="5400000" algn="bl" rotWithShape="0">
              <a:srgbClr val="8494A8">
                <a:alpha val="28000"/>
              </a:srgbClr>
            </a:outerShdw>
          </a:effectLst>
        </p:spPr>
      </p:sp>
      <p:sp>
        <p:nvSpPr>
          <p:cNvPr id="22" name="Shape 20"/>
          <p:cNvSpPr/>
          <p:nvPr/>
        </p:nvSpPr>
        <p:spPr>
          <a:xfrm>
            <a:off x="731520" y="4802886"/>
            <a:ext cx="457200" cy="457200"/>
          </a:xfrm>
          <a:prstGeom prst="ellipse">
            <a:avLst/>
          </a:prstGeom>
          <a:solidFill>
            <a:srgbClr val="6C5CE7"/>
          </a:solidFill>
          <a:ln/>
        </p:spPr>
      </p:sp>
      <p:sp>
        <p:nvSpPr>
          <p:cNvPr id="23" name="Text 21"/>
          <p:cNvSpPr/>
          <p:nvPr/>
        </p:nvSpPr>
        <p:spPr>
          <a:xfrm>
            <a:off x="731520" y="4802886"/>
            <a:ext cx="45720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4" name="Text 22"/>
          <p:cNvSpPr/>
          <p:nvPr/>
        </p:nvSpPr>
        <p:spPr>
          <a:xfrm>
            <a:off x="1417320" y="4715256"/>
            <a:ext cx="10058400" cy="632460"/>
          </a:xfrm>
          <a:prstGeom prst="rect">
            <a:avLst/>
          </a:prstGeom>
          <a:noFill/>
          <a:ln/>
        </p:spPr>
        <p:txBody>
          <a:bodyPr wrap="square" rtlCol="0" anchor="ctr"/>
          <a:lstStyle/>
          <a:p>
            <a:pPr marL="0" indent="0">
              <a:buNone/>
            </a:pPr>
            <a:r>
              <a:rPr lang="en-US" sz="1500" dirty="0">
                <a:solidFill>
                  <a:srgbClr val="1B2430"/>
                </a:solidFill>
                <a:latin typeface="Calibri" pitchFamily="34" charset="0"/>
                <a:ea typeface="Calibri" pitchFamily="34" charset="-122"/>
                <a:cs typeface="Calibri" pitchFamily="34" charset="-120"/>
              </a:rPr>
              <a:t>Feature: auto tool launcher, findings dashboard, and report generator</a:t>
            </a:r>
            <a:endParaRPr lang="en-US" sz="1500" dirty="0"/>
          </a:p>
        </p:txBody>
      </p:sp>
      <p:sp>
        <p:nvSpPr>
          <p:cNvPr id="25" name="Shape 23"/>
          <p:cNvSpPr/>
          <p:nvPr/>
        </p:nvSpPr>
        <p:spPr>
          <a:xfrm>
            <a:off x="502920" y="5494020"/>
            <a:ext cx="11201400" cy="632460"/>
          </a:xfrm>
          <a:prstGeom prst="roundRect">
            <a:avLst>
              <a:gd name="adj" fmla="val 11566"/>
            </a:avLst>
          </a:prstGeom>
          <a:solidFill>
            <a:srgbClr val="F3F6FB"/>
          </a:solidFill>
          <a:ln w="12700">
            <a:solidFill>
              <a:srgbClr val="D9E1EC"/>
            </a:solidFill>
            <a:prstDash val="solid"/>
          </a:ln>
          <a:effectLst>
            <a:outerShdw blurRad="88900" dist="38100" dir="5400000" algn="bl" rotWithShape="0">
              <a:srgbClr val="8494A8">
                <a:alpha val="28000"/>
              </a:srgbClr>
            </a:outerShdw>
          </a:effectLst>
        </p:spPr>
      </p:sp>
      <p:sp>
        <p:nvSpPr>
          <p:cNvPr id="26" name="Shape 24"/>
          <p:cNvSpPr/>
          <p:nvPr/>
        </p:nvSpPr>
        <p:spPr>
          <a:xfrm>
            <a:off x="731520" y="5581650"/>
            <a:ext cx="457200" cy="457200"/>
          </a:xfrm>
          <a:prstGeom prst="ellipse">
            <a:avLst/>
          </a:prstGeom>
          <a:solidFill>
            <a:srgbClr val="C0392B"/>
          </a:solidFill>
          <a:ln/>
        </p:spPr>
      </p:sp>
      <p:sp>
        <p:nvSpPr>
          <p:cNvPr id="27" name="Text 25"/>
          <p:cNvSpPr/>
          <p:nvPr/>
        </p:nvSpPr>
        <p:spPr>
          <a:xfrm>
            <a:off x="731520" y="5581650"/>
            <a:ext cx="45720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28" name="Text 26"/>
          <p:cNvSpPr/>
          <p:nvPr/>
        </p:nvSpPr>
        <p:spPr>
          <a:xfrm>
            <a:off x="1417320" y="5494020"/>
            <a:ext cx="10058400" cy="632460"/>
          </a:xfrm>
          <a:prstGeom prst="rect">
            <a:avLst/>
          </a:prstGeom>
          <a:noFill/>
          <a:ln/>
        </p:spPr>
        <p:txBody>
          <a:bodyPr wrap="square" rtlCol="0" anchor="ctr"/>
          <a:lstStyle/>
          <a:p>
            <a:pPr marL="0" indent="0">
              <a:buNone/>
            </a:pPr>
            <a:r>
              <a:rPr lang="en-US" sz="1500" dirty="0">
                <a:solidFill>
                  <a:srgbClr val="1B2430"/>
                </a:solidFill>
                <a:latin typeface="Calibri" pitchFamily="34" charset="0"/>
                <a:ea typeface="Calibri" pitchFamily="34" charset="-122"/>
                <a:cs typeface="Calibri" pitchFamily="34" charset="-120"/>
              </a:rPr>
              <a:t>Benefits: faster, guided, private, auditable assessments</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6446520"/>
            <a:ext cx="9144000" cy="274320"/>
          </a:xfrm>
          <a:prstGeom prst="rect">
            <a:avLst/>
          </a:prstGeom>
          <a:noFill/>
          <a:ln/>
        </p:spPr>
        <p:txBody>
          <a:bodyPr wrap="square" rtlCol="0" anchor="ctr"/>
          <a:lstStyle/>
          <a:p>
            <a:pPr marL="0" indent="0">
              <a:buNone/>
            </a:pPr>
            <a:r>
              <a:rPr lang="en-US" sz="900" b="1" dirty="0">
                <a:solidFill>
                  <a:srgbClr val="5E6B7A"/>
                </a:solidFill>
                <a:latin typeface="Calibri" pitchFamily="34" charset="0"/>
                <a:ea typeface="Calibri" pitchFamily="34" charset="-122"/>
                <a:cs typeface="Calibri" pitchFamily="34" charset="-120"/>
              </a:rPr>
              <a:t>SecurityOps Assistant</a:t>
            </a:r>
            <a:r>
              <a:rPr lang="en-US" sz="900" dirty="0">
                <a:solidFill>
                  <a:srgbClr val="5E6B7A"/>
                </a:solidFill>
                <a:latin typeface="Calibri" pitchFamily="34" charset="0"/>
                <a:ea typeface="Calibri" pitchFamily="34" charset="-122"/>
                <a:cs typeface="Calibri" pitchFamily="34" charset="-120"/>
              </a:rPr>
              <a:t>   |   Project Proposal</a:t>
            </a:r>
            <a:endParaRPr lang="en-US" sz="900" dirty="0"/>
          </a:p>
        </p:txBody>
      </p:sp>
      <p:sp>
        <p:nvSpPr>
          <p:cNvPr id="3" name="Text 1"/>
          <p:cNvSpPr/>
          <p:nvPr/>
        </p:nvSpPr>
        <p:spPr>
          <a:xfrm>
            <a:off x="11338560" y="6446520"/>
            <a:ext cx="365760" cy="274320"/>
          </a:xfrm>
          <a:prstGeom prst="rect">
            <a:avLst/>
          </a:prstGeom>
          <a:noFill/>
          <a:ln/>
        </p:spPr>
        <p:txBody>
          <a:bodyPr wrap="square" rtlCol="0" anchor="ctr"/>
          <a:lstStyle/>
          <a:p>
            <a:pPr marL="0" indent="0" algn="r">
              <a:buNone/>
            </a:pPr>
            <a:r>
              <a:rPr lang="en-US" sz="900" dirty="0">
                <a:solidFill>
                  <a:srgbClr val="5E6B7A"/>
                </a:solidFill>
                <a:latin typeface="Calibri" pitchFamily="34" charset="0"/>
                <a:ea typeface="Calibri" pitchFamily="34" charset="-122"/>
                <a:cs typeface="Calibri" pitchFamily="34" charset="-120"/>
              </a:rPr>
              <a:t>8</a:t>
            </a:r>
            <a:endParaRPr lang="en-US" sz="900" dirty="0"/>
          </a:p>
        </p:txBody>
      </p:sp>
      <p:sp>
        <p:nvSpPr>
          <p:cNvPr id="4" name="Text 2"/>
          <p:cNvSpPr/>
          <p:nvPr/>
        </p:nvSpPr>
        <p:spPr>
          <a:xfrm>
            <a:off x="502920" y="411480"/>
            <a:ext cx="11155680" cy="640080"/>
          </a:xfrm>
          <a:prstGeom prst="rect">
            <a:avLst/>
          </a:prstGeom>
          <a:noFill/>
          <a:ln/>
        </p:spPr>
        <p:txBody>
          <a:bodyPr wrap="square" rtlCol="0" anchor="ctr"/>
          <a:lstStyle/>
          <a:p>
            <a:pPr marL="0" indent="0">
              <a:buNone/>
            </a:pPr>
            <a:r>
              <a:rPr lang="en-US" sz="3200" b="1" dirty="0">
                <a:solidFill>
                  <a:srgbClr val="1F3A5F"/>
                </a:solidFill>
                <a:latin typeface="Cambria" pitchFamily="34" charset="0"/>
                <a:ea typeface="Cambria" pitchFamily="34" charset="-122"/>
                <a:cs typeface="Cambria" pitchFamily="34" charset="-120"/>
              </a:rPr>
              <a:t>System Architecture</a:t>
            </a:r>
            <a:endParaRPr lang="en-US" sz="3200" dirty="0"/>
          </a:p>
        </p:txBody>
      </p:sp>
      <p:sp>
        <p:nvSpPr>
          <p:cNvPr id="5" name="Shape 3"/>
          <p:cNvSpPr/>
          <p:nvPr/>
        </p:nvSpPr>
        <p:spPr>
          <a:xfrm>
            <a:off x="502920" y="1508760"/>
            <a:ext cx="7040880" cy="841248"/>
          </a:xfrm>
          <a:prstGeom prst="roundRect">
            <a:avLst>
              <a:gd name="adj" fmla="val 8696"/>
            </a:avLst>
          </a:prstGeom>
          <a:solidFill>
            <a:srgbClr val="F3F6FB"/>
          </a:solidFill>
          <a:ln w="12700">
            <a:solidFill>
              <a:srgbClr val="D9E1EC"/>
            </a:solidFill>
            <a:prstDash val="solid"/>
          </a:ln>
          <a:effectLst>
            <a:outerShdw blurRad="88900" dist="38100" dir="5400000" algn="bl" rotWithShape="0">
              <a:srgbClr val="8494A8">
                <a:alpha val="28000"/>
              </a:srgbClr>
            </a:outerShdw>
          </a:effectLst>
        </p:spPr>
      </p:sp>
      <p:sp>
        <p:nvSpPr>
          <p:cNvPr id="6" name="Shape 4"/>
          <p:cNvSpPr/>
          <p:nvPr/>
        </p:nvSpPr>
        <p:spPr>
          <a:xfrm>
            <a:off x="685800" y="1746504"/>
            <a:ext cx="365760" cy="365760"/>
          </a:xfrm>
          <a:prstGeom prst="ellipse">
            <a:avLst/>
          </a:prstGeom>
          <a:solidFill>
            <a:srgbClr val="2C5282"/>
          </a:solidFill>
          <a:ln/>
        </p:spPr>
      </p:sp>
      <p:sp>
        <p:nvSpPr>
          <p:cNvPr id="7" name="Text 5"/>
          <p:cNvSpPr/>
          <p:nvPr/>
        </p:nvSpPr>
        <p:spPr>
          <a:xfrm>
            <a:off x="1143000" y="1600200"/>
            <a:ext cx="2834640" cy="658368"/>
          </a:xfrm>
          <a:prstGeom prst="rect">
            <a:avLst/>
          </a:prstGeom>
          <a:noFill/>
          <a:ln/>
        </p:spPr>
        <p:txBody>
          <a:bodyPr wrap="square" rtlCol="0" anchor="ctr"/>
          <a:lstStyle/>
          <a:p>
            <a:pPr marL="0" indent="0">
              <a:buNone/>
            </a:pPr>
            <a:r>
              <a:rPr lang="en-US" sz="1450" b="1" dirty="0">
                <a:solidFill>
                  <a:srgbClr val="1F3A5F"/>
                </a:solidFill>
                <a:latin typeface="Calibri" pitchFamily="34" charset="0"/>
                <a:ea typeface="Calibri" pitchFamily="34" charset="-122"/>
                <a:cs typeface="Calibri" pitchFamily="34" charset="-120"/>
              </a:rPr>
              <a:t>GUI Layer</a:t>
            </a:r>
            <a:endParaRPr lang="en-US" sz="1450" dirty="0"/>
          </a:p>
        </p:txBody>
      </p:sp>
      <p:sp>
        <p:nvSpPr>
          <p:cNvPr id="8" name="Text 6"/>
          <p:cNvSpPr/>
          <p:nvPr/>
        </p:nvSpPr>
        <p:spPr>
          <a:xfrm>
            <a:off x="3931920" y="1600200"/>
            <a:ext cx="3520440" cy="658368"/>
          </a:xfrm>
          <a:prstGeom prst="rect">
            <a:avLst/>
          </a:prstGeom>
          <a:noFill/>
          <a:ln/>
        </p:spPr>
        <p:txBody>
          <a:bodyPr wrap="square" rtlCol="0" anchor="ctr"/>
          <a:lstStyle/>
          <a:p>
            <a:pPr marL="0" indent="0">
              <a:buNone/>
            </a:pPr>
            <a:r>
              <a:rPr lang="en-US" sz="1050" dirty="0">
                <a:solidFill>
                  <a:srgbClr val="5E6B7A"/>
                </a:solidFill>
                <a:latin typeface="Calibri" pitchFamily="34" charset="0"/>
                <a:ea typeface="Calibri" pitchFamily="34" charset="-122"/>
                <a:cs typeface="Calibri" pitchFamily="34" charset="-120"/>
              </a:rPr>
              <a:t>PySide6 main window, dark theme, plugin tabs</a:t>
            </a:r>
            <a:endParaRPr lang="en-US" sz="1050" dirty="0"/>
          </a:p>
        </p:txBody>
      </p:sp>
      <p:sp>
        <p:nvSpPr>
          <p:cNvPr id="9" name="Text 7"/>
          <p:cNvSpPr/>
          <p:nvPr/>
        </p:nvSpPr>
        <p:spPr>
          <a:xfrm>
            <a:off x="3840480" y="2276856"/>
            <a:ext cx="365760" cy="201168"/>
          </a:xfrm>
          <a:prstGeom prst="rect">
            <a:avLst/>
          </a:prstGeom>
          <a:noFill/>
          <a:ln/>
        </p:spPr>
        <p:txBody>
          <a:bodyPr wrap="square" rtlCol="0" anchor="ctr"/>
          <a:lstStyle/>
          <a:p>
            <a:pPr marL="0" indent="0" algn="ctr">
              <a:buNone/>
            </a:pPr>
            <a:r>
              <a:rPr lang="en-US" sz="1100" dirty="0">
                <a:solidFill>
                  <a:srgbClr val="D9E1EC"/>
                </a:solidFill>
                <a:latin typeface="Calibri" pitchFamily="34" charset="0"/>
                <a:ea typeface="Calibri" pitchFamily="34" charset="-122"/>
                <a:cs typeface="Calibri" pitchFamily="34" charset="-120"/>
              </a:rPr>
              <a:t>▼</a:t>
            </a:r>
            <a:endParaRPr lang="en-US" sz="1100" dirty="0"/>
          </a:p>
        </p:txBody>
      </p:sp>
      <p:sp>
        <p:nvSpPr>
          <p:cNvPr id="10" name="Shape 8"/>
          <p:cNvSpPr/>
          <p:nvPr/>
        </p:nvSpPr>
        <p:spPr>
          <a:xfrm>
            <a:off x="502920" y="2478024"/>
            <a:ext cx="7040880" cy="841248"/>
          </a:xfrm>
          <a:prstGeom prst="roundRect">
            <a:avLst>
              <a:gd name="adj" fmla="val 8696"/>
            </a:avLst>
          </a:prstGeom>
          <a:solidFill>
            <a:srgbClr val="F3F6FB"/>
          </a:solidFill>
          <a:ln w="12700">
            <a:solidFill>
              <a:srgbClr val="D9E1EC"/>
            </a:solidFill>
            <a:prstDash val="solid"/>
          </a:ln>
          <a:effectLst>
            <a:outerShdw blurRad="88900" dist="38100" dir="5400000" algn="bl" rotWithShape="0">
              <a:srgbClr val="8494A8">
                <a:alpha val="28000"/>
              </a:srgbClr>
            </a:outerShdw>
          </a:effectLst>
        </p:spPr>
      </p:sp>
      <p:sp>
        <p:nvSpPr>
          <p:cNvPr id="11" name="Shape 9"/>
          <p:cNvSpPr/>
          <p:nvPr/>
        </p:nvSpPr>
        <p:spPr>
          <a:xfrm>
            <a:off x="685800" y="2715768"/>
            <a:ext cx="365760" cy="365760"/>
          </a:xfrm>
          <a:prstGeom prst="ellipse">
            <a:avLst/>
          </a:prstGeom>
          <a:solidFill>
            <a:srgbClr val="2C9CA6"/>
          </a:solidFill>
          <a:ln/>
        </p:spPr>
      </p:sp>
      <p:sp>
        <p:nvSpPr>
          <p:cNvPr id="12" name="Text 10"/>
          <p:cNvSpPr/>
          <p:nvPr/>
        </p:nvSpPr>
        <p:spPr>
          <a:xfrm>
            <a:off x="1143000" y="2569464"/>
            <a:ext cx="2834640" cy="658368"/>
          </a:xfrm>
          <a:prstGeom prst="rect">
            <a:avLst/>
          </a:prstGeom>
          <a:noFill/>
          <a:ln/>
        </p:spPr>
        <p:txBody>
          <a:bodyPr wrap="square" rtlCol="0" anchor="ctr"/>
          <a:lstStyle/>
          <a:p>
            <a:pPr marL="0" indent="0">
              <a:buNone/>
            </a:pPr>
            <a:r>
              <a:rPr lang="en-US" sz="1450" b="1" dirty="0">
                <a:solidFill>
                  <a:srgbClr val="1F3A5F"/>
                </a:solidFill>
                <a:latin typeface="Calibri" pitchFamily="34" charset="0"/>
                <a:ea typeface="Calibri" pitchFamily="34" charset="-122"/>
                <a:cs typeface="Calibri" pitchFamily="34" charset="-120"/>
              </a:rPr>
              <a:t>Plugins</a:t>
            </a:r>
            <a:endParaRPr lang="en-US" sz="1450" dirty="0"/>
          </a:p>
        </p:txBody>
      </p:sp>
      <p:sp>
        <p:nvSpPr>
          <p:cNvPr id="13" name="Text 11"/>
          <p:cNvSpPr/>
          <p:nvPr/>
        </p:nvSpPr>
        <p:spPr>
          <a:xfrm>
            <a:off x="3931920" y="2569464"/>
            <a:ext cx="3520440" cy="658368"/>
          </a:xfrm>
          <a:prstGeom prst="rect">
            <a:avLst/>
          </a:prstGeom>
          <a:noFill/>
          <a:ln/>
        </p:spPr>
        <p:txBody>
          <a:bodyPr wrap="square" rtlCol="0" anchor="ctr"/>
          <a:lstStyle/>
          <a:p>
            <a:pPr marL="0" indent="0">
              <a:buNone/>
            </a:pPr>
            <a:r>
              <a:rPr lang="en-US" sz="1050" dirty="0">
                <a:solidFill>
                  <a:srgbClr val="5E6B7A"/>
                </a:solidFill>
                <a:latin typeface="Calibri" pitchFamily="34" charset="0"/>
                <a:ea typeface="Calibri" pitchFamily="34" charset="-122"/>
                <a:cs typeface="Calibri" pitchFamily="34" charset="-120"/>
              </a:rPr>
              <a:t>AI Workflow · Bug Bounty · Tools · Findings · Reporting</a:t>
            </a:r>
            <a:endParaRPr lang="en-US" sz="1050" dirty="0"/>
          </a:p>
        </p:txBody>
      </p:sp>
      <p:sp>
        <p:nvSpPr>
          <p:cNvPr id="14" name="Text 12"/>
          <p:cNvSpPr/>
          <p:nvPr/>
        </p:nvSpPr>
        <p:spPr>
          <a:xfrm>
            <a:off x="3840480" y="3246120"/>
            <a:ext cx="365760" cy="201168"/>
          </a:xfrm>
          <a:prstGeom prst="rect">
            <a:avLst/>
          </a:prstGeom>
          <a:noFill/>
          <a:ln/>
        </p:spPr>
        <p:txBody>
          <a:bodyPr wrap="square" rtlCol="0" anchor="ctr"/>
          <a:lstStyle/>
          <a:p>
            <a:pPr marL="0" indent="0" algn="ctr">
              <a:buNone/>
            </a:pPr>
            <a:r>
              <a:rPr lang="en-US" sz="1100" dirty="0">
                <a:solidFill>
                  <a:srgbClr val="D9E1EC"/>
                </a:solidFill>
                <a:latin typeface="Calibri" pitchFamily="34" charset="0"/>
                <a:ea typeface="Calibri" pitchFamily="34" charset="-122"/>
                <a:cs typeface="Calibri" pitchFamily="34" charset="-120"/>
              </a:rPr>
              <a:t>▼</a:t>
            </a:r>
            <a:endParaRPr lang="en-US" sz="1100" dirty="0"/>
          </a:p>
        </p:txBody>
      </p:sp>
      <p:sp>
        <p:nvSpPr>
          <p:cNvPr id="15" name="Shape 13"/>
          <p:cNvSpPr/>
          <p:nvPr/>
        </p:nvSpPr>
        <p:spPr>
          <a:xfrm>
            <a:off x="502920" y="3447288"/>
            <a:ext cx="7040880" cy="841248"/>
          </a:xfrm>
          <a:prstGeom prst="roundRect">
            <a:avLst>
              <a:gd name="adj" fmla="val 8696"/>
            </a:avLst>
          </a:prstGeom>
          <a:solidFill>
            <a:srgbClr val="F3F6FB"/>
          </a:solidFill>
          <a:ln w="12700">
            <a:solidFill>
              <a:srgbClr val="D9E1EC"/>
            </a:solidFill>
            <a:prstDash val="solid"/>
          </a:ln>
          <a:effectLst>
            <a:outerShdw blurRad="88900" dist="38100" dir="5400000" algn="bl" rotWithShape="0">
              <a:srgbClr val="8494A8">
                <a:alpha val="28000"/>
              </a:srgbClr>
            </a:outerShdw>
          </a:effectLst>
        </p:spPr>
      </p:sp>
      <p:sp>
        <p:nvSpPr>
          <p:cNvPr id="16" name="Shape 14"/>
          <p:cNvSpPr/>
          <p:nvPr/>
        </p:nvSpPr>
        <p:spPr>
          <a:xfrm>
            <a:off x="685800" y="3685032"/>
            <a:ext cx="365760" cy="365760"/>
          </a:xfrm>
          <a:prstGeom prst="ellipse">
            <a:avLst/>
          </a:prstGeom>
          <a:solidFill>
            <a:srgbClr val="6C5CE7"/>
          </a:solidFill>
          <a:ln/>
        </p:spPr>
      </p:sp>
      <p:sp>
        <p:nvSpPr>
          <p:cNvPr id="17" name="Text 15"/>
          <p:cNvSpPr/>
          <p:nvPr/>
        </p:nvSpPr>
        <p:spPr>
          <a:xfrm>
            <a:off x="1143000" y="3538728"/>
            <a:ext cx="2834640" cy="658368"/>
          </a:xfrm>
          <a:prstGeom prst="rect">
            <a:avLst/>
          </a:prstGeom>
          <a:noFill/>
          <a:ln/>
        </p:spPr>
        <p:txBody>
          <a:bodyPr wrap="square" rtlCol="0" anchor="ctr"/>
          <a:lstStyle/>
          <a:p>
            <a:pPr marL="0" indent="0">
              <a:buNone/>
            </a:pPr>
            <a:r>
              <a:rPr lang="en-US" sz="1450" b="1" dirty="0">
                <a:solidFill>
                  <a:srgbClr val="1F3A5F"/>
                </a:solidFill>
                <a:latin typeface="Calibri" pitchFamily="34" charset="0"/>
                <a:ea typeface="Calibri" pitchFamily="34" charset="-122"/>
                <a:cs typeface="Calibri" pitchFamily="34" charset="-120"/>
              </a:rPr>
              <a:t>Workflow · AI · Reporting</a:t>
            </a:r>
            <a:endParaRPr lang="en-US" sz="1450" dirty="0"/>
          </a:p>
        </p:txBody>
      </p:sp>
      <p:sp>
        <p:nvSpPr>
          <p:cNvPr id="18" name="Text 16"/>
          <p:cNvSpPr/>
          <p:nvPr/>
        </p:nvSpPr>
        <p:spPr>
          <a:xfrm>
            <a:off x="3931920" y="3538728"/>
            <a:ext cx="3520440" cy="658368"/>
          </a:xfrm>
          <a:prstGeom prst="rect">
            <a:avLst/>
          </a:prstGeom>
          <a:noFill/>
          <a:ln/>
        </p:spPr>
        <p:txBody>
          <a:bodyPr wrap="square" rtlCol="0" anchor="ctr"/>
          <a:lstStyle/>
          <a:p>
            <a:pPr marL="0" indent="0">
              <a:buNone/>
            </a:pPr>
            <a:r>
              <a:rPr lang="en-US" sz="1050" dirty="0">
                <a:solidFill>
                  <a:srgbClr val="5E6B7A"/>
                </a:solidFill>
                <a:latin typeface="Calibri" pitchFamily="34" charset="0"/>
                <a:ea typeface="Calibri" pitchFamily="34" charset="-122"/>
                <a:cs typeface="Calibri" pitchFamily="34" charset="-120"/>
              </a:rPr>
              <a:t>Planner / engine / parsers · local LLM · report generator</a:t>
            </a:r>
            <a:endParaRPr lang="en-US" sz="1050" dirty="0"/>
          </a:p>
        </p:txBody>
      </p:sp>
      <p:sp>
        <p:nvSpPr>
          <p:cNvPr id="19" name="Text 17"/>
          <p:cNvSpPr/>
          <p:nvPr/>
        </p:nvSpPr>
        <p:spPr>
          <a:xfrm>
            <a:off x="3840480" y="4215384"/>
            <a:ext cx="365760" cy="201168"/>
          </a:xfrm>
          <a:prstGeom prst="rect">
            <a:avLst/>
          </a:prstGeom>
          <a:noFill/>
          <a:ln/>
        </p:spPr>
        <p:txBody>
          <a:bodyPr wrap="square" rtlCol="0" anchor="ctr"/>
          <a:lstStyle/>
          <a:p>
            <a:pPr marL="0" indent="0" algn="ctr">
              <a:buNone/>
            </a:pPr>
            <a:r>
              <a:rPr lang="en-US" sz="1100" dirty="0">
                <a:solidFill>
                  <a:srgbClr val="D9E1EC"/>
                </a:solidFill>
                <a:latin typeface="Calibri" pitchFamily="34" charset="0"/>
                <a:ea typeface="Calibri" pitchFamily="34" charset="-122"/>
                <a:cs typeface="Calibri" pitchFamily="34" charset="-120"/>
              </a:rPr>
              <a:t>▼</a:t>
            </a:r>
            <a:endParaRPr lang="en-US" sz="1100" dirty="0"/>
          </a:p>
        </p:txBody>
      </p:sp>
      <p:sp>
        <p:nvSpPr>
          <p:cNvPr id="20" name="Shape 18"/>
          <p:cNvSpPr/>
          <p:nvPr/>
        </p:nvSpPr>
        <p:spPr>
          <a:xfrm>
            <a:off x="502920" y="4416552"/>
            <a:ext cx="7040880" cy="841248"/>
          </a:xfrm>
          <a:prstGeom prst="roundRect">
            <a:avLst>
              <a:gd name="adj" fmla="val 8696"/>
            </a:avLst>
          </a:prstGeom>
          <a:solidFill>
            <a:srgbClr val="F3F6FB"/>
          </a:solidFill>
          <a:ln w="12700">
            <a:solidFill>
              <a:srgbClr val="D9E1EC"/>
            </a:solidFill>
            <a:prstDash val="solid"/>
          </a:ln>
          <a:effectLst>
            <a:outerShdw blurRad="88900" dist="38100" dir="5400000" algn="bl" rotWithShape="0">
              <a:srgbClr val="8494A8">
                <a:alpha val="28000"/>
              </a:srgbClr>
            </a:outerShdw>
          </a:effectLst>
        </p:spPr>
      </p:sp>
      <p:sp>
        <p:nvSpPr>
          <p:cNvPr id="21" name="Shape 19"/>
          <p:cNvSpPr/>
          <p:nvPr/>
        </p:nvSpPr>
        <p:spPr>
          <a:xfrm>
            <a:off x="685800" y="4654296"/>
            <a:ext cx="365760" cy="365760"/>
          </a:xfrm>
          <a:prstGeom prst="ellipse">
            <a:avLst/>
          </a:prstGeom>
          <a:solidFill>
            <a:srgbClr val="C9820A"/>
          </a:solidFill>
          <a:ln/>
        </p:spPr>
      </p:sp>
      <p:sp>
        <p:nvSpPr>
          <p:cNvPr id="22" name="Text 20"/>
          <p:cNvSpPr/>
          <p:nvPr/>
        </p:nvSpPr>
        <p:spPr>
          <a:xfrm>
            <a:off x="1143000" y="4507992"/>
            <a:ext cx="2834640" cy="658368"/>
          </a:xfrm>
          <a:prstGeom prst="rect">
            <a:avLst/>
          </a:prstGeom>
          <a:noFill/>
          <a:ln/>
        </p:spPr>
        <p:txBody>
          <a:bodyPr wrap="square" rtlCol="0" anchor="ctr"/>
          <a:lstStyle/>
          <a:p>
            <a:pPr marL="0" indent="0">
              <a:buNone/>
            </a:pPr>
            <a:r>
              <a:rPr lang="en-US" sz="1450" b="1" dirty="0">
                <a:solidFill>
                  <a:srgbClr val="1F3A5F"/>
                </a:solidFill>
                <a:latin typeface="Calibri" pitchFamily="34" charset="0"/>
                <a:ea typeface="Calibri" pitchFamily="34" charset="-122"/>
                <a:cs typeface="Calibri" pitchFamily="34" charset="-120"/>
              </a:rPr>
              <a:t>Core · Models</a:t>
            </a:r>
            <a:endParaRPr lang="en-US" sz="1450" dirty="0"/>
          </a:p>
        </p:txBody>
      </p:sp>
      <p:sp>
        <p:nvSpPr>
          <p:cNvPr id="23" name="Text 21"/>
          <p:cNvSpPr/>
          <p:nvPr/>
        </p:nvSpPr>
        <p:spPr>
          <a:xfrm>
            <a:off x="3931920" y="4507992"/>
            <a:ext cx="3520440" cy="658368"/>
          </a:xfrm>
          <a:prstGeom prst="rect">
            <a:avLst/>
          </a:prstGeom>
          <a:noFill/>
          <a:ln/>
        </p:spPr>
        <p:txBody>
          <a:bodyPr wrap="square" rtlCol="0" anchor="ctr"/>
          <a:lstStyle/>
          <a:p>
            <a:pPr marL="0" indent="0">
              <a:buNone/>
            </a:pPr>
            <a:r>
              <a:rPr lang="en-US" sz="1050" dirty="0">
                <a:solidFill>
                  <a:srgbClr val="5E6B7A"/>
                </a:solidFill>
                <a:latin typeface="Calibri" pitchFamily="34" charset="0"/>
                <a:ea typeface="Calibri" pitchFamily="34" charset="-122"/>
                <a:cs typeface="Calibri" pitchFamily="34" charset="-120"/>
              </a:rPr>
              <a:t>Config · logging · SQLite · threading · tool catalog</a:t>
            </a:r>
            <a:endParaRPr lang="en-US" sz="1050" dirty="0"/>
          </a:p>
        </p:txBody>
      </p:sp>
      <p:sp>
        <p:nvSpPr>
          <p:cNvPr id="24" name="Shape 22"/>
          <p:cNvSpPr/>
          <p:nvPr/>
        </p:nvSpPr>
        <p:spPr>
          <a:xfrm>
            <a:off x="7772400" y="1508760"/>
            <a:ext cx="3931920" cy="4480560"/>
          </a:xfrm>
          <a:prstGeom prst="roundRect">
            <a:avLst>
              <a:gd name="adj" fmla="val 1860"/>
            </a:avLst>
          </a:prstGeom>
          <a:solidFill>
            <a:srgbClr val="F3F6FB"/>
          </a:solidFill>
          <a:ln w="12700">
            <a:solidFill>
              <a:srgbClr val="D9E1EC"/>
            </a:solidFill>
            <a:prstDash val="solid"/>
          </a:ln>
          <a:effectLst>
            <a:outerShdw blurRad="88900" dist="38100" dir="5400000" algn="bl" rotWithShape="0">
              <a:srgbClr val="8494A8">
                <a:alpha val="28000"/>
              </a:srgbClr>
            </a:outerShdw>
          </a:effectLst>
        </p:spPr>
      </p:sp>
      <p:sp>
        <p:nvSpPr>
          <p:cNvPr id="25" name="Text 23"/>
          <p:cNvSpPr/>
          <p:nvPr/>
        </p:nvSpPr>
        <p:spPr>
          <a:xfrm>
            <a:off x="7955280" y="1645920"/>
            <a:ext cx="3566160" cy="365760"/>
          </a:xfrm>
          <a:prstGeom prst="rect">
            <a:avLst/>
          </a:prstGeom>
          <a:noFill/>
          <a:ln/>
        </p:spPr>
        <p:txBody>
          <a:bodyPr wrap="square" rtlCol="0" anchor="ctr"/>
          <a:lstStyle/>
          <a:p>
            <a:pPr marL="0" indent="0">
              <a:buNone/>
            </a:pPr>
            <a:r>
              <a:rPr lang="en-US" sz="1300" b="1" dirty="0">
                <a:solidFill>
                  <a:srgbClr val="1F3A5F"/>
                </a:solidFill>
                <a:latin typeface="Calibri" pitchFamily="34" charset="0"/>
                <a:ea typeface="Calibri" pitchFamily="34" charset="-122"/>
                <a:cs typeface="Calibri" pitchFamily="34" charset="-120"/>
              </a:rPr>
              <a:t>Data &amp; Control Flow</a:t>
            </a:r>
            <a:endParaRPr lang="en-US" sz="1300" dirty="0"/>
          </a:p>
        </p:txBody>
      </p:sp>
      <p:sp>
        <p:nvSpPr>
          <p:cNvPr id="26" name="Shape 24"/>
          <p:cNvSpPr/>
          <p:nvPr/>
        </p:nvSpPr>
        <p:spPr>
          <a:xfrm>
            <a:off x="7955280" y="2103120"/>
            <a:ext cx="3566160" cy="347472"/>
          </a:xfrm>
          <a:prstGeom prst="roundRect">
            <a:avLst>
              <a:gd name="adj" fmla="val 13158"/>
            </a:avLst>
          </a:prstGeom>
          <a:solidFill>
            <a:srgbClr val="FFFFFF"/>
          </a:solidFill>
          <a:ln w="12700">
            <a:solidFill>
              <a:srgbClr val="D9E1EC"/>
            </a:solidFill>
            <a:prstDash val="solid"/>
          </a:ln>
        </p:spPr>
      </p:sp>
      <p:sp>
        <p:nvSpPr>
          <p:cNvPr id="27" name="Text 25"/>
          <p:cNvSpPr/>
          <p:nvPr/>
        </p:nvSpPr>
        <p:spPr>
          <a:xfrm>
            <a:off x="7955280" y="2103120"/>
            <a:ext cx="3566160" cy="347472"/>
          </a:xfrm>
          <a:prstGeom prst="rect">
            <a:avLst/>
          </a:prstGeom>
          <a:noFill/>
          <a:ln/>
        </p:spPr>
        <p:txBody>
          <a:bodyPr wrap="square" rtlCol="0" anchor="ctr"/>
          <a:lstStyle/>
          <a:p>
            <a:pPr marL="0" indent="0" algn="ctr">
              <a:buNone/>
            </a:pPr>
            <a:r>
              <a:rPr lang="en-US" sz="1050" dirty="0">
                <a:solidFill>
                  <a:srgbClr val="1B2430"/>
                </a:solidFill>
                <a:latin typeface="Calibri" pitchFamily="34" charset="0"/>
                <a:ea typeface="Calibri" pitchFamily="34" charset="-122"/>
                <a:cs typeface="Calibri" pitchFamily="34" charset="-120"/>
              </a:rPr>
              <a:t>Goal (natural language)</a:t>
            </a:r>
            <a:endParaRPr lang="en-US" sz="1050" dirty="0"/>
          </a:p>
        </p:txBody>
      </p:sp>
      <p:sp>
        <p:nvSpPr>
          <p:cNvPr id="28" name="Shape 26"/>
          <p:cNvSpPr/>
          <p:nvPr/>
        </p:nvSpPr>
        <p:spPr>
          <a:xfrm>
            <a:off x="7955280" y="2587752"/>
            <a:ext cx="3566160" cy="347472"/>
          </a:xfrm>
          <a:prstGeom prst="roundRect">
            <a:avLst>
              <a:gd name="adj" fmla="val 13158"/>
            </a:avLst>
          </a:prstGeom>
          <a:solidFill>
            <a:srgbClr val="FFFFFF"/>
          </a:solidFill>
          <a:ln w="12700">
            <a:solidFill>
              <a:srgbClr val="D9E1EC"/>
            </a:solidFill>
            <a:prstDash val="solid"/>
          </a:ln>
        </p:spPr>
      </p:sp>
      <p:sp>
        <p:nvSpPr>
          <p:cNvPr id="29" name="Text 27"/>
          <p:cNvSpPr/>
          <p:nvPr/>
        </p:nvSpPr>
        <p:spPr>
          <a:xfrm>
            <a:off x="7955280" y="2587752"/>
            <a:ext cx="3566160" cy="347472"/>
          </a:xfrm>
          <a:prstGeom prst="rect">
            <a:avLst/>
          </a:prstGeom>
          <a:noFill/>
          <a:ln/>
        </p:spPr>
        <p:txBody>
          <a:bodyPr wrap="square" rtlCol="0" anchor="ctr"/>
          <a:lstStyle/>
          <a:p>
            <a:pPr marL="0" indent="0" algn="ctr">
              <a:buNone/>
            </a:pPr>
            <a:r>
              <a:rPr lang="en-US" sz="1050" dirty="0">
                <a:solidFill>
                  <a:srgbClr val="1B2430"/>
                </a:solidFill>
                <a:latin typeface="Calibri" pitchFamily="34" charset="0"/>
                <a:ea typeface="Calibri" pitchFamily="34" charset="-122"/>
                <a:cs typeface="Calibri" pitchFamily="34" charset="-120"/>
              </a:rPr>
              <a:t>Planner builds plan</a:t>
            </a:r>
            <a:endParaRPr lang="en-US" sz="1050" dirty="0"/>
          </a:p>
        </p:txBody>
      </p:sp>
      <p:sp>
        <p:nvSpPr>
          <p:cNvPr id="30" name="Shape 28"/>
          <p:cNvSpPr/>
          <p:nvPr/>
        </p:nvSpPr>
        <p:spPr>
          <a:xfrm>
            <a:off x="7955280" y="3072384"/>
            <a:ext cx="3566160" cy="347472"/>
          </a:xfrm>
          <a:prstGeom prst="roundRect">
            <a:avLst>
              <a:gd name="adj" fmla="val 13158"/>
            </a:avLst>
          </a:prstGeom>
          <a:solidFill>
            <a:srgbClr val="FCEFD6"/>
          </a:solidFill>
          <a:ln w="19050">
            <a:solidFill>
              <a:srgbClr val="C9820A"/>
            </a:solidFill>
            <a:prstDash val="solid"/>
          </a:ln>
        </p:spPr>
      </p:sp>
      <p:sp>
        <p:nvSpPr>
          <p:cNvPr id="31" name="Text 29"/>
          <p:cNvSpPr/>
          <p:nvPr/>
        </p:nvSpPr>
        <p:spPr>
          <a:xfrm>
            <a:off x="7955280" y="3072384"/>
            <a:ext cx="3566160" cy="347472"/>
          </a:xfrm>
          <a:prstGeom prst="rect">
            <a:avLst/>
          </a:prstGeom>
          <a:noFill/>
          <a:ln/>
        </p:spPr>
        <p:txBody>
          <a:bodyPr wrap="square" rtlCol="0" anchor="ctr"/>
          <a:lstStyle/>
          <a:p>
            <a:pPr marL="0" indent="0" algn="ctr">
              <a:buNone/>
            </a:pPr>
            <a:r>
              <a:rPr lang="en-US" sz="1050" b="1" dirty="0">
                <a:solidFill>
                  <a:srgbClr val="C9820A"/>
                </a:solidFill>
                <a:latin typeface="Calibri" pitchFamily="34" charset="0"/>
                <a:ea typeface="Calibri" pitchFamily="34" charset="-122"/>
                <a:cs typeface="Calibri" pitchFamily="34" charset="-120"/>
              </a:rPr>
              <a:t>APPROVAL GATE (human)</a:t>
            </a:r>
            <a:endParaRPr lang="en-US" sz="1050" dirty="0"/>
          </a:p>
        </p:txBody>
      </p:sp>
      <p:sp>
        <p:nvSpPr>
          <p:cNvPr id="32" name="Shape 30"/>
          <p:cNvSpPr/>
          <p:nvPr/>
        </p:nvSpPr>
        <p:spPr>
          <a:xfrm>
            <a:off x="7955280" y="3557016"/>
            <a:ext cx="3566160" cy="347472"/>
          </a:xfrm>
          <a:prstGeom prst="roundRect">
            <a:avLst>
              <a:gd name="adj" fmla="val 13158"/>
            </a:avLst>
          </a:prstGeom>
          <a:solidFill>
            <a:srgbClr val="FFFFFF"/>
          </a:solidFill>
          <a:ln w="12700">
            <a:solidFill>
              <a:srgbClr val="D9E1EC"/>
            </a:solidFill>
            <a:prstDash val="solid"/>
          </a:ln>
        </p:spPr>
      </p:sp>
      <p:sp>
        <p:nvSpPr>
          <p:cNvPr id="33" name="Text 31"/>
          <p:cNvSpPr/>
          <p:nvPr/>
        </p:nvSpPr>
        <p:spPr>
          <a:xfrm>
            <a:off x="7955280" y="3557016"/>
            <a:ext cx="3566160" cy="347472"/>
          </a:xfrm>
          <a:prstGeom prst="rect">
            <a:avLst/>
          </a:prstGeom>
          <a:noFill/>
          <a:ln/>
        </p:spPr>
        <p:txBody>
          <a:bodyPr wrap="square" rtlCol="0" anchor="ctr"/>
          <a:lstStyle/>
          <a:p>
            <a:pPr marL="0" indent="0" algn="ctr">
              <a:buNone/>
            </a:pPr>
            <a:r>
              <a:rPr lang="en-US" sz="1050" dirty="0">
                <a:solidFill>
                  <a:srgbClr val="1B2430"/>
                </a:solidFill>
                <a:latin typeface="Calibri" pitchFamily="34" charset="0"/>
                <a:ea typeface="Calibri" pitchFamily="34" charset="-122"/>
                <a:cs typeface="Calibri" pitchFamily="34" charset="-120"/>
              </a:rPr>
              <a:t>Execution engine</a:t>
            </a:r>
            <a:endParaRPr lang="en-US" sz="1050" dirty="0"/>
          </a:p>
        </p:txBody>
      </p:sp>
      <p:sp>
        <p:nvSpPr>
          <p:cNvPr id="34" name="Shape 32"/>
          <p:cNvSpPr/>
          <p:nvPr/>
        </p:nvSpPr>
        <p:spPr>
          <a:xfrm>
            <a:off x="7955280" y="4041648"/>
            <a:ext cx="3566160" cy="347472"/>
          </a:xfrm>
          <a:prstGeom prst="roundRect">
            <a:avLst>
              <a:gd name="adj" fmla="val 13158"/>
            </a:avLst>
          </a:prstGeom>
          <a:solidFill>
            <a:srgbClr val="FFFFFF"/>
          </a:solidFill>
          <a:ln w="12700">
            <a:solidFill>
              <a:srgbClr val="D9E1EC"/>
            </a:solidFill>
            <a:prstDash val="solid"/>
          </a:ln>
        </p:spPr>
      </p:sp>
      <p:sp>
        <p:nvSpPr>
          <p:cNvPr id="35" name="Text 33"/>
          <p:cNvSpPr/>
          <p:nvPr/>
        </p:nvSpPr>
        <p:spPr>
          <a:xfrm>
            <a:off x="7955280" y="4041648"/>
            <a:ext cx="3566160" cy="347472"/>
          </a:xfrm>
          <a:prstGeom prst="rect">
            <a:avLst/>
          </a:prstGeom>
          <a:noFill/>
          <a:ln/>
        </p:spPr>
        <p:txBody>
          <a:bodyPr wrap="square" rtlCol="0" anchor="ctr"/>
          <a:lstStyle/>
          <a:p>
            <a:pPr marL="0" indent="0" algn="ctr">
              <a:buNone/>
            </a:pPr>
            <a:r>
              <a:rPr lang="en-US" sz="1050" dirty="0">
                <a:solidFill>
                  <a:srgbClr val="1B2430"/>
                </a:solidFill>
                <a:latin typeface="Calibri" pitchFamily="34" charset="0"/>
                <a:ea typeface="Calibri" pitchFamily="34" charset="-122"/>
                <a:cs typeface="Calibri" pitchFamily="34" charset="-120"/>
              </a:rPr>
              <a:t>Kali tools run</a:t>
            </a:r>
            <a:endParaRPr lang="en-US" sz="1050" dirty="0"/>
          </a:p>
        </p:txBody>
      </p:sp>
      <p:sp>
        <p:nvSpPr>
          <p:cNvPr id="36" name="Shape 34"/>
          <p:cNvSpPr/>
          <p:nvPr/>
        </p:nvSpPr>
        <p:spPr>
          <a:xfrm>
            <a:off x="7955280" y="4526280"/>
            <a:ext cx="3566160" cy="347472"/>
          </a:xfrm>
          <a:prstGeom prst="roundRect">
            <a:avLst>
              <a:gd name="adj" fmla="val 13158"/>
            </a:avLst>
          </a:prstGeom>
          <a:solidFill>
            <a:srgbClr val="FFFFFF"/>
          </a:solidFill>
          <a:ln w="12700">
            <a:solidFill>
              <a:srgbClr val="D9E1EC"/>
            </a:solidFill>
            <a:prstDash val="solid"/>
          </a:ln>
        </p:spPr>
      </p:sp>
      <p:sp>
        <p:nvSpPr>
          <p:cNvPr id="37" name="Text 35"/>
          <p:cNvSpPr/>
          <p:nvPr/>
        </p:nvSpPr>
        <p:spPr>
          <a:xfrm>
            <a:off x="7955280" y="4526280"/>
            <a:ext cx="3566160" cy="347472"/>
          </a:xfrm>
          <a:prstGeom prst="rect">
            <a:avLst/>
          </a:prstGeom>
          <a:noFill/>
          <a:ln/>
        </p:spPr>
        <p:txBody>
          <a:bodyPr wrap="square" rtlCol="0" anchor="ctr"/>
          <a:lstStyle/>
          <a:p>
            <a:pPr marL="0" indent="0" algn="ctr">
              <a:buNone/>
            </a:pPr>
            <a:r>
              <a:rPr lang="en-US" sz="1050" dirty="0">
                <a:solidFill>
                  <a:srgbClr val="1B2430"/>
                </a:solidFill>
                <a:latin typeface="Calibri" pitchFamily="34" charset="0"/>
                <a:ea typeface="Calibri" pitchFamily="34" charset="-122"/>
                <a:cs typeface="Calibri" pitchFamily="34" charset="-120"/>
              </a:rPr>
              <a:t>Parsers extract findings</a:t>
            </a:r>
            <a:endParaRPr lang="en-US" sz="1050" dirty="0"/>
          </a:p>
        </p:txBody>
      </p:sp>
      <p:sp>
        <p:nvSpPr>
          <p:cNvPr id="38" name="Shape 36"/>
          <p:cNvSpPr/>
          <p:nvPr/>
        </p:nvSpPr>
        <p:spPr>
          <a:xfrm>
            <a:off x="7955280" y="5010912"/>
            <a:ext cx="3566160" cy="347472"/>
          </a:xfrm>
          <a:prstGeom prst="roundRect">
            <a:avLst>
              <a:gd name="adj" fmla="val 13158"/>
            </a:avLst>
          </a:prstGeom>
          <a:solidFill>
            <a:srgbClr val="FFFFFF"/>
          </a:solidFill>
          <a:ln w="12700">
            <a:solidFill>
              <a:srgbClr val="D9E1EC"/>
            </a:solidFill>
            <a:prstDash val="solid"/>
          </a:ln>
        </p:spPr>
      </p:sp>
      <p:sp>
        <p:nvSpPr>
          <p:cNvPr id="39" name="Text 37"/>
          <p:cNvSpPr/>
          <p:nvPr/>
        </p:nvSpPr>
        <p:spPr>
          <a:xfrm>
            <a:off x="7955280" y="5010912"/>
            <a:ext cx="3566160" cy="347472"/>
          </a:xfrm>
          <a:prstGeom prst="rect">
            <a:avLst/>
          </a:prstGeom>
          <a:noFill/>
          <a:ln/>
        </p:spPr>
        <p:txBody>
          <a:bodyPr wrap="square" rtlCol="0" anchor="ctr"/>
          <a:lstStyle/>
          <a:p>
            <a:pPr marL="0" indent="0" algn="ctr">
              <a:buNone/>
            </a:pPr>
            <a:r>
              <a:rPr lang="en-US" sz="1050" dirty="0">
                <a:solidFill>
                  <a:srgbClr val="1B2430"/>
                </a:solidFill>
                <a:latin typeface="Calibri" pitchFamily="34" charset="0"/>
                <a:ea typeface="Calibri" pitchFamily="34" charset="-122"/>
                <a:cs typeface="Calibri" pitchFamily="34" charset="-120"/>
              </a:rPr>
              <a:t>Project database</a:t>
            </a:r>
            <a:endParaRPr lang="en-US" sz="1050" dirty="0"/>
          </a:p>
        </p:txBody>
      </p:sp>
      <p:sp>
        <p:nvSpPr>
          <p:cNvPr id="40" name="Shape 38"/>
          <p:cNvSpPr/>
          <p:nvPr/>
        </p:nvSpPr>
        <p:spPr>
          <a:xfrm>
            <a:off x="7955280" y="5495544"/>
            <a:ext cx="3566160" cy="347472"/>
          </a:xfrm>
          <a:prstGeom prst="roundRect">
            <a:avLst>
              <a:gd name="adj" fmla="val 13158"/>
            </a:avLst>
          </a:prstGeom>
          <a:solidFill>
            <a:srgbClr val="FFFFFF"/>
          </a:solidFill>
          <a:ln w="12700">
            <a:solidFill>
              <a:srgbClr val="D9E1EC"/>
            </a:solidFill>
            <a:prstDash val="solid"/>
          </a:ln>
        </p:spPr>
      </p:sp>
      <p:sp>
        <p:nvSpPr>
          <p:cNvPr id="41" name="Text 39"/>
          <p:cNvSpPr/>
          <p:nvPr/>
        </p:nvSpPr>
        <p:spPr>
          <a:xfrm>
            <a:off x="7955280" y="5495544"/>
            <a:ext cx="3566160" cy="347472"/>
          </a:xfrm>
          <a:prstGeom prst="rect">
            <a:avLst/>
          </a:prstGeom>
          <a:noFill/>
          <a:ln/>
        </p:spPr>
        <p:txBody>
          <a:bodyPr wrap="square" rtlCol="0" anchor="ctr"/>
          <a:lstStyle/>
          <a:p>
            <a:pPr marL="0" indent="0" algn="ctr">
              <a:buNone/>
            </a:pPr>
            <a:r>
              <a:rPr lang="en-US" sz="1050" dirty="0">
                <a:solidFill>
                  <a:srgbClr val="1B2430"/>
                </a:solidFill>
                <a:latin typeface="Calibri" pitchFamily="34" charset="0"/>
                <a:ea typeface="Calibri" pitchFamily="34" charset="-122"/>
                <a:cs typeface="Calibri" pitchFamily="34" charset="-120"/>
              </a:rPr>
              <a:t>Report</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6446520"/>
            <a:ext cx="9144000" cy="274320"/>
          </a:xfrm>
          <a:prstGeom prst="rect">
            <a:avLst/>
          </a:prstGeom>
          <a:noFill/>
          <a:ln/>
        </p:spPr>
        <p:txBody>
          <a:bodyPr wrap="square" rtlCol="0" anchor="ctr"/>
          <a:lstStyle/>
          <a:p>
            <a:pPr marL="0" indent="0">
              <a:buNone/>
            </a:pPr>
            <a:r>
              <a:rPr lang="en-US" sz="900" b="1" dirty="0">
                <a:solidFill>
                  <a:srgbClr val="5E6B7A"/>
                </a:solidFill>
                <a:latin typeface="Calibri" pitchFamily="34" charset="0"/>
                <a:ea typeface="Calibri" pitchFamily="34" charset="-122"/>
                <a:cs typeface="Calibri" pitchFamily="34" charset="-120"/>
              </a:rPr>
              <a:t>SecurityOps Assistant</a:t>
            </a:r>
            <a:r>
              <a:rPr lang="en-US" sz="900" dirty="0">
                <a:solidFill>
                  <a:srgbClr val="5E6B7A"/>
                </a:solidFill>
                <a:latin typeface="Calibri" pitchFamily="34" charset="0"/>
                <a:ea typeface="Calibri" pitchFamily="34" charset="-122"/>
                <a:cs typeface="Calibri" pitchFamily="34" charset="-120"/>
              </a:rPr>
              <a:t>   |   Project Proposal</a:t>
            </a:r>
            <a:endParaRPr lang="en-US" sz="900" dirty="0"/>
          </a:p>
        </p:txBody>
      </p:sp>
      <p:sp>
        <p:nvSpPr>
          <p:cNvPr id="3" name="Text 1"/>
          <p:cNvSpPr/>
          <p:nvPr/>
        </p:nvSpPr>
        <p:spPr>
          <a:xfrm>
            <a:off x="11338560" y="6446520"/>
            <a:ext cx="365760" cy="274320"/>
          </a:xfrm>
          <a:prstGeom prst="rect">
            <a:avLst/>
          </a:prstGeom>
          <a:noFill/>
          <a:ln/>
        </p:spPr>
        <p:txBody>
          <a:bodyPr wrap="square" rtlCol="0" anchor="ctr"/>
          <a:lstStyle/>
          <a:p>
            <a:pPr marL="0" indent="0" algn="r">
              <a:buNone/>
            </a:pPr>
            <a:r>
              <a:rPr lang="en-US" sz="900" dirty="0">
                <a:solidFill>
                  <a:srgbClr val="5E6B7A"/>
                </a:solidFill>
                <a:latin typeface="Calibri" pitchFamily="34" charset="0"/>
                <a:ea typeface="Calibri" pitchFamily="34" charset="-122"/>
                <a:cs typeface="Calibri" pitchFamily="34" charset="-120"/>
              </a:rPr>
              <a:t>9</a:t>
            </a:r>
            <a:endParaRPr lang="en-US" sz="900" dirty="0"/>
          </a:p>
        </p:txBody>
      </p:sp>
      <p:sp>
        <p:nvSpPr>
          <p:cNvPr id="4" name="Text 2"/>
          <p:cNvSpPr/>
          <p:nvPr/>
        </p:nvSpPr>
        <p:spPr>
          <a:xfrm>
            <a:off x="502920" y="411480"/>
            <a:ext cx="11155680" cy="640080"/>
          </a:xfrm>
          <a:prstGeom prst="rect">
            <a:avLst/>
          </a:prstGeom>
          <a:noFill/>
          <a:ln/>
        </p:spPr>
        <p:txBody>
          <a:bodyPr wrap="square" rtlCol="0" anchor="ctr"/>
          <a:lstStyle/>
          <a:p>
            <a:pPr marL="0" indent="0">
              <a:buNone/>
            </a:pPr>
            <a:r>
              <a:rPr lang="en-US" sz="3200" b="1" dirty="0">
                <a:solidFill>
                  <a:srgbClr val="1F3A5F"/>
                </a:solidFill>
                <a:latin typeface="Cambria" pitchFamily="34" charset="0"/>
                <a:ea typeface="Cambria" pitchFamily="34" charset="-122"/>
                <a:cs typeface="Cambria" pitchFamily="34" charset="-120"/>
              </a:rPr>
              <a:t>Technology Stack</a:t>
            </a:r>
            <a:endParaRPr lang="en-US" sz="3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02920" y="1554480"/>
          <a:ext cx="11201400" cy="4608576"/>
        </p:xfrm>
        <a:graphic>
          <a:graphicData uri="http://schemas.openxmlformats.org/drawingml/2006/table">
            <a:tbl>
              <a:tblPr/>
              <a:tblGrid>
                <a:gridCol w="210312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6355080">
                  <a:extLst>
                    <a:ext uri="{9D8B030D-6E8A-4147-A177-3AD203B41FA5}">
                      <a16:colId xmlns:a16="http://schemas.microsoft.com/office/drawing/2014/main" val="20002"/>
                    </a:ext>
                  </a:extLst>
                </a:gridCol>
              </a:tblGrid>
              <a:tr h="658368">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Layer</a:t>
                      </a:r>
                      <a:endParaRPr lang="en-US" sz="1300" dirty="0">
                        <a:latin typeface="Calibri" charset="0"/>
                        <a:ea typeface="Calibri" charset="0"/>
                        <a:cs typeface="Calibri" charset="0"/>
                      </a:endParaRPr>
                    </a:p>
                  </a:txBody>
                  <a:tcPr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1F3A5F"/>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Technology</a:t>
                      </a:r>
                      <a:endParaRPr lang="en-US" sz="1300" dirty="0">
                        <a:latin typeface="Calibri" charset="0"/>
                        <a:ea typeface="Calibri" charset="0"/>
                        <a:cs typeface="Calibri" charset="0"/>
                      </a:endParaRPr>
                    </a:p>
                  </a:txBody>
                  <a:tcPr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1F3A5F"/>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Why it was chosen</a:t>
                      </a:r>
                      <a:endParaRPr lang="en-US" sz="1300" dirty="0">
                        <a:latin typeface="Calibri" charset="0"/>
                        <a:ea typeface="Calibri" charset="0"/>
                        <a:cs typeface="Calibri" charset="0"/>
                      </a:endParaRPr>
                    </a:p>
                  </a:txBody>
                  <a:tcPr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658368">
                <a:tc>
                  <a:txBody>
                    <a:bodyPr/>
                    <a:lstStyle/>
                    <a:p>
                      <a:pPr marL="0" indent="0">
                        <a:buNone/>
                      </a:pPr>
                      <a:r>
                        <a:rPr lang="en-US" sz="1200" b="1" dirty="0">
                          <a:solidFill>
                            <a:srgbClr val="1B2430"/>
                          </a:solidFill>
                          <a:latin typeface="Calibri" pitchFamily="34" charset="0"/>
                          <a:ea typeface="Calibri" pitchFamily="34" charset="-122"/>
                          <a:cs typeface="Calibri" pitchFamily="34" charset="-120"/>
                        </a:rPr>
                        <a:t>Frontend</a:t>
                      </a:r>
                      <a:endParaRPr lang="en-US" sz="1200" dirty="0">
                        <a:latin typeface="Calibri" charset="0"/>
                        <a:ea typeface="Calibri" charset="0"/>
                        <a:cs typeface="Calibri" charset="0"/>
                      </a:endParaRPr>
                    </a:p>
                  </a:txBody>
                  <a:tcPr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marL="0" indent="0">
                        <a:buNone/>
                      </a:pPr>
                      <a:r>
                        <a:rPr lang="en-US" sz="1200" b="1" dirty="0">
                          <a:solidFill>
                            <a:srgbClr val="1F3A5F"/>
                          </a:solidFill>
                          <a:latin typeface="Calibri" pitchFamily="34" charset="0"/>
                          <a:ea typeface="Calibri" pitchFamily="34" charset="-122"/>
                          <a:cs typeface="Calibri" pitchFamily="34" charset="-120"/>
                        </a:rPr>
                        <a:t>PySide6 (Qt)</a:t>
                      </a:r>
                      <a:endParaRPr lang="en-US" sz="1200" dirty="0">
                        <a:latin typeface="Calibri" charset="0"/>
                        <a:ea typeface="Calibri" charset="0"/>
                        <a:cs typeface="Calibri" charset="0"/>
                      </a:endParaRPr>
                    </a:p>
                  </a:txBody>
                  <a:tcPr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marL="0" indent="0">
                        <a:buNone/>
                      </a:pPr>
                      <a:r>
                        <a:rPr lang="en-US" sz="1200" dirty="0">
                          <a:solidFill>
                            <a:srgbClr val="1B2430"/>
                          </a:solidFill>
                          <a:latin typeface="Calibri" pitchFamily="34" charset="0"/>
                          <a:ea typeface="Calibri" pitchFamily="34" charset="-122"/>
                          <a:cs typeface="Calibri" pitchFamily="34" charset="-120"/>
                        </a:rPr>
                        <a:t>Native, responsive desktop UI with a modern dark theme; mature and cross-platform</a:t>
                      </a:r>
                      <a:endParaRPr lang="en-US" sz="1200" dirty="0">
                        <a:latin typeface="Calibri" charset="0"/>
                        <a:ea typeface="Calibri" charset="0"/>
                        <a:cs typeface="Calibri" charset="0"/>
                      </a:endParaRPr>
                    </a:p>
                  </a:txBody>
                  <a:tcPr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58368">
                <a:tc>
                  <a:txBody>
                    <a:bodyPr/>
                    <a:lstStyle/>
                    <a:p>
                      <a:pPr marL="0" indent="0">
                        <a:buNone/>
                      </a:pPr>
                      <a:r>
                        <a:rPr lang="en-US" sz="1200" b="1" dirty="0">
                          <a:solidFill>
                            <a:srgbClr val="1B2430"/>
                          </a:solidFill>
                          <a:latin typeface="Calibri" pitchFamily="34" charset="0"/>
                          <a:ea typeface="Calibri" pitchFamily="34" charset="-122"/>
                          <a:cs typeface="Calibri" pitchFamily="34" charset="-120"/>
                        </a:rPr>
                        <a:t>Backend</a:t>
                      </a:r>
                      <a:endParaRPr lang="en-US" sz="1200" dirty="0">
                        <a:latin typeface="Calibri" charset="0"/>
                        <a:ea typeface="Calibri" charset="0"/>
                        <a:cs typeface="Calibri" charset="0"/>
                      </a:endParaRPr>
                    </a:p>
                  </a:txBody>
                  <a:tcPr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marL="0" indent="0">
                        <a:buNone/>
                      </a:pPr>
                      <a:r>
                        <a:rPr lang="en-US" sz="1200" b="1" dirty="0">
                          <a:solidFill>
                            <a:srgbClr val="1F3A5F"/>
                          </a:solidFill>
                          <a:latin typeface="Calibri" pitchFamily="34" charset="0"/>
                          <a:ea typeface="Calibri" pitchFamily="34" charset="-122"/>
                          <a:cs typeface="Calibri" pitchFamily="34" charset="-120"/>
                        </a:rPr>
                        <a:t>Python 3.12</a:t>
                      </a:r>
                      <a:endParaRPr lang="en-US" sz="1200" dirty="0">
                        <a:latin typeface="Calibri" charset="0"/>
                        <a:ea typeface="Calibri" charset="0"/>
                        <a:cs typeface="Calibri" charset="0"/>
                      </a:endParaRPr>
                    </a:p>
                  </a:txBody>
                  <a:tcPr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marL="0" indent="0">
                        <a:buNone/>
                      </a:pPr>
                      <a:r>
                        <a:rPr lang="en-US" sz="1200" dirty="0">
                          <a:solidFill>
                            <a:srgbClr val="1B2430"/>
                          </a:solidFill>
                          <a:latin typeface="Calibri" pitchFamily="34" charset="0"/>
                          <a:ea typeface="Calibri" pitchFamily="34" charset="-122"/>
                          <a:cs typeface="Calibri" pitchFamily="34" charset="-120"/>
                        </a:rPr>
                        <a:t>Rich security-tooling ecosystem; fast to develop; strong typing and tooling</a:t>
                      </a:r>
                      <a:endParaRPr lang="en-US" sz="1200" dirty="0">
                        <a:latin typeface="Calibri" charset="0"/>
                        <a:ea typeface="Calibri" charset="0"/>
                        <a:cs typeface="Calibri" charset="0"/>
                      </a:endParaRPr>
                    </a:p>
                  </a:txBody>
                  <a:tcPr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58368">
                <a:tc>
                  <a:txBody>
                    <a:bodyPr/>
                    <a:lstStyle/>
                    <a:p>
                      <a:pPr marL="0" indent="0">
                        <a:buNone/>
                      </a:pPr>
                      <a:r>
                        <a:rPr lang="en-US" sz="1200" b="1" dirty="0">
                          <a:solidFill>
                            <a:srgbClr val="1B2430"/>
                          </a:solidFill>
                          <a:latin typeface="Calibri" pitchFamily="34" charset="0"/>
                          <a:ea typeface="Calibri" pitchFamily="34" charset="-122"/>
                          <a:cs typeface="Calibri" pitchFamily="34" charset="-120"/>
                        </a:rPr>
                        <a:t>Database</a:t>
                      </a:r>
                      <a:endParaRPr lang="en-US" sz="1200" dirty="0">
                        <a:latin typeface="Calibri" charset="0"/>
                        <a:ea typeface="Calibri" charset="0"/>
                        <a:cs typeface="Calibri" charset="0"/>
                      </a:endParaRPr>
                    </a:p>
                  </a:txBody>
                  <a:tcPr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marL="0" indent="0">
                        <a:buNone/>
                      </a:pPr>
                      <a:r>
                        <a:rPr lang="en-US" sz="1200" b="1" dirty="0">
                          <a:solidFill>
                            <a:srgbClr val="1F3A5F"/>
                          </a:solidFill>
                          <a:latin typeface="Calibri" pitchFamily="34" charset="0"/>
                          <a:ea typeface="Calibri" pitchFamily="34" charset="-122"/>
                          <a:cs typeface="Calibri" pitchFamily="34" charset="-120"/>
                        </a:rPr>
                        <a:t>SQLite</a:t>
                      </a:r>
                      <a:endParaRPr lang="en-US" sz="1200" dirty="0">
                        <a:latin typeface="Calibri" charset="0"/>
                        <a:ea typeface="Calibri" charset="0"/>
                        <a:cs typeface="Calibri" charset="0"/>
                      </a:endParaRPr>
                    </a:p>
                  </a:txBody>
                  <a:tcPr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marL="0" indent="0">
                        <a:buNone/>
                      </a:pPr>
                      <a:r>
                        <a:rPr lang="en-US" sz="1200" dirty="0">
                          <a:solidFill>
                            <a:srgbClr val="1B2430"/>
                          </a:solidFill>
                          <a:latin typeface="Calibri" pitchFamily="34" charset="0"/>
                          <a:ea typeface="Calibri" pitchFamily="34" charset="-122"/>
                          <a:cs typeface="Calibri" pitchFamily="34" charset="-120"/>
                        </a:rPr>
                        <a:t>Embedded, zero-configuration, file-based — ideal for a local-first app</a:t>
                      </a:r>
                      <a:endParaRPr lang="en-US" sz="1200" dirty="0">
                        <a:latin typeface="Calibri" charset="0"/>
                        <a:ea typeface="Calibri" charset="0"/>
                        <a:cs typeface="Calibri" charset="0"/>
                      </a:endParaRPr>
                    </a:p>
                  </a:txBody>
                  <a:tcPr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58368">
                <a:tc>
                  <a:txBody>
                    <a:bodyPr/>
                    <a:lstStyle/>
                    <a:p>
                      <a:pPr marL="0" indent="0">
                        <a:buNone/>
                      </a:pPr>
                      <a:r>
                        <a:rPr lang="en-US" sz="1200" b="1" dirty="0">
                          <a:solidFill>
                            <a:srgbClr val="1B2430"/>
                          </a:solidFill>
                          <a:latin typeface="Calibri" pitchFamily="34" charset="0"/>
                          <a:ea typeface="Calibri" pitchFamily="34" charset="-122"/>
                          <a:cs typeface="Calibri" pitchFamily="34" charset="-120"/>
                        </a:rPr>
                        <a:t>AI / ML</a:t>
                      </a:r>
                      <a:endParaRPr lang="en-US" sz="1200" dirty="0">
                        <a:latin typeface="Calibri" charset="0"/>
                        <a:ea typeface="Calibri" charset="0"/>
                        <a:cs typeface="Calibri" charset="0"/>
                      </a:endParaRPr>
                    </a:p>
                  </a:txBody>
                  <a:tcPr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marL="0" indent="0">
                        <a:buNone/>
                      </a:pPr>
                      <a:r>
                        <a:rPr lang="en-US" sz="1200" b="1" dirty="0">
                          <a:solidFill>
                            <a:srgbClr val="1F3A5F"/>
                          </a:solidFill>
                          <a:latin typeface="Calibri" pitchFamily="34" charset="0"/>
                          <a:ea typeface="Calibri" pitchFamily="34" charset="-122"/>
                          <a:cs typeface="Calibri" pitchFamily="34" charset="-120"/>
                        </a:rPr>
                        <a:t>Local LLM via Ollama</a:t>
                      </a:r>
                      <a:endParaRPr lang="en-US" sz="1200" dirty="0">
                        <a:latin typeface="Calibri" charset="0"/>
                        <a:ea typeface="Calibri" charset="0"/>
                        <a:cs typeface="Calibri" charset="0"/>
                      </a:endParaRPr>
                    </a:p>
                  </a:txBody>
                  <a:tcPr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marL="0" indent="0">
                        <a:buNone/>
                      </a:pPr>
                      <a:r>
                        <a:rPr lang="en-US" sz="1200" dirty="0">
                          <a:solidFill>
                            <a:srgbClr val="1B2430"/>
                          </a:solidFill>
                          <a:latin typeface="Calibri" pitchFamily="34" charset="0"/>
                          <a:ea typeface="Calibri" pitchFamily="34" charset="-122"/>
                          <a:cs typeface="Calibri" pitchFamily="34" charset="-120"/>
                        </a:rPr>
                        <a:t>Fluent planning &amp; explanations while keeping all data on the machine</a:t>
                      </a:r>
                      <a:endParaRPr lang="en-US" sz="1200" dirty="0">
                        <a:latin typeface="Calibri" charset="0"/>
                        <a:ea typeface="Calibri" charset="0"/>
                        <a:cs typeface="Calibri" charset="0"/>
                      </a:endParaRPr>
                    </a:p>
                  </a:txBody>
                  <a:tcPr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58368">
                <a:tc>
                  <a:txBody>
                    <a:bodyPr/>
                    <a:lstStyle/>
                    <a:p>
                      <a:pPr marL="0" indent="0">
                        <a:buNone/>
                      </a:pPr>
                      <a:r>
                        <a:rPr lang="en-US" sz="1200" b="1" dirty="0">
                          <a:solidFill>
                            <a:srgbClr val="1B2430"/>
                          </a:solidFill>
                          <a:latin typeface="Calibri" pitchFamily="34" charset="0"/>
                          <a:ea typeface="Calibri" pitchFamily="34" charset="-122"/>
                          <a:cs typeface="Calibri" pitchFamily="34" charset="-120"/>
                        </a:rPr>
                        <a:t>APIs / IPC</a:t>
                      </a:r>
                      <a:endParaRPr lang="en-US" sz="1200" dirty="0">
                        <a:latin typeface="Calibri" charset="0"/>
                        <a:ea typeface="Calibri" charset="0"/>
                        <a:cs typeface="Calibri" charset="0"/>
                      </a:endParaRPr>
                    </a:p>
                  </a:txBody>
                  <a:tcPr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marL="0" indent="0">
                        <a:buNone/>
                      </a:pPr>
                      <a:r>
                        <a:rPr lang="en-US" sz="1200" b="1" dirty="0">
                          <a:solidFill>
                            <a:srgbClr val="1F3A5F"/>
                          </a:solidFill>
                          <a:latin typeface="Calibri" pitchFamily="34" charset="0"/>
                          <a:ea typeface="Calibri" pitchFamily="34" charset="-122"/>
                          <a:cs typeface="Calibri" pitchFamily="34" charset="-120"/>
                        </a:rPr>
                        <a:t>Ollama local REST; Qt QProcess</a:t>
                      </a:r>
                      <a:endParaRPr lang="en-US" sz="1200" dirty="0">
                        <a:latin typeface="Calibri" charset="0"/>
                        <a:ea typeface="Calibri" charset="0"/>
                        <a:cs typeface="Calibri" charset="0"/>
                      </a:endParaRPr>
                    </a:p>
                  </a:txBody>
                  <a:tcPr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marL="0" indent="0">
                        <a:buNone/>
                      </a:pPr>
                      <a:r>
                        <a:rPr lang="en-US" sz="1200" dirty="0">
                          <a:solidFill>
                            <a:srgbClr val="1B2430"/>
                          </a:solidFill>
                          <a:latin typeface="Calibri" pitchFamily="34" charset="0"/>
                          <a:ea typeface="Calibri" pitchFamily="34" charset="-122"/>
                          <a:cs typeface="Calibri" pitchFamily="34" charset="-120"/>
                        </a:rPr>
                        <a:t>Local model calls and safe background execution of external tools</a:t>
                      </a:r>
                      <a:endParaRPr lang="en-US" sz="1200" dirty="0">
                        <a:latin typeface="Calibri" charset="0"/>
                        <a:ea typeface="Calibri" charset="0"/>
                        <a:cs typeface="Calibri" charset="0"/>
                      </a:endParaRPr>
                    </a:p>
                  </a:txBody>
                  <a:tcPr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658368">
                <a:tc>
                  <a:txBody>
                    <a:bodyPr/>
                    <a:lstStyle/>
                    <a:p>
                      <a:pPr marL="0" indent="0">
                        <a:buNone/>
                      </a:pPr>
                      <a:r>
                        <a:rPr lang="en-US" sz="1200" b="1" dirty="0">
                          <a:solidFill>
                            <a:srgbClr val="1B2430"/>
                          </a:solidFill>
                          <a:latin typeface="Calibri" pitchFamily="34" charset="0"/>
                          <a:ea typeface="Calibri" pitchFamily="34" charset="-122"/>
                          <a:cs typeface="Calibri" pitchFamily="34" charset="-120"/>
                        </a:rPr>
                        <a:t>Dev Tools</a:t>
                      </a:r>
                      <a:endParaRPr lang="en-US" sz="1200" dirty="0">
                        <a:latin typeface="Calibri" charset="0"/>
                        <a:ea typeface="Calibri" charset="0"/>
                        <a:cs typeface="Calibri" charset="0"/>
                      </a:endParaRPr>
                    </a:p>
                  </a:txBody>
                  <a:tcPr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marL="0" indent="0">
                        <a:buNone/>
                      </a:pPr>
                      <a:r>
                        <a:rPr lang="en-US" sz="1200" b="1" dirty="0">
                          <a:solidFill>
                            <a:srgbClr val="1F3A5F"/>
                          </a:solidFill>
                          <a:latin typeface="Calibri" pitchFamily="34" charset="0"/>
                          <a:ea typeface="Calibri" pitchFamily="34" charset="-122"/>
                          <a:cs typeface="Calibri" pitchFamily="34" charset="-120"/>
                        </a:rPr>
                        <a:t>pytest, mypy, ruff, Git</a:t>
                      </a:r>
                      <a:endParaRPr lang="en-US" sz="1200" dirty="0">
                        <a:latin typeface="Calibri" charset="0"/>
                        <a:ea typeface="Calibri" charset="0"/>
                        <a:cs typeface="Calibri" charset="0"/>
                      </a:endParaRPr>
                    </a:p>
                  </a:txBody>
                  <a:tcPr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tc>
                  <a:txBody>
                    <a:bodyPr/>
                    <a:lstStyle/>
                    <a:p>
                      <a:pPr marL="0" indent="0">
                        <a:buNone/>
                      </a:pPr>
                      <a:r>
                        <a:rPr lang="en-US" sz="1200" dirty="0">
                          <a:solidFill>
                            <a:srgbClr val="1B2430"/>
                          </a:solidFill>
                          <a:latin typeface="Calibri" pitchFamily="34" charset="0"/>
                          <a:ea typeface="Calibri" pitchFamily="34" charset="-122"/>
                          <a:cs typeface="Calibri" pitchFamily="34" charset="-120"/>
                        </a:rPr>
                        <a:t>Automated testing, type-checking, linting, and version control</a:t>
                      </a:r>
                      <a:endParaRPr lang="en-US" sz="1200" dirty="0">
                        <a:latin typeface="Calibri" charset="0"/>
                        <a:ea typeface="Calibri" charset="0"/>
                        <a:cs typeface="Calibri" charset="0"/>
                      </a:endParaRPr>
                    </a:p>
                  </a:txBody>
                  <a:tcPr anchor="ctr">
                    <a:lnL w="12700" cap="flat" cmpd="sng" algn="ctr">
                      <a:solidFill>
                        <a:srgbClr val="D9E1EC"/>
                      </a:solidFill>
                      <a:prstDash val="solid"/>
                      <a:round/>
                      <a:headEnd type="none" w="med" len="med"/>
                      <a:tailEnd type="none" w="med" len="med"/>
                    </a:lnL>
                    <a:lnR w="12700" cap="flat" cmpd="sng" algn="ctr">
                      <a:solidFill>
                        <a:srgbClr val="D9E1EC"/>
                      </a:solidFill>
                      <a:prstDash val="solid"/>
                      <a:round/>
                      <a:headEnd type="none" w="med" len="med"/>
                      <a:tailEnd type="none" w="med" len="med"/>
                    </a:lnR>
                    <a:lnT w="12700" cap="flat" cmpd="sng" algn="ctr">
                      <a:solidFill>
                        <a:srgbClr val="D9E1EC"/>
                      </a:solidFill>
                      <a:prstDash val="solid"/>
                      <a:round/>
                      <a:headEnd type="none" w="med" len="med"/>
                      <a:tailEnd type="none" w="med" len="med"/>
                    </a:lnT>
                    <a:lnB w="12700" cap="flat" cmpd="sng" algn="ctr">
                      <a:solidFill>
                        <a:srgbClr val="D9E1E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6446520"/>
            <a:ext cx="9144000" cy="274320"/>
          </a:xfrm>
          <a:prstGeom prst="rect">
            <a:avLst/>
          </a:prstGeom>
          <a:noFill/>
          <a:ln/>
        </p:spPr>
        <p:txBody>
          <a:bodyPr wrap="square" rtlCol="0" anchor="ctr"/>
          <a:lstStyle/>
          <a:p>
            <a:pPr marL="0" indent="0">
              <a:buNone/>
            </a:pPr>
            <a:r>
              <a:rPr lang="en-US" sz="900" b="1" dirty="0">
                <a:solidFill>
                  <a:srgbClr val="5E6B7A"/>
                </a:solidFill>
                <a:latin typeface="Calibri" pitchFamily="34" charset="0"/>
                <a:ea typeface="Calibri" pitchFamily="34" charset="-122"/>
                <a:cs typeface="Calibri" pitchFamily="34" charset="-120"/>
              </a:rPr>
              <a:t>SecurityOps Assistant</a:t>
            </a:r>
            <a:r>
              <a:rPr lang="en-US" sz="900" dirty="0">
                <a:solidFill>
                  <a:srgbClr val="5E6B7A"/>
                </a:solidFill>
                <a:latin typeface="Calibri" pitchFamily="34" charset="0"/>
                <a:ea typeface="Calibri" pitchFamily="34" charset="-122"/>
                <a:cs typeface="Calibri" pitchFamily="34" charset="-120"/>
              </a:rPr>
              <a:t>   |   Project Proposal</a:t>
            </a:r>
            <a:endParaRPr lang="en-US" sz="900" dirty="0"/>
          </a:p>
        </p:txBody>
      </p:sp>
      <p:sp>
        <p:nvSpPr>
          <p:cNvPr id="3" name="Text 1"/>
          <p:cNvSpPr/>
          <p:nvPr/>
        </p:nvSpPr>
        <p:spPr>
          <a:xfrm>
            <a:off x="11338560" y="6446520"/>
            <a:ext cx="365760" cy="274320"/>
          </a:xfrm>
          <a:prstGeom prst="rect">
            <a:avLst/>
          </a:prstGeom>
          <a:noFill/>
          <a:ln/>
        </p:spPr>
        <p:txBody>
          <a:bodyPr wrap="square" rtlCol="0" anchor="ctr"/>
          <a:lstStyle/>
          <a:p>
            <a:pPr marL="0" indent="0" algn="r">
              <a:buNone/>
            </a:pPr>
            <a:r>
              <a:rPr lang="en-US" sz="900" dirty="0">
                <a:solidFill>
                  <a:srgbClr val="5E6B7A"/>
                </a:solidFill>
                <a:latin typeface="Calibri" pitchFamily="34" charset="0"/>
                <a:ea typeface="Calibri" pitchFamily="34" charset="-122"/>
                <a:cs typeface="Calibri" pitchFamily="34" charset="-120"/>
              </a:rPr>
              <a:t>10</a:t>
            </a:r>
            <a:endParaRPr lang="en-US" sz="900" dirty="0"/>
          </a:p>
        </p:txBody>
      </p:sp>
      <p:sp>
        <p:nvSpPr>
          <p:cNvPr id="4" name="Text 2"/>
          <p:cNvSpPr/>
          <p:nvPr/>
        </p:nvSpPr>
        <p:spPr>
          <a:xfrm>
            <a:off x="502920" y="411480"/>
            <a:ext cx="11155680" cy="640080"/>
          </a:xfrm>
          <a:prstGeom prst="rect">
            <a:avLst/>
          </a:prstGeom>
          <a:noFill/>
          <a:ln/>
        </p:spPr>
        <p:txBody>
          <a:bodyPr wrap="square" rtlCol="0" anchor="ctr"/>
          <a:lstStyle/>
          <a:p>
            <a:pPr marL="0" indent="0">
              <a:buNone/>
            </a:pPr>
            <a:r>
              <a:rPr lang="en-US" sz="3200" b="1" dirty="0">
                <a:solidFill>
                  <a:srgbClr val="1F3A5F"/>
                </a:solidFill>
                <a:latin typeface="Cambria" pitchFamily="34" charset="0"/>
                <a:ea typeface="Cambria" pitchFamily="34" charset="-122"/>
                <a:cs typeface="Cambria" pitchFamily="34" charset="-120"/>
              </a:rPr>
              <a:t>Development Methodology</a:t>
            </a:r>
            <a:endParaRPr lang="en-US" sz="3200" dirty="0"/>
          </a:p>
        </p:txBody>
      </p:sp>
      <p:sp>
        <p:nvSpPr>
          <p:cNvPr id="5" name="Shape 3"/>
          <p:cNvSpPr/>
          <p:nvPr/>
        </p:nvSpPr>
        <p:spPr>
          <a:xfrm>
            <a:off x="640080" y="2194560"/>
            <a:ext cx="1600200" cy="1188720"/>
          </a:xfrm>
          <a:prstGeom prst="roundRect">
            <a:avLst>
              <a:gd name="adj" fmla="val 6154"/>
            </a:avLst>
          </a:prstGeom>
          <a:solidFill>
            <a:srgbClr val="F3F6FB"/>
          </a:solidFill>
          <a:ln w="12700">
            <a:solidFill>
              <a:srgbClr val="D9E1EC"/>
            </a:solidFill>
            <a:prstDash val="solid"/>
          </a:ln>
          <a:effectLst>
            <a:outerShdw blurRad="88900" dist="38100" dir="5400000" algn="bl" rotWithShape="0">
              <a:srgbClr val="8494A8">
                <a:alpha val="28000"/>
              </a:srgbClr>
            </a:outerShdw>
          </a:effectLst>
        </p:spPr>
      </p:sp>
      <p:sp>
        <p:nvSpPr>
          <p:cNvPr id="6" name="Shape 4"/>
          <p:cNvSpPr/>
          <p:nvPr/>
        </p:nvSpPr>
        <p:spPr>
          <a:xfrm>
            <a:off x="1188720" y="2377440"/>
            <a:ext cx="502920" cy="502920"/>
          </a:xfrm>
          <a:prstGeom prst="ellipse">
            <a:avLst/>
          </a:prstGeom>
          <a:solidFill>
            <a:srgbClr val="2C5282"/>
          </a:solidFill>
          <a:ln/>
        </p:spPr>
      </p:sp>
      <p:sp>
        <p:nvSpPr>
          <p:cNvPr id="7" name="Text 5"/>
          <p:cNvSpPr/>
          <p:nvPr/>
        </p:nvSpPr>
        <p:spPr>
          <a:xfrm>
            <a:off x="1188720" y="2377440"/>
            <a:ext cx="502920" cy="50292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p:nvPr/>
        </p:nvSpPr>
        <p:spPr>
          <a:xfrm>
            <a:off x="640080" y="2880360"/>
            <a:ext cx="1600200" cy="457200"/>
          </a:xfrm>
          <a:prstGeom prst="rect">
            <a:avLst/>
          </a:prstGeom>
          <a:noFill/>
          <a:ln/>
        </p:spPr>
        <p:txBody>
          <a:bodyPr wrap="square" rtlCol="0" anchor="ctr"/>
          <a:lstStyle/>
          <a:p>
            <a:pPr marL="0" indent="0" algn="ctr">
              <a:buNone/>
            </a:pPr>
            <a:r>
              <a:rPr lang="en-US" sz="1300" b="1" dirty="0">
                <a:solidFill>
                  <a:srgbClr val="1F3A5F"/>
                </a:solidFill>
                <a:latin typeface="Calibri" pitchFamily="34" charset="0"/>
                <a:ea typeface="Calibri" pitchFamily="34" charset="-122"/>
                <a:cs typeface="Calibri" pitchFamily="34" charset="-120"/>
              </a:rPr>
              <a:t>Plan</a:t>
            </a:r>
            <a:endParaRPr lang="en-US" sz="1300" dirty="0"/>
          </a:p>
        </p:txBody>
      </p:sp>
      <p:sp>
        <p:nvSpPr>
          <p:cNvPr id="9" name="Text 7"/>
          <p:cNvSpPr/>
          <p:nvPr/>
        </p:nvSpPr>
        <p:spPr>
          <a:xfrm>
            <a:off x="2240280" y="2194560"/>
            <a:ext cx="320040" cy="1188720"/>
          </a:xfrm>
          <a:prstGeom prst="rect">
            <a:avLst/>
          </a:prstGeom>
          <a:noFill/>
          <a:ln/>
        </p:spPr>
        <p:txBody>
          <a:bodyPr wrap="square" rtlCol="0" anchor="ctr"/>
          <a:lstStyle/>
          <a:p>
            <a:pPr marL="0" indent="0" algn="ctr">
              <a:buNone/>
            </a:pPr>
            <a:r>
              <a:rPr lang="en-US" sz="1800" dirty="0">
                <a:solidFill>
                  <a:srgbClr val="2C9CA6"/>
                </a:solidFill>
                <a:latin typeface="Calibri" pitchFamily="34" charset="0"/>
                <a:ea typeface="Calibri" pitchFamily="34" charset="-122"/>
                <a:cs typeface="Calibri" pitchFamily="34" charset="-120"/>
              </a:rPr>
              <a:t>➜</a:t>
            </a:r>
            <a:endParaRPr lang="en-US" sz="1800" dirty="0"/>
          </a:p>
        </p:txBody>
      </p:sp>
      <p:sp>
        <p:nvSpPr>
          <p:cNvPr id="10" name="Shape 8"/>
          <p:cNvSpPr/>
          <p:nvPr/>
        </p:nvSpPr>
        <p:spPr>
          <a:xfrm>
            <a:off x="2560320" y="2194560"/>
            <a:ext cx="1600200" cy="1188720"/>
          </a:xfrm>
          <a:prstGeom prst="roundRect">
            <a:avLst>
              <a:gd name="adj" fmla="val 6154"/>
            </a:avLst>
          </a:prstGeom>
          <a:solidFill>
            <a:srgbClr val="F3F6FB"/>
          </a:solidFill>
          <a:ln w="12700">
            <a:solidFill>
              <a:srgbClr val="D9E1EC"/>
            </a:solidFill>
            <a:prstDash val="solid"/>
          </a:ln>
          <a:effectLst>
            <a:outerShdw blurRad="88900" dist="38100" dir="5400000" algn="bl" rotWithShape="0">
              <a:srgbClr val="8494A8">
                <a:alpha val="28000"/>
              </a:srgbClr>
            </a:outerShdw>
          </a:effectLst>
        </p:spPr>
      </p:sp>
      <p:sp>
        <p:nvSpPr>
          <p:cNvPr id="11" name="Shape 9"/>
          <p:cNvSpPr/>
          <p:nvPr/>
        </p:nvSpPr>
        <p:spPr>
          <a:xfrm>
            <a:off x="3108960" y="2377440"/>
            <a:ext cx="502920" cy="502920"/>
          </a:xfrm>
          <a:prstGeom prst="ellipse">
            <a:avLst/>
          </a:prstGeom>
          <a:solidFill>
            <a:srgbClr val="2C9CA6"/>
          </a:solidFill>
          <a:ln/>
        </p:spPr>
      </p:sp>
      <p:sp>
        <p:nvSpPr>
          <p:cNvPr id="12" name="Text 10"/>
          <p:cNvSpPr/>
          <p:nvPr/>
        </p:nvSpPr>
        <p:spPr>
          <a:xfrm>
            <a:off x="3108960" y="2377440"/>
            <a:ext cx="502920" cy="50292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p:nvPr/>
        </p:nvSpPr>
        <p:spPr>
          <a:xfrm>
            <a:off x="2560320" y="2880360"/>
            <a:ext cx="1600200" cy="457200"/>
          </a:xfrm>
          <a:prstGeom prst="rect">
            <a:avLst/>
          </a:prstGeom>
          <a:noFill/>
          <a:ln/>
        </p:spPr>
        <p:txBody>
          <a:bodyPr wrap="square" rtlCol="0" anchor="ctr"/>
          <a:lstStyle/>
          <a:p>
            <a:pPr marL="0" indent="0" algn="ctr">
              <a:buNone/>
            </a:pPr>
            <a:r>
              <a:rPr lang="en-US" sz="1300" b="1" dirty="0">
                <a:solidFill>
                  <a:srgbClr val="1F3A5F"/>
                </a:solidFill>
                <a:latin typeface="Calibri" pitchFamily="34" charset="0"/>
                <a:ea typeface="Calibri" pitchFamily="34" charset="-122"/>
                <a:cs typeface="Calibri" pitchFamily="34" charset="-120"/>
              </a:rPr>
              <a:t>Design</a:t>
            </a:r>
            <a:endParaRPr lang="en-US" sz="1300" dirty="0"/>
          </a:p>
        </p:txBody>
      </p:sp>
      <p:sp>
        <p:nvSpPr>
          <p:cNvPr id="14" name="Text 12"/>
          <p:cNvSpPr/>
          <p:nvPr/>
        </p:nvSpPr>
        <p:spPr>
          <a:xfrm>
            <a:off x="4160520" y="2194560"/>
            <a:ext cx="320040" cy="1188720"/>
          </a:xfrm>
          <a:prstGeom prst="rect">
            <a:avLst/>
          </a:prstGeom>
          <a:noFill/>
          <a:ln/>
        </p:spPr>
        <p:txBody>
          <a:bodyPr wrap="square" rtlCol="0" anchor="ctr"/>
          <a:lstStyle/>
          <a:p>
            <a:pPr marL="0" indent="0" algn="ctr">
              <a:buNone/>
            </a:pPr>
            <a:r>
              <a:rPr lang="en-US" sz="1800" dirty="0">
                <a:solidFill>
                  <a:srgbClr val="2C9CA6"/>
                </a:solidFill>
                <a:latin typeface="Calibri" pitchFamily="34" charset="0"/>
                <a:ea typeface="Calibri" pitchFamily="34" charset="-122"/>
                <a:cs typeface="Calibri" pitchFamily="34" charset="-120"/>
              </a:rPr>
              <a:t>➜</a:t>
            </a:r>
            <a:endParaRPr lang="en-US" sz="1800" dirty="0"/>
          </a:p>
        </p:txBody>
      </p:sp>
      <p:sp>
        <p:nvSpPr>
          <p:cNvPr id="15" name="Shape 13"/>
          <p:cNvSpPr/>
          <p:nvPr/>
        </p:nvSpPr>
        <p:spPr>
          <a:xfrm>
            <a:off x="4480560" y="2194560"/>
            <a:ext cx="1600200" cy="1188720"/>
          </a:xfrm>
          <a:prstGeom prst="roundRect">
            <a:avLst>
              <a:gd name="adj" fmla="val 6154"/>
            </a:avLst>
          </a:prstGeom>
          <a:solidFill>
            <a:srgbClr val="F3F6FB"/>
          </a:solidFill>
          <a:ln w="12700">
            <a:solidFill>
              <a:srgbClr val="D9E1EC"/>
            </a:solidFill>
            <a:prstDash val="solid"/>
          </a:ln>
          <a:effectLst>
            <a:outerShdw blurRad="88900" dist="38100" dir="5400000" algn="bl" rotWithShape="0">
              <a:srgbClr val="8494A8">
                <a:alpha val="28000"/>
              </a:srgbClr>
            </a:outerShdw>
          </a:effectLst>
        </p:spPr>
      </p:sp>
      <p:sp>
        <p:nvSpPr>
          <p:cNvPr id="16" name="Shape 14"/>
          <p:cNvSpPr/>
          <p:nvPr/>
        </p:nvSpPr>
        <p:spPr>
          <a:xfrm>
            <a:off x="5029200" y="2377440"/>
            <a:ext cx="502920" cy="502920"/>
          </a:xfrm>
          <a:prstGeom prst="ellipse">
            <a:avLst/>
          </a:prstGeom>
          <a:solidFill>
            <a:srgbClr val="2E9E5B"/>
          </a:solidFill>
          <a:ln/>
        </p:spPr>
      </p:sp>
      <p:sp>
        <p:nvSpPr>
          <p:cNvPr id="17" name="Text 15"/>
          <p:cNvSpPr/>
          <p:nvPr/>
        </p:nvSpPr>
        <p:spPr>
          <a:xfrm>
            <a:off x="5029200" y="2377440"/>
            <a:ext cx="502920" cy="50292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8" name="Text 16"/>
          <p:cNvSpPr/>
          <p:nvPr/>
        </p:nvSpPr>
        <p:spPr>
          <a:xfrm>
            <a:off x="4480560" y="2880360"/>
            <a:ext cx="1600200" cy="457200"/>
          </a:xfrm>
          <a:prstGeom prst="rect">
            <a:avLst/>
          </a:prstGeom>
          <a:noFill/>
          <a:ln/>
        </p:spPr>
        <p:txBody>
          <a:bodyPr wrap="square" rtlCol="0" anchor="ctr"/>
          <a:lstStyle/>
          <a:p>
            <a:pPr marL="0" indent="0" algn="ctr">
              <a:buNone/>
            </a:pPr>
            <a:r>
              <a:rPr lang="en-US" sz="1300" b="1" dirty="0">
                <a:solidFill>
                  <a:srgbClr val="1F3A5F"/>
                </a:solidFill>
                <a:latin typeface="Calibri" pitchFamily="34" charset="0"/>
                <a:ea typeface="Calibri" pitchFamily="34" charset="-122"/>
                <a:cs typeface="Calibri" pitchFamily="34" charset="-120"/>
              </a:rPr>
              <a:t>Build Module</a:t>
            </a:r>
            <a:endParaRPr lang="en-US" sz="1300" dirty="0"/>
          </a:p>
        </p:txBody>
      </p:sp>
      <p:sp>
        <p:nvSpPr>
          <p:cNvPr id="19" name="Text 17"/>
          <p:cNvSpPr/>
          <p:nvPr/>
        </p:nvSpPr>
        <p:spPr>
          <a:xfrm>
            <a:off x="6080760" y="2194560"/>
            <a:ext cx="320040" cy="1188720"/>
          </a:xfrm>
          <a:prstGeom prst="rect">
            <a:avLst/>
          </a:prstGeom>
          <a:noFill/>
          <a:ln/>
        </p:spPr>
        <p:txBody>
          <a:bodyPr wrap="square" rtlCol="0" anchor="ctr"/>
          <a:lstStyle/>
          <a:p>
            <a:pPr marL="0" indent="0" algn="ctr">
              <a:buNone/>
            </a:pPr>
            <a:r>
              <a:rPr lang="en-US" sz="1800" dirty="0">
                <a:solidFill>
                  <a:srgbClr val="2C9CA6"/>
                </a:solidFill>
                <a:latin typeface="Calibri" pitchFamily="34" charset="0"/>
                <a:ea typeface="Calibri" pitchFamily="34" charset="-122"/>
                <a:cs typeface="Calibri" pitchFamily="34" charset="-120"/>
              </a:rPr>
              <a:t>➜</a:t>
            </a:r>
            <a:endParaRPr lang="en-US" sz="1800" dirty="0"/>
          </a:p>
        </p:txBody>
      </p:sp>
      <p:sp>
        <p:nvSpPr>
          <p:cNvPr id="20" name="Shape 18"/>
          <p:cNvSpPr/>
          <p:nvPr/>
        </p:nvSpPr>
        <p:spPr>
          <a:xfrm>
            <a:off x="6400800" y="2194560"/>
            <a:ext cx="1600200" cy="1188720"/>
          </a:xfrm>
          <a:prstGeom prst="roundRect">
            <a:avLst>
              <a:gd name="adj" fmla="val 6154"/>
            </a:avLst>
          </a:prstGeom>
          <a:solidFill>
            <a:srgbClr val="F3F6FB"/>
          </a:solidFill>
          <a:ln w="12700">
            <a:solidFill>
              <a:srgbClr val="D9E1EC"/>
            </a:solidFill>
            <a:prstDash val="solid"/>
          </a:ln>
          <a:effectLst>
            <a:outerShdw blurRad="88900" dist="38100" dir="5400000" algn="bl" rotWithShape="0">
              <a:srgbClr val="8494A8">
                <a:alpha val="28000"/>
              </a:srgbClr>
            </a:outerShdw>
          </a:effectLst>
        </p:spPr>
      </p:sp>
      <p:sp>
        <p:nvSpPr>
          <p:cNvPr id="21" name="Shape 19"/>
          <p:cNvSpPr/>
          <p:nvPr/>
        </p:nvSpPr>
        <p:spPr>
          <a:xfrm>
            <a:off x="6949440" y="2377440"/>
            <a:ext cx="502920" cy="502920"/>
          </a:xfrm>
          <a:prstGeom prst="ellipse">
            <a:avLst/>
          </a:prstGeom>
          <a:solidFill>
            <a:srgbClr val="C9820A"/>
          </a:solidFill>
          <a:ln/>
        </p:spPr>
      </p:sp>
      <p:sp>
        <p:nvSpPr>
          <p:cNvPr id="22" name="Text 20"/>
          <p:cNvSpPr/>
          <p:nvPr/>
        </p:nvSpPr>
        <p:spPr>
          <a:xfrm>
            <a:off x="6949440" y="2377440"/>
            <a:ext cx="502920" cy="50292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3" name="Text 21"/>
          <p:cNvSpPr/>
          <p:nvPr/>
        </p:nvSpPr>
        <p:spPr>
          <a:xfrm>
            <a:off x="6400800" y="2880360"/>
            <a:ext cx="1600200" cy="457200"/>
          </a:xfrm>
          <a:prstGeom prst="rect">
            <a:avLst/>
          </a:prstGeom>
          <a:noFill/>
          <a:ln/>
        </p:spPr>
        <p:txBody>
          <a:bodyPr wrap="square" rtlCol="0" anchor="ctr"/>
          <a:lstStyle/>
          <a:p>
            <a:pPr marL="0" indent="0" algn="ctr">
              <a:buNone/>
            </a:pPr>
            <a:r>
              <a:rPr lang="en-US" sz="1300" b="1" dirty="0">
                <a:solidFill>
                  <a:srgbClr val="1F3A5F"/>
                </a:solidFill>
                <a:latin typeface="Calibri" pitchFamily="34" charset="0"/>
                <a:ea typeface="Calibri" pitchFamily="34" charset="-122"/>
                <a:cs typeface="Calibri" pitchFamily="34" charset="-120"/>
              </a:rPr>
              <a:t>Test</a:t>
            </a:r>
            <a:endParaRPr lang="en-US" sz="1300" dirty="0"/>
          </a:p>
        </p:txBody>
      </p:sp>
      <p:sp>
        <p:nvSpPr>
          <p:cNvPr id="24" name="Text 22"/>
          <p:cNvSpPr/>
          <p:nvPr/>
        </p:nvSpPr>
        <p:spPr>
          <a:xfrm>
            <a:off x="8001000" y="2194560"/>
            <a:ext cx="320040" cy="1188720"/>
          </a:xfrm>
          <a:prstGeom prst="rect">
            <a:avLst/>
          </a:prstGeom>
          <a:noFill/>
          <a:ln/>
        </p:spPr>
        <p:txBody>
          <a:bodyPr wrap="square" rtlCol="0" anchor="ctr"/>
          <a:lstStyle/>
          <a:p>
            <a:pPr marL="0" indent="0" algn="ctr">
              <a:buNone/>
            </a:pPr>
            <a:r>
              <a:rPr lang="en-US" sz="1800" dirty="0">
                <a:solidFill>
                  <a:srgbClr val="2C9CA6"/>
                </a:solidFill>
                <a:latin typeface="Calibri" pitchFamily="34" charset="0"/>
                <a:ea typeface="Calibri" pitchFamily="34" charset="-122"/>
                <a:cs typeface="Calibri" pitchFamily="34" charset="-120"/>
              </a:rPr>
              <a:t>➜</a:t>
            </a:r>
            <a:endParaRPr lang="en-US" sz="1800" dirty="0"/>
          </a:p>
        </p:txBody>
      </p:sp>
      <p:sp>
        <p:nvSpPr>
          <p:cNvPr id="25" name="Shape 23"/>
          <p:cNvSpPr/>
          <p:nvPr/>
        </p:nvSpPr>
        <p:spPr>
          <a:xfrm>
            <a:off x="8321040" y="2194560"/>
            <a:ext cx="1600200" cy="1188720"/>
          </a:xfrm>
          <a:prstGeom prst="roundRect">
            <a:avLst>
              <a:gd name="adj" fmla="val 6154"/>
            </a:avLst>
          </a:prstGeom>
          <a:solidFill>
            <a:srgbClr val="F3F6FB"/>
          </a:solidFill>
          <a:ln w="12700">
            <a:solidFill>
              <a:srgbClr val="D9E1EC"/>
            </a:solidFill>
            <a:prstDash val="solid"/>
          </a:ln>
          <a:effectLst>
            <a:outerShdw blurRad="88900" dist="38100" dir="5400000" algn="bl" rotWithShape="0">
              <a:srgbClr val="8494A8">
                <a:alpha val="28000"/>
              </a:srgbClr>
            </a:outerShdw>
          </a:effectLst>
        </p:spPr>
      </p:sp>
      <p:sp>
        <p:nvSpPr>
          <p:cNvPr id="26" name="Shape 24"/>
          <p:cNvSpPr/>
          <p:nvPr/>
        </p:nvSpPr>
        <p:spPr>
          <a:xfrm>
            <a:off x="8869680" y="2377440"/>
            <a:ext cx="502920" cy="502920"/>
          </a:xfrm>
          <a:prstGeom prst="ellipse">
            <a:avLst/>
          </a:prstGeom>
          <a:solidFill>
            <a:srgbClr val="6C5CE7"/>
          </a:solidFill>
          <a:ln/>
        </p:spPr>
      </p:sp>
      <p:sp>
        <p:nvSpPr>
          <p:cNvPr id="27" name="Text 25"/>
          <p:cNvSpPr/>
          <p:nvPr/>
        </p:nvSpPr>
        <p:spPr>
          <a:xfrm>
            <a:off x="8869680" y="2377440"/>
            <a:ext cx="502920" cy="50292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8" name="Text 26"/>
          <p:cNvSpPr/>
          <p:nvPr/>
        </p:nvSpPr>
        <p:spPr>
          <a:xfrm>
            <a:off x="8321040" y="2880360"/>
            <a:ext cx="1600200" cy="457200"/>
          </a:xfrm>
          <a:prstGeom prst="rect">
            <a:avLst/>
          </a:prstGeom>
          <a:noFill/>
          <a:ln/>
        </p:spPr>
        <p:txBody>
          <a:bodyPr wrap="square" rtlCol="0" anchor="ctr"/>
          <a:lstStyle/>
          <a:p>
            <a:pPr marL="0" indent="0" algn="ctr">
              <a:buNone/>
            </a:pPr>
            <a:r>
              <a:rPr lang="en-US" sz="1300" b="1" dirty="0">
                <a:solidFill>
                  <a:srgbClr val="1F3A5F"/>
                </a:solidFill>
                <a:latin typeface="Calibri" pitchFamily="34" charset="0"/>
                <a:ea typeface="Calibri" pitchFamily="34" charset="-122"/>
                <a:cs typeface="Calibri" pitchFamily="34" charset="-120"/>
              </a:rPr>
              <a:t>Integrate</a:t>
            </a:r>
            <a:endParaRPr lang="en-US" sz="1300" dirty="0"/>
          </a:p>
        </p:txBody>
      </p:sp>
      <p:sp>
        <p:nvSpPr>
          <p:cNvPr id="29" name="Text 27"/>
          <p:cNvSpPr/>
          <p:nvPr/>
        </p:nvSpPr>
        <p:spPr>
          <a:xfrm>
            <a:off x="9921240" y="2194560"/>
            <a:ext cx="320040" cy="1188720"/>
          </a:xfrm>
          <a:prstGeom prst="rect">
            <a:avLst/>
          </a:prstGeom>
          <a:noFill/>
          <a:ln/>
        </p:spPr>
        <p:txBody>
          <a:bodyPr wrap="square" rtlCol="0" anchor="ctr"/>
          <a:lstStyle/>
          <a:p>
            <a:pPr marL="0" indent="0" algn="ctr">
              <a:buNone/>
            </a:pPr>
            <a:r>
              <a:rPr lang="en-US" sz="1800" dirty="0">
                <a:solidFill>
                  <a:srgbClr val="2C9CA6"/>
                </a:solidFill>
                <a:latin typeface="Calibri" pitchFamily="34" charset="0"/>
                <a:ea typeface="Calibri" pitchFamily="34" charset="-122"/>
                <a:cs typeface="Calibri" pitchFamily="34" charset="-120"/>
              </a:rPr>
              <a:t>➜</a:t>
            </a:r>
            <a:endParaRPr lang="en-US" sz="1800" dirty="0"/>
          </a:p>
        </p:txBody>
      </p:sp>
      <p:sp>
        <p:nvSpPr>
          <p:cNvPr id="30" name="Shape 28"/>
          <p:cNvSpPr/>
          <p:nvPr/>
        </p:nvSpPr>
        <p:spPr>
          <a:xfrm>
            <a:off x="10241280" y="2194560"/>
            <a:ext cx="1600200" cy="1188720"/>
          </a:xfrm>
          <a:prstGeom prst="roundRect">
            <a:avLst>
              <a:gd name="adj" fmla="val 6154"/>
            </a:avLst>
          </a:prstGeom>
          <a:solidFill>
            <a:srgbClr val="F3F6FB"/>
          </a:solidFill>
          <a:ln w="12700">
            <a:solidFill>
              <a:srgbClr val="D9E1EC"/>
            </a:solidFill>
            <a:prstDash val="solid"/>
          </a:ln>
          <a:effectLst>
            <a:outerShdw blurRad="88900" dist="38100" dir="5400000" algn="bl" rotWithShape="0">
              <a:srgbClr val="8494A8">
                <a:alpha val="28000"/>
              </a:srgbClr>
            </a:outerShdw>
          </a:effectLst>
        </p:spPr>
      </p:sp>
      <p:sp>
        <p:nvSpPr>
          <p:cNvPr id="31" name="Shape 29"/>
          <p:cNvSpPr/>
          <p:nvPr/>
        </p:nvSpPr>
        <p:spPr>
          <a:xfrm>
            <a:off x="10789920" y="2377440"/>
            <a:ext cx="502920" cy="502920"/>
          </a:xfrm>
          <a:prstGeom prst="ellipse">
            <a:avLst/>
          </a:prstGeom>
          <a:solidFill>
            <a:srgbClr val="C0392B"/>
          </a:solidFill>
          <a:ln/>
        </p:spPr>
      </p:sp>
      <p:sp>
        <p:nvSpPr>
          <p:cNvPr id="32" name="Text 30"/>
          <p:cNvSpPr/>
          <p:nvPr/>
        </p:nvSpPr>
        <p:spPr>
          <a:xfrm>
            <a:off x="10789920" y="2377440"/>
            <a:ext cx="502920" cy="50292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3" name="Text 31"/>
          <p:cNvSpPr/>
          <p:nvPr/>
        </p:nvSpPr>
        <p:spPr>
          <a:xfrm>
            <a:off x="10241280" y="2880360"/>
            <a:ext cx="1600200" cy="457200"/>
          </a:xfrm>
          <a:prstGeom prst="rect">
            <a:avLst/>
          </a:prstGeom>
          <a:noFill/>
          <a:ln/>
        </p:spPr>
        <p:txBody>
          <a:bodyPr wrap="square" rtlCol="0" anchor="ctr"/>
          <a:lstStyle/>
          <a:p>
            <a:pPr marL="0" indent="0" algn="ctr">
              <a:buNone/>
            </a:pPr>
            <a:r>
              <a:rPr lang="en-US" sz="1300" b="1" dirty="0">
                <a:solidFill>
                  <a:srgbClr val="1F3A5F"/>
                </a:solidFill>
                <a:latin typeface="Calibri" pitchFamily="34" charset="0"/>
                <a:ea typeface="Calibri" pitchFamily="34" charset="-122"/>
                <a:cs typeface="Calibri" pitchFamily="34" charset="-120"/>
              </a:rPr>
              <a:t>Review</a:t>
            </a:r>
            <a:endParaRPr lang="en-US" sz="1300" dirty="0"/>
          </a:p>
        </p:txBody>
      </p:sp>
      <p:sp>
        <p:nvSpPr>
          <p:cNvPr id="34" name="Text 32"/>
          <p:cNvSpPr/>
          <p:nvPr/>
        </p:nvSpPr>
        <p:spPr>
          <a:xfrm>
            <a:off x="640080" y="3657600"/>
            <a:ext cx="10972800" cy="365760"/>
          </a:xfrm>
          <a:prstGeom prst="rect">
            <a:avLst/>
          </a:prstGeom>
          <a:noFill/>
          <a:ln/>
        </p:spPr>
        <p:txBody>
          <a:bodyPr wrap="square" rtlCol="0" anchor="ctr"/>
          <a:lstStyle/>
          <a:p>
            <a:pPr marL="0" indent="0" algn="ctr">
              <a:buNone/>
            </a:pPr>
            <a:r>
              <a:rPr lang="en-US" sz="1300" i="1" dirty="0">
                <a:solidFill>
                  <a:srgbClr val="5E6B7A"/>
                </a:solidFill>
                <a:latin typeface="Calibri" pitchFamily="34" charset="0"/>
                <a:ea typeface="Calibri" pitchFamily="34" charset="-122"/>
                <a:cs typeface="Calibri" pitchFamily="34" charset="-120"/>
              </a:rPr>
              <a:t>Iterative Agile loop — each module cycles through these stages before integration.</a:t>
            </a:r>
            <a:endParaRPr lang="en-US" sz="1300" dirty="0"/>
          </a:p>
        </p:txBody>
      </p:sp>
      <p:sp>
        <p:nvSpPr>
          <p:cNvPr id="35" name="Shape 33"/>
          <p:cNvSpPr/>
          <p:nvPr/>
        </p:nvSpPr>
        <p:spPr>
          <a:xfrm>
            <a:off x="2286000" y="4297680"/>
            <a:ext cx="7589520" cy="1463040"/>
          </a:xfrm>
          <a:prstGeom prst="roundRect">
            <a:avLst>
              <a:gd name="adj" fmla="val 5000"/>
            </a:avLst>
          </a:prstGeom>
          <a:solidFill>
            <a:srgbClr val="F3F6FB"/>
          </a:solidFill>
          <a:ln w="12700">
            <a:solidFill>
              <a:srgbClr val="D9E1EC"/>
            </a:solidFill>
            <a:prstDash val="solid"/>
          </a:ln>
          <a:effectLst>
            <a:outerShdw blurRad="88900" dist="38100" dir="5400000" algn="bl" rotWithShape="0">
              <a:srgbClr val="8494A8">
                <a:alpha val="28000"/>
              </a:srgbClr>
            </a:outerShdw>
          </a:effectLst>
        </p:spPr>
      </p:sp>
      <p:sp>
        <p:nvSpPr>
          <p:cNvPr id="36" name="Text 34"/>
          <p:cNvSpPr/>
          <p:nvPr/>
        </p:nvSpPr>
        <p:spPr>
          <a:xfrm>
            <a:off x="2468880" y="4434840"/>
            <a:ext cx="7223760" cy="365760"/>
          </a:xfrm>
          <a:prstGeom prst="rect">
            <a:avLst/>
          </a:prstGeom>
          <a:noFill/>
          <a:ln/>
        </p:spPr>
        <p:txBody>
          <a:bodyPr wrap="square" rtlCol="0" anchor="ctr"/>
          <a:lstStyle/>
          <a:p>
            <a:pPr marL="0" indent="0">
              <a:buNone/>
            </a:pPr>
            <a:r>
              <a:rPr lang="en-US" sz="1400" b="1" dirty="0">
                <a:solidFill>
                  <a:srgbClr val="1F3A5F"/>
                </a:solidFill>
                <a:latin typeface="Calibri" pitchFamily="34" charset="0"/>
                <a:ea typeface="Calibri" pitchFamily="34" charset="-122"/>
                <a:cs typeface="Calibri" pitchFamily="34" charset="-120"/>
              </a:rPr>
              <a:t>Testing Strategy</a:t>
            </a:r>
            <a:endParaRPr lang="en-US" sz="1400" dirty="0"/>
          </a:p>
        </p:txBody>
      </p:sp>
      <p:sp>
        <p:nvSpPr>
          <p:cNvPr id="37" name="Text 35"/>
          <p:cNvSpPr/>
          <p:nvPr/>
        </p:nvSpPr>
        <p:spPr>
          <a:xfrm>
            <a:off x="2651760" y="4846320"/>
            <a:ext cx="7040880" cy="914400"/>
          </a:xfrm>
          <a:prstGeom prst="rect">
            <a:avLst/>
          </a:prstGeom>
          <a:noFill/>
          <a:ln/>
        </p:spPr>
        <p:txBody>
          <a:bodyPr wrap="square" rtlCol="0" anchor="t"/>
          <a:lstStyle/>
          <a:p>
            <a:pPr marL="152400" indent="-152400">
              <a:spcAft>
                <a:spcPts val="400"/>
              </a:spcAft>
              <a:buSzPct val="100000"/>
              <a:buChar char="•"/>
            </a:pPr>
            <a:r>
              <a:rPr lang="en-US" sz="1250" dirty="0">
                <a:solidFill>
                  <a:srgbClr val="1B2430"/>
                </a:solidFill>
                <a:latin typeface="Calibri" pitchFamily="34" charset="0"/>
                <a:ea typeface="Calibri" pitchFamily="34" charset="-122"/>
                <a:cs typeface="Calibri" pitchFamily="34" charset="-120"/>
              </a:rPr>
              <a:t>Unit tests with pytest (111 passing) covering all non-UI logic</a:t>
            </a:r>
            <a:endParaRPr lang="en-US" sz="1250" dirty="0"/>
          </a:p>
          <a:p>
            <a:pPr marL="152400" indent="-152400">
              <a:spcAft>
                <a:spcPts val="400"/>
              </a:spcAft>
              <a:buSzPct val="100000"/>
              <a:buChar char="•"/>
            </a:pPr>
            <a:r>
              <a:rPr lang="en-US" sz="1250" dirty="0">
                <a:solidFill>
                  <a:srgbClr val="1B2430"/>
                </a:solidFill>
                <a:latin typeface="Calibri" pitchFamily="34" charset="0"/>
                <a:ea typeface="Calibri" pitchFamily="34" charset="-122"/>
                <a:cs typeface="Calibri" pitchFamily="34" charset="-120"/>
              </a:rPr>
              <a:t>Headless testing of the core (no display server required)</a:t>
            </a:r>
            <a:endParaRPr lang="en-US" sz="1250" dirty="0"/>
          </a:p>
          <a:p>
            <a:pPr marL="152400" indent="-152400">
              <a:spcAft>
                <a:spcPts val="400"/>
              </a:spcAft>
              <a:buSzPct val="100000"/>
              <a:buChar char="•"/>
            </a:pPr>
            <a:r>
              <a:rPr lang="en-US" sz="1250" dirty="0">
                <a:solidFill>
                  <a:srgbClr val="1B2430"/>
                </a:solidFill>
                <a:latin typeface="Calibri" pitchFamily="34" charset="0"/>
                <a:ea typeface="Calibri" pitchFamily="34" charset="-122"/>
                <a:cs typeface="Calibri" pitchFamily="34" charset="-120"/>
              </a:rPr>
              <a:t>Manual verification of the graphical interface</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6446520"/>
            <a:ext cx="9144000" cy="274320"/>
          </a:xfrm>
          <a:prstGeom prst="rect">
            <a:avLst/>
          </a:prstGeom>
          <a:noFill/>
          <a:ln/>
        </p:spPr>
        <p:txBody>
          <a:bodyPr wrap="square" rtlCol="0" anchor="ctr"/>
          <a:lstStyle/>
          <a:p>
            <a:pPr marL="0" indent="0">
              <a:buNone/>
            </a:pPr>
            <a:r>
              <a:rPr lang="en-US" sz="900" b="1" dirty="0">
                <a:solidFill>
                  <a:srgbClr val="5E6B7A"/>
                </a:solidFill>
                <a:latin typeface="Calibri" pitchFamily="34" charset="0"/>
                <a:ea typeface="Calibri" pitchFamily="34" charset="-122"/>
                <a:cs typeface="Calibri" pitchFamily="34" charset="-120"/>
              </a:rPr>
              <a:t>SecurityOps Assistant</a:t>
            </a:r>
            <a:r>
              <a:rPr lang="en-US" sz="900" dirty="0">
                <a:solidFill>
                  <a:srgbClr val="5E6B7A"/>
                </a:solidFill>
                <a:latin typeface="Calibri" pitchFamily="34" charset="0"/>
                <a:ea typeface="Calibri" pitchFamily="34" charset="-122"/>
                <a:cs typeface="Calibri" pitchFamily="34" charset="-120"/>
              </a:rPr>
              <a:t>   |   Project Proposal</a:t>
            </a:r>
            <a:endParaRPr lang="en-US" sz="900" dirty="0"/>
          </a:p>
        </p:txBody>
      </p:sp>
      <p:sp>
        <p:nvSpPr>
          <p:cNvPr id="3" name="Text 1"/>
          <p:cNvSpPr/>
          <p:nvPr/>
        </p:nvSpPr>
        <p:spPr>
          <a:xfrm>
            <a:off x="11338560" y="6446520"/>
            <a:ext cx="365760" cy="274320"/>
          </a:xfrm>
          <a:prstGeom prst="rect">
            <a:avLst/>
          </a:prstGeom>
          <a:noFill/>
          <a:ln/>
        </p:spPr>
        <p:txBody>
          <a:bodyPr wrap="square" rtlCol="0" anchor="ctr"/>
          <a:lstStyle/>
          <a:p>
            <a:pPr marL="0" indent="0" algn="r">
              <a:buNone/>
            </a:pPr>
            <a:r>
              <a:rPr lang="en-US" sz="900" dirty="0">
                <a:solidFill>
                  <a:srgbClr val="5E6B7A"/>
                </a:solidFill>
                <a:latin typeface="Calibri" pitchFamily="34" charset="0"/>
                <a:ea typeface="Calibri" pitchFamily="34" charset="-122"/>
                <a:cs typeface="Calibri" pitchFamily="34" charset="-120"/>
              </a:rPr>
              <a:t>11</a:t>
            </a:r>
            <a:endParaRPr lang="en-US" sz="900" dirty="0"/>
          </a:p>
        </p:txBody>
      </p:sp>
      <p:sp>
        <p:nvSpPr>
          <p:cNvPr id="4" name="Text 2"/>
          <p:cNvSpPr/>
          <p:nvPr/>
        </p:nvSpPr>
        <p:spPr>
          <a:xfrm>
            <a:off x="502920" y="411480"/>
            <a:ext cx="11155680" cy="640080"/>
          </a:xfrm>
          <a:prstGeom prst="rect">
            <a:avLst/>
          </a:prstGeom>
          <a:noFill/>
          <a:ln/>
        </p:spPr>
        <p:txBody>
          <a:bodyPr wrap="square" rtlCol="0" anchor="ctr"/>
          <a:lstStyle/>
          <a:p>
            <a:pPr marL="0" indent="0">
              <a:buNone/>
            </a:pPr>
            <a:r>
              <a:rPr lang="en-US" sz="3200" b="1" dirty="0">
                <a:solidFill>
                  <a:srgbClr val="1F3A5F"/>
                </a:solidFill>
                <a:latin typeface="Cambria" pitchFamily="34" charset="0"/>
                <a:ea typeface="Cambria" pitchFamily="34" charset="-122"/>
                <a:cs typeface="Cambria" pitchFamily="34" charset="-120"/>
              </a:rPr>
              <a:t>Timeline &amp; Milestones</a:t>
            </a:r>
            <a:endParaRPr lang="en-US" sz="3200" dirty="0"/>
          </a:p>
        </p:txBody>
      </p:sp>
      <p:sp>
        <p:nvSpPr>
          <p:cNvPr id="5" name="Text 3"/>
          <p:cNvSpPr/>
          <p:nvPr/>
        </p:nvSpPr>
        <p:spPr>
          <a:xfrm>
            <a:off x="3108960" y="1508760"/>
            <a:ext cx="1062990" cy="320040"/>
          </a:xfrm>
          <a:prstGeom prst="rect">
            <a:avLst/>
          </a:prstGeom>
          <a:noFill/>
          <a:ln/>
        </p:spPr>
        <p:txBody>
          <a:bodyPr wrap="square" rtlCol="0" anchor="ctr"/>
          <a:lstStyle/>
          <a:p>
            <a:pPr marL="0" indent="0" algn="ctr">
              <a:buNone/>
            </a:pPr>
            <a:r>
              <a:rPr lang="en-US" sz="1100" b="1" dirty="0">
                <a:solidFill>
                  <a:srgbClr val="5E6B7A"/>
                </a:solidFill>
                <a:latin typeface="Calibri" pitchFamily="34" charset="0"/>
                <a:ea typeface="Calibri" pitchFamily="34" charset="-122"/>
                <a:cs typeface="Calibri" pitchFamily="34" charset="-120"/>
              </a:rPr>
              <a:t>M1</a:t>
            </a:r>
            <a:endParaRPr lang="en-US" sz="1100" dirty="0"/>
          </a:p>
        </p:txBody>
      </p:sp>
      <p:sp>
        <p:nvSpPr>
          <p:cNvPr id="6" name="Text 4"/>
          <p:cNvSpPr/>
          <p:nvPr/>
        </p:nvSpPr>
        <p:spPr>
          <a:xfrm>
            <a:off x="4171950" y="1508760"/>
            <a:ext cx="1062990" cy="320040"/>
          </a:xfrm>
          <a:prstGeom prst="rect">
            <a:avLst/>
          </a:prstGeom>
          <a:noFill/>
          <a:ln/>
        </p:spPr>
        <p:txBody>
          <a:bodyPr wrap="square" rtlCol="0" anchor="ctr"/>
          <a:lstStyle/>
          <a:p>
            <a:pPr marL="0" indent="0" algn="ctr">
              <a:buNone/>
            </a:pPr>
            <a:r>
              <a:rPr lang="en-US" sz="1100" b="1" dirty="0">
                <a:solidFill>
                  <a:srgbClr val="5E6B7A"/>
                </a:solidFill>
                <a:latin typeface="Calibri" pitchFamily="34" charset="0"/>
                <a:ea typeface="Calibri" pitchFamily="34" charset="-122"/>
                <a:cs typeface="Calibri" pitchFamily="34" charset="-120"/>
              </a:rPr>
              <a:t>M2</a:t>
            </a:r>
            <a:endParaRPr lang="en-US" sz="1100" dirty="0"/>
          </a:p>
        </p:txBody>
      </p:sp>
      <p:sp>
        <p:nvSpPr>
          <p:cNvPr id="7" name="Text 5"/>
          <p:cNvSpPr/>
          <p:nvPr/>
        </p:nvSpPr>
        <p:spPr>
          <a:xfrm>
            <a:off x="5234940" y="1508760"/>
            <a:ext cx="1062990" cy="320040"/>
          </a:xfrm>
          <a:prstGeom prst="rect">
            <a:avLst/>
          </a:prstGeom>
          <a:noFill/>
          <a:ln/>
        </p:spPr>
        <p:txBody>
          <a:bodyPr wrap="square" rtlCol="0" anchor="ctr"/>
          <a:lstStyle/>
          <a:p>
            <a:pPr marL="0" indent="0" algn="ctr">
              <a:buNone/>
            </a:pPr>
            <a:r>
              <a:rPr lang="en-US" sz="1100" b="1" dirty="0">
                <a:solidFill>
                  <a:srgbClr val="5E6B7A"/>
                </a:solidFill>
                <a:latin typeface="Calibri" pitchFamily="34" charset="0"/>
                <a:ea typeface="Calibri" pitchFamily="34" charset="-122"/>
                <a:cs typeface="Calibri" pitchFamily="34" charset="-120"/>
              </a:rPr>
              <a:t>M3</a:t>
            </a:r>
            <a:endParaRPr lang="en-US" sz="1100" dirty="0"/>
          </a:p>
        </p:txBody>
      </p:sp>
      <p:sp>
        <p:nvSpPr>
          <p:cNvPr id="8" name="Text 6"/>
          <p:cNvSpPr/>
          <p:nvPr/>
        </p:nvSpPr>
        <p:spPr>
          <a:xfrm>
            <a:off x="6297930" y="1508760"/>
            <a:ext cx="1062990" cy="320040"/>
          </a:xfrm>
          <a:prstGeom prst="rect">
            <a:avLst/>
          </a:prstGeom>
          <a:noFill/>
          <a:ln/>
        </p:spPr>
        <p:txBody>
          <a:bodyPr wrap="square" rtlCol="0" anchor="ctr"/>
          <a:lstStyle/>
          <a:p>
            <a:pPr marL="0" indent="0" algn="ctr">
              <a:buNone/>
            </a:pPr>
            <a:r>
              <a:rPr lang="en-US" sz="1100" b="1" dirty="0">
                <a:solidFill>
                  <a:srgbClr val="5E6B7A"/>
                </a:solidFill>
                <a:latin typeface="Calibri" pitchFamily="34" charset="0"/>
                <a:ea typeface="Calibri" pitchFamily="34" charset="-122"/>
                <a:cs typeface="Calibri" pitchFamily="34" charset="-120"/>
              </a:rPr>
              <a:t>M4</a:t>
            </a:r>
            <a:endParaRPr lang="en-US" sz="1100" dirty="0"/>
          </a:p>
        </p:txBody>
      </p:sp>
      <p:sp>
        <p:nvSpPr>
          <p:cNvPr id="9" name="Text 7"/>
          <p:cNvSpPr/>
          <p:nvPr/>
        </p:nvSpPr>
        <p:spPr>
          <a:xfrm>
            <a:off x="7360920" y="1508760"/>
            <a:ext cx="1062990" cy="320040"/>
          </a:xfrm>
          <a:prstGeom prst="rect">
            <a:avLst/>
          </a:prstGeom>
          <a:noFill/>
          <a:ln/>
        </p:spPr>
        <p:txBody>
          <a:bodyPr wrap="square" rtlCol="0" anchor="ctr"/>
          <a:lstStyle/>
          <a:p>
            <a:pPr marL="0" indent="0" algn="ctr">
              <a:buNone/>
            </a:pPr>
            <a:r>
              <a:rPr lang="en-US" sz="1100" b="1" dirty="0">
                <a:solidFill>
                  <a:srgbClr val="5E6B7A"/>
                </a:solidFill>
                <a:latin typeface="Calibri" pitchFamily="34" charset="0"/>
                <a:ea typeface="Calibri" pitchFamily="34" charset="-122"/>
                <a:cs typeface="Calibri" pitchFamily="34" charset="-120"/>
              </a:rPr>
              <a:t>M5</a:t>
            </a:r>
            <a:endParaRPr lang="en-US" sz="1100" dirty="0"/>
          </a:p>
        </p:txBody>
      </p:sp>
      <p:sp>
        <p:nvSpPr>
          <p:cNvPr id="10" name="Text 8"/>
          <p:cNvSpPr/>
          <p:nvPr/>
        </p:nvSpPr>
        <p:spPr>
          <a:xfrm>
            <a:off x="8423910" y="1508760"/>
            <a:ext cx="1062990" cy="320040"/>
          </a:xfrm>
          <a:prstGeom prst="rect">
            <a:avLst/>
          </a:prstGeom>
          <a:noFill/>
          <a:ln/>
        </p:spPr>
        <p:txBody>
          <a:bodyPr wrap="square" rtlCol="0" anchor="ctr"/>
          <a:lstStyle/>
          <a:p>
            <a:pPr marL="0" indent="0" algn="ctr">
              <a:buNone/>
            </a:pPr>
            <a:r>
              <a:rPr lang="en-US" sz="1100" b="1" dirty="0">
                <a:solidFill>
                  <a:srgbClr val="5E6B7A"/>
                </a:solidFill>
                <a:latin typeface="Calibri" pitchFamily="34" charset="0"/>
                <a:ea typeface="Calibri" pitchFamily="34" charset="-122"/>
                <a:cs typeface="Calibri" pitchFamily="34" charset="-120"/>
              </a:rPr>
              <a:t>M6</a:t>
            </a:r>
            <a:endParaRPr lang="en-US" sz="1100" dirty="0"/>
          </a:p>
        </p:txBody>
      </p:sp>
      <p:sp>
        <p:nvSpPr>
          <p:cNvPr id="11" name="Text 9"/>
          <p:cNvSpPr/>
          <p:nvPr/>
        </p:nvSpPr>
        <p:spPr>
          <a:xfrm>
            <a:off x="9486900" y="1508760"/>
            <a:ext cx="1062990" cy="320040"/>
          </a:xfrm>
          <a:prstGeom prst="rect">
            <a:avLst/>
          </a:prstGeom>
          <a:noFill/>
          <a:ln/>
        </p:spPr>
        <p:txBody>
          <a:bodyPr wrap="square" rtlCol="0" anchor="ctr"/>
          <a:lstStyle/>
          <a:p>
            <a:pPr marL="0" indent="0" algn="ctr">
              <a:buNone/>
            </a:pPr>
            <a:r>
              <a:rPr lang="en-US" sz="1100" b="1" dirty="0">
                <a:solidFill>
                  <a:srgbClr val="5E6B7A"/>
                </a:solidFill>
                <a:latin typeface="Calibri" pitchFamily="34" charset="0"/>
                <a:ea typeface="Calibri" pitchFamily="34" charset="-122"/>
                <a:cs typeface="Calibri" pitchFamily="34" charset="-120"/>
              </a:rPr>
              <a:t>M7</a:t>
            </a:r>
            <a:endParaRPr lang="en-US" sz="1100" dirty="0"/>
          </a:p>
        </p:txBody>
      </p:sp>
      <p:sp>
        <p:nvSpPr>
          <p:cNvPr id="12" name="Text 10"/>
          <p:cNvSpPr/>
          <p:nvPr/>
        </p:nvSpPr>
        <p:spPr>
          <a:xfrm>
            <a:off x="10549890" y="1508760"/>
            <a:ext cx="1062990" cy="320040"/>
          </a:xfrm>
          <a:prstGeom prst="rect">
            <a:avLst/>
          </a:prstGeom>
          <a:noFill/>
          <a:ln/>
        </p:spPr>
        <p:txBody>
          <a:bodyPr wrap="square" rtlCol="0" anchor="ctr"/>
          <a:lstStyle/>
          <a:p>
            <a:pPr marL="0" indent="0" algn="ctr">
              <a:buNone/>
            </a:pPr>
            <a:r>
              <a:rPr lang="en-US" sz="1100" b="1" dirty="0">
                <a:solidFill>
                  <a:srgbClr val="5E6B7A"/>
                </a:solidFill>
                <a:latin typeface="Calibri" pitchFamily="34" charset="0"/>
                <a:ea typeface="Calibri" pitchFamily="34" charset="-122"/>
                <a:cs typeface="Calibri" pitchFamily="34" charset="-120"/>
              </a:rPr>
              <a:t>M8</a:t>
            </a:r>
            <a:endParaRPr lang="en-US" sz="1100" dirty="0"/>
          </a:p>
        </p:txBody>
      </p:sp>
      <p:sp>
        <p:nvSpPr>
          <p:cNvPr id="13" name="Text 11"/>
          <p:cNvSpPr/>
          <p:nvPr/>
        </p:nvSpPr>
        <p:spPr>
          <a:xfrm>
            <a:off x="502920" y="1874520"/>
            <a:ext cx="2514600" cy="420624"/>
          </a:xfrm>
          <a:prstGeom prst="rect">
            <a:avLst/>
          </a:prstGeom>
          <a:noFill/>
          <a:ln/>
        </p:spPr>
        <p:txBody>
          <a:bodyPr wrap="square" rtlCol="0" anchor="ctr"/>
          <a:lstStyle/>
          <a:p>
            <a:pPr marL="0" indent="0">
              <a:buNone/>
            </a:pPr>
            <a:r>
              <a:rPr lang="en-US" sz="1150" dirty="0">
                <a:solidFill>
                  <a:srgbClr val="1B2430"/>
                </a:solidFill>
                <a:latin typeface="Calibri" pitchFamily="34" charset="0"/>
                <a:ea typeface="Calibri" pitchFamily="34" charset="-122"/>
                <a:cs typeface="Calibri" pitchFamily="34" charset="-120"/>
              </a:rPr>
              <a:t>Proposal &amp; Research</a:t>
            </a:r>
            <a:endParaRPr lang="en-US" sz="1150" dirty="0"/>
          </a:p>
        </p:txBody>
      </p:sp>
      <p:sp>
        <p:nvSpPr>
          <p:cNvPr id="14" name="Shape 12"/>
          <p:cNvSpPr/>
          <p:nvPr/>
        </p:nvSpPr>
        <p:spPr>
          <a:xfrm>
            <a:off x="3108960" y="1947672"/>
            <a:ext cx="8503920" cy="292608"/>
          </a:xfrm>
          <a:prstGeom prst="roundRect">
            <a:avLst>
              <a:gd name="adj" fmla="val 9375"/>
            </a:avLst>
          </a:prstGeom>
          <a:solidFill>
            <a:srgbClr val="F3F6FB"/>
          </a:solidFill>
          <a:ln w="6350">
            <a:solidFill>
              <a:srgbClr val="D9E1EC"/>
            </a:solidFill>
            <a:prstDash val="solid"/>
          </a:ln>
        </p:spPr>
      </p:sp>
      <p:sp>
        <p:nvSpPr>
          <p:cNvPr id="15" name="Shape 13"/>
          <p:cNvSpPr/>
          <p:nvPr/>
        </p:nvSpPr>
        <p:spPr>
          <a:xfrm>
            <a:off x="3108960" y="1947672"/>
            <a:ext cx="1062990" cy="292608"/>
          </a:xfrm>
          <a:prstGeom prst="roundRect">
            <a:avLst>
              <a:gd name="adj" fmla="val 15625"/>
            </a:avLst>
          </a:prstGeom>
          <a:solidFill>
            <a:srgbClr val="2C5282"/>
          </a:solidFill>
          <a:ln/>
        </p:spPr>
      </p:sp>
      <p:sp>
        <p:nvSpPr>
          <p:cNvPr id="16" name="Text 14"/>
          <p:cNvSpPr/>
          <p:nvPr/>
        </p:nvSpPr>
        <p:spPr>
          <a:xfrm>
            <a:off x="502920" y="2386584"/>
            <a:ext cx="2514600" cy="420624"/>
          </a:xfrm>
          <a:prstGeom prst="rect">
            <a:avLst/>
          </a:prstGeom>
          <a:noFill/>
          <a:ln/>
        </p:spPr>
        <p:txBody>
          <a:bodyPr wrap="square" rtlCol="0" anchor="ctr"/>
          <a:lstStyle/>
          <a:p>
            <a:pPr marL="0" indent="0">
              <a:buNone/>
            </a:pPr>
            <a:r>
              <a:rPr lang="en-US" sz="1150" dirty="0">
                <a:solidFill>
                  <a:srgbClr val="1B2430"/>
                </a:solidFill>
                <a:latin typeface="Calibri" pitchFamily="34" charset="0"/>
                <a:ea typeface="Calibri" pitchFamily="34" charset="-122"/>
                <a:cs typeface="Calibri" pitchFamily="34" charset="-120"/>
              </a:rPr>
              <a:t>Core &amp; Database</a:t>
            </a:r>
            <a:endParaRPr lang="en-US" sz="1150" dirty="0"/>
          </a:p>
        </p:txBody>
      </p:sp>
      <p:sp>
        <p:nvSpPr>
          <p:cNvPr id="17" name="Shape 15"/>
          <p:cNvSpPr/>
          <p:nvPr/>
        </p:nvSpPr>
        <p:spPr>
          <a:xfrm>
            <a:off x="3108960" y="2459736"/>
            <a:ext cx="8503920" cy="292608"/>
          </a:xfrm>
          <a:prstGeom prst="roundRect">
            <a:avLst>
              <a:gd name="adj" fmla="val 9375"/>
            </a:avLst>
          </a:prstGeom>
          <a:solidFill>
            <a:srgbClr val="F3F6FB"/>
          </a:solidFill>
          <a:ln w="6350">
            <a:solidFill>
              <a:srgbClr val="D9E1EC"/>
            </a:solidFill>
            <a:prstDash val="solid"/>
          </a:ln>
        </p:spPr>
      </p:sp>
      <p:sp>
        <p:nvSpPr>
          <p:cNvPr id="18" name="Shape 16"/>
          <p:cNvSpPr/>
          <p:nvPr/>
        </p:nvSpPr>
        <p:spPr>
          <a:xfrm>
            <a:off x="4171950" y="2459736"/>
            <a:ext cx="1062990" cy="292608"/>
          </a:xfrm>
          <a:prstGeom prst="roundRect">
            <a:avLst>
              <a:gd name="adj" fmla="val 15625"/>
            </a:avLst>
          </a:prstGeom>
          <a:solidFill>
            <a:srgbClr val="2C9CA6"/>
          </a:solidFill>
          <a:ln/>
        </p:spPr>
      </p:sp>
      <p:sp>
        <p:nvSpPr>
          <p:cNvPr id="19" name="Text 17"/>
          <p:cNvSpPr/>
          <p:nvPr/>
        </p:nvSpPr>
        <p:spPr>
          <a:xfrm>
            <a:off x="502920" y="2898648"/>
            <a:ext cx="2514600" cy="420624"/>
          </a:xfrm>
          <a:prstGeom prst="rect">
            <a:avLst/>
          </a:prstGeom>
          <a:noFill/>
          <a:ln/>
        </p:spPr>
        <p:txBody>
          <a:bodyPr wrap="square" rtlCol="0" anchor="ctr"/>
          <a:lstStyle/>
          <a:p>
            <a:pPr marL="0" indent="0">
              <a:buNone/>
            </a:pPr>
            <a:r>
              <a:rPr lang="en-US" sz="1150" dirty="0">
                <a:solidFill>
                  <a:srgbClr val="1B2430"/>
                </a:solidFill>
                <a:latin typeface="Calibri" pitchFamily="34" charset="0"/>
                <a:ea typeface="Calibri" pitchFamily="34" charset="-122"/>
                <a:cs typeface="Calibri" pitchFamily="34" charset="-120"/>
              </a:rPr>
              <a:t>Workflow Engine + AI</a:t>
            </a:r>
            <a:endParaRPr lang="en-US" sz="1150" dirty="0"/>
          </a:p>
        </p:txBody>
      </p:sp>
      <p:sp>
        <p:nvSpPr>
          <p:cNvPr id="20" name="Shape 18"/>
          <p:cNvSpPr/>
          <p:nvPr/>
        </p:nvSpPr>
        <p:spPr>
          <a:xfrm>
            <a:off x="3108960" y="2971800"/>
            <a:ext cx="8503920" cy="292608"/>
          </a:xfrm>
          <a:prstGeom prst="roundRect">
            <a:avLst>
              <a:gd name="adj" fmla="val 9375"/>
            </a:avLst>
          </a:prstGeom>
          <a:solidFill>
            <a:srgbClr val="F3F6FB"/>
          </a:solidFill>
          <a:ln w="6350">
            <a:solidFill>
              <a:srgbClr val="D9E1EC"/>
            </a:solidFill>
            <a:prstDash val="solid"/>
          </a:ln>
        </p:spPr>
      </p:sp>
      <p:sp>
        <p:nvSpPr>
          <p:cNvPr id="21" name="Shape 19"/>
          <p:cNvSpPr/>
          <p:nvPr/>
        </p:nvSpPr>
        <p:spPr>
          <a:xfrm>
            <a:off x="5234940" y="2971800"/>
            <a:ext cx="2125980" cy="292608"/>
          </a:xfrm>
          <a:prstGeom prst="roundRect">
            <a:avLst>
              <a:gd name="adj" fmla="val 15625"/>
            </a:avLst>
          </a:prstGeom>
          <a:solidFill>
            <a:srgbClr val="2E9E5B"/>
          </a:solidFill>
          <a:ln/>
        </p:spPr>
      </p:sp>
      <p:sp>
        <p:nvSpPr>
          <p:cNvPr id="22" name="Text 20"/>
          <p:cNvSpPr/>
          <p:nvPr/>
        </p:nvSpPr>
        <p:spPr>
          <a:xfrm>
            <a:off x="502920" y="3410712"/>
            <a:ext cx="2514600" cy="420624"/>
          </a:xfrm>
          <a:prstGeom prst="rect">
            <a:avLst/>
          </a:prstGeom>
          <a:noFill/>
          <a:ln/>
        </p:spPr>
        <p:txBody>
          <a:bodyPr wrap="square" rtlCol="0" anchor="ctr"/>
          <a:lstStyle/>
          <a:p>
            <a:pPr marL="0" indent="0">
              <a:buNone/>
            </a:pPr>
            <a:r>
              <a:rPr lang="en-US" sz="1150" dirty="0">
                <a:solidFill>
                  <a:srgbClr val="1B2430"/>
                </a:solidFill>
                <a:latin typeface="Calibri" pitchFamily="34" charset="0"/>
                <a:ea typeface="Calibri" pitchFamily="34" charset="-122"/>
                <a:cs typeface="Calibri" pitchFamily="34" charset="-120"/>
              </a:rPr>
              <a:t>Bug Bounty Module</a:t>
            </a:r>
            <a:endParaRPr lang="en-US" sz="1150" dirty="0"/>
          </a:p>
        </p:txBody>
      </p:sp>
      <p:sp>
        <p:nvSpPr>
          <p:cNvPr id="23" name="Shape 21"/>
          <p:cNvSpPr/>
          <p:nvPr/>
        </p:nvSpPr>
        <p:spPr>
          <a:xfrm>
            <a:off x="3108960" y="3483864"/>
            <a:ext cx="8503920" cy="292608"/>
          </a:xfrm>
          <a:prstGeom prst="roundRect">
            <a:avLst>
              <a:gd name="adj" fmla="val 9375"/>
            </a:avLst>
          </a:prstGeom>
          <a:solidFill>
            <a:srgbClr val="F3F6FB"/>
          </a:solidFill>
          <a:ln w="6350">
            <a:solidFill>
              <a:srgbClr val="D9E1EC"/>
            </a:solidFill>
            <a:prstDash val="solid"/>
          </a:ln>
        </p:spPr>
      </p:sp>
      <p:sp>
        <p:nvSpPr>
          <p:cNvPr id="24" name="Shape 22"/>
          <p:cNvSpPr/>
          <p:nvPr/>
        </p:nvSpPr>
        <p:spPr>
          <a:xfrm>
            <a:off x="7360920" y="3483864"/>
            <a:ext cx="1062990" cy="292608"/>
          </a:xfrm>
          <a:prstGeom prst="roundRect">
            <a:avLst>
              <a:gd name="adj" fmla="val 15625"/>
            </a:avLst>
          </a:prstGeom>
          <a:solidFill>
            <a:srgbClr val="C9820A"/>
          </a:solidFill>
          <a:ln/>
        </p:spPr>
      </p:sp>
      <p:sp>
        <p:nvSpPr>
          <p:cNvPr id="25" name="Text 23"/>
          <p:cNvSpPr/>
          <p:nvPr/>
        </p:nvSpPr>
        <p:spPr>
          <a:xfrm>
            <a:off x="502920" y="3922776"/>
            <a:ext cx="2514600" cy="420624"/>
          </a:xfrm>
          <a:prstGeom prst="rect">
            <a:avLst/>
          </a:prstGeom>
          <a:noFill/>
          <a:ln/>
        </p:spPr>
        <p:txBody>
          <a:bodyPr wrap="square" rtlCol="0" anchor="ctr"/>
          <a:lstStyle/>
          <a:p>
            <a:pPr marL="0" indent="0">
              <a:buNone/>
            </a:pPr>
            <a:r>
              <a:rPr lang="en-US" sz="1150" dirty="0">
                <a:solidFill>
                  <a:srgbClr val="1B2430"/>
                </a:solidFill>
                <a:latin typeface="Calibri" pitchFamily="34" charset="0"/>
                <a:ea typeface="Calibri" pitchFamily="34" charset="-122"/>
                <a:cs typeface="Calibri" pitchFamily="34" charset="-120"/>
              </a:rPr>
              <a:t>Reporting System</a:t>
            </a:r>
            <a:endParaRPr lang="en-US" sz="1150" dirty="0"/>
          </a:p>
        </p:txBody>
      </p:sp>
      <p:sp>
        <p:nvSpPr>
          <p:cNvPr id="26" name="Shape 24"/>
          <p:cNvSpPr/>
          <p:nvPr/>
        </p:nvSpPr>
        <p:spPr>
          <a:xfrm>
            <a:off x="3108960" y="3995928"/>
            <a:ext cx="8503920" cy="292608"/>
          </a:xfrm>
          <a:prstGeom prst="roundRect">
            <a:avLst>
              <a:gd name="adj" fmla="val 9375"/>
            </a:avLst>
          </a:prstGeom>
          <a:solidFill>
            <a:srgbClr val="F3F6FB"/>
          </a:solidFill>
          <a:ln w="6350">
            <a:solidFill>
              <a:srgbClr val="D9E1EC"/>
            </a:solidFill>
            <a:prstDash val="solid"/>
          </a:ln>
        </p:spPr>
      </p:sp>
      <p:sp>
        <p:nvSpPr>
          <p:cNvPr id="27" name="Shape 25"/>
          <p:cNvSpPr/>
          <p:nvPr/>
        </p:nvSpPr>
        <p:spPr>
          <a:xfrm>
            <a:off x="8423910" y="3995928"/>
            <a:ext cx="1062990" cy="292608"/>
          </a:xfrm>
          <a:prstGeom prst="roundRect">
            <a:avLst>
              <a:gd name="adj" fmla="val 15625"/>
            </a:avLst>
          </a:prstGeom>
          <a:solidFill>
            <a:srgbClr val="6C5CE7"/>
          </a:solidFill>
          <a:ln/>
        </p:spPr>
      </p:sp>
      <p:sp>
        <p:nvSpPr>
          <p:cNvPr id="28" name="Text 26"/>
          <p:cNvSpPr/>
          <p:nvPr/>
        </p:nvSpPr>
        <p:spPr>
          <a:xfrm>
            <a:off x="502920" y="4434840"/>
            <a:ext cx="2514600" cy="420624"/>
          </a:xfrm>
          <a:prstGeom prst="rect">
            <a:avLst/>
          </a:prstGeom>
          <a:noFill/>
          <a:ln/>
        </p:spPr>
        <p:txBody>
          <a:bodyPr wrap="square" rtlCol="0" anchor="ctr"/>
          <a:lstStyle/>
          <a:p>
            <a:pPr marL="0" indent="0">
              <a:buNone/>
            </a:pPr>
            <a:r>
              <a:rPr lang="en-US" sz="1150" dirty="0">
                <a:solidFill>
                  <a:srgbClr val="1B2430"/>
                </a:solidFill>
                <a:latin typeface="Calibri" pitchFamily="34" charset="0"/>
                <a:ea typeface="Calibri" pitchFamily="34" charset="-122"/>
                <a:cs typeface="Calibri" pitchFamily="34" charset="-120"/>
              </a:rPr>
              <a:t>Testing &amp; Hardening</a:t>
            </a:r>
            <a:endParaRPr lang="en-US" sz="1150" dirty="0"/>
          </a:p>
        </p:txBody>
      </p:sp>
      <p:sp>
        <p:nvSpPr>
          <p:cNvPr id="29" name="Shape 27"/>
          <p:cNvSpPr/>
          <p:nvPr/>
        </p:nvSpPr>
        <p:spPr>
          <a:xfrm>
            <a:off x="3108960" y="4507992"/>
            <a:ext cx="8503920" cy="292608"/>
          </a:xfrm>
          <a:prstGeom prst="roundRect">
            <a:avLst>
              <a:gd name="adj" fmla="val 9375"/>
            </a:avLst>
          </a:prstGeom>
          <a:solidFill>
            <a:srgbClr val="F3F6FB"/>
          </a:solidFill>
          <a:ln w="6350">
            <a:solidFill>
              <a:srgbClr val="D9E1EC"/>
            </a:solidFill>
            <a:prstDash val="solid"/>
          </a:ln>
        </p:spPr>
      </p:sp>
      <p:sp>
        <p:nvSpPr>
          <p:cNvPr id="30" name="Shape 28"/>
          <p:cNvSpPr/>
          <p:nvPr/>
        </p:nvSpPr>
        <p:spPr>
          <a:xfrm>
            <a:off x="8423910" y="4507992"/>
            <a:ext cx="2125980" cy="292608"/>
          </a:xfrm>
          <a:prstGeom prst="roundRect">
            <a:avLst>
              <a:gd name="adj" fmla="val 15625"/>
            </a:avLst>
          </a:prstGeom>
          <a:solidFill>
            <a:srgbClr val="C0392B"/>
          </a:solidFill>
          <a:ln/>
        </p:spPr>
      </p:sp>
      <p:sp>
        <p:nvSpPr>
          <p:cNvPr id="31" name="Text 29"/>
          <p:cNvSpPr/>
          <p:nvPr/>
        </p:nvSpPr>
        <p:spPr>
          <a:xfrm>
            <a:off x="502920" y="4946904"/>
            <a:ext cx="2514600" cy="420624"/>
          </a:xfrm>
          <a:prstGeom prst="rect">
            <a:avLst/>
          </a:prstGeom>
          <a:noFill/>
          <a:ln/>
        </p:spPr>
        <p:txBody>
          <a:bodyPr wrap="square" rtlCol="0" anchor="ctr"/>
          <a:lstStyle/>
          <a:p>
            <a:pPr marL="0" indent="0">
              <a:buNone/>
            </a:pPr>
            <a:r>
              <a:rPr lang="en-US" sz="1150" dirty="0">
                <a:solidFill>
                  <a:srgbClr val="1B2430"/>
                </a:solidFill>
                <a:latin typeface="Calibri" pitchFamily="34" charset="0"/>
                <a:ea typeface="Calibri" pitchFamily="34" charset="-122"/>
                <a:cs typeface="Calibri" pitchFamily="34" charset="-120"/>
              </a:rPr>
              <a:t>Documentation &amp; Viva</a:t>
            </a:r>
            <a:endParaRPr lang="en-US" sz="1150" dirty="0"/>
          </a:p>
        </p:txBody>
      </p:sp>
      <p:sp>
        <p:nvSpPr>
          <p:cNvPr id="32" name="Shape 30"/>
          <p:cNvSpPr/>
          <p:nvPr/>
        </p:nvSpPr>
        <p:spPr>
          <a:xfrm>
            <a:off x="3108960" y="5020056"/>
            <a:ext cx="8503920" cy="292608"/>
          </a:xfrm>
          <a:prstGeom prst="roundRect">
            <a:avLst>
              <a:gd name="adj" fmla="val 9375"/>
            </a:avLst>
          </a:prstGeom>
          <a:solidFill>
            <a:srgbClr val="F3F6FB"/>
          </a:solidFill>
          <a:ln w="6350">
            <a:solidFill>
              <a:srgbClr val="D9E1EC"/>
            </a:solidFill>
            <a:prstDash val="solid"/>
          </a:ln>
        </p:spPr>
      </p:sp>
      <p:sp>
        <p:nvSpPr>
          <p:cNvPr id="33" name="Shape 31"/>
          <p:cNvSpPr/>
          <p:nvPr/>
        </p:nvSpPr>
        <p:spPr>
          <a:xfrm>
            <a:off x="10549890" y="5020056"/>
            <a:ext cx="1062990" cy="292608"/>
          </a:xfrm>
          <a:prstGeom prst="roundRect">
            <a:avLst>
              <a:gd name="adj" fmla="val 15625"/>
            </a:avLst>
          </a:prstGeom>
          <a:solidFill>
            <a:srgbClr val="2C5282"/>
          </a:solidFill>
          <a:ln/>
        </p:spPr>
      </p:sp>
      <p:sp>
        <p:nvSpPr>
          <p:cNvPr id="34" name="Text 32"/>
          <p:cNvSpPr/>
          <p:nvPr/>
        </p:nvSpPr>
        <p:spPr>
          <a:xfrm>
            <a:off x="502920" y="5687568"/>
            <a:ext cx="11201400" cy="548640"/>
          </a:xfrm>
          <a:prstGeom prst="rect">
            <a:avLst/>
          </a:prstGeom>
          <a:noFill/>
          <a:ln/>
        </p:spPr>
        <p:txBody>
          <a:bodyPr wrap="square" rtlCol="0" anchor="ctr"/>
          <a:lstStyle/>
          <a:p>
            <a:pPr marL="0" indent="0">
              <a:buNone/>
            </a:pPr>
            <a:r>
              <a:rPr lang="en-US" sz="1150" i="1" dirty="0">
                <a:solidFill>
                  <a:srgbClr val="1F3A5F"/>
                </a:solidFill>
                <a:latin typeface="Calibri" pitchFamily="34" charset="0"/>
                <a:ea typeface="Calibri" pitchFamily="34" charset="-122"/>
                <a:cs typeface="Calibri" pitchFamily="34" charset="-120"/>
              </a:rPr>
              <a:t>◆ Milestones: Proposal approved · Core working · AI workflow · Bug bounty integrated · Reporting complete · Final submission</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6446520"/>
            <a:ext cx="9144000" cy="274320"/>
          </a:xfrm>
          <a:prstGeom prst="rect">
            <a:avLst/>
          </a:prstGeom>
          <a:noFill/>
          <a:ln/>
        </p:spPr>
        <p:txBody>
          <a:bodyPr wrap="square" rtlCol="0" anchor="ctr"/>
          <a:lstStyle/>
          <a:p>
            <a:pPr marL="0" indent="0">
              <a:buNone/>
            </a:pPr>
            <a:r>
              <a:rPr lang="en-US" sz="900" b="1" dirty="0">
                <a:solidFill>
                  <a:srgbClr val="5E6B7A"/>
                </a:solidFill>
                <a:latin typeface="Calibri" pitchFamily="34" charset="0"/>
                <a:ea typeface="Calibri" pitchFamily="34" charset="-122"/>
                <a:cs typeface="Calibri" pitchFamily="34" charset="-120"/>
              </a:rPr>
              <a:t>SecurityOps Assistant</a:t>
            </a:r>
            <a:r>
              <a:rPr lang="en-US" sz="900" dirty="0">
                <a:solidFill>
                  <a:srgbClr val="5E6B7A"/>
                </a:solidFill>
                <a:latin typeface="Calibri" pitchFamily="34" charset="0"/>
                <a:ea typeface="Calibri" pitchFamily="34" charset="-122"/>
                <a:cs typeface="Calibri" pitchFamily="34" charset="-120"/>
              </a:rPr>
              <a:t>   |   Project Proposal</a:t>
            </a:r>
            <a:endParaRPr lang="en-US" sz="900" dirty="0"/>
          </a:p>
        </p:txBody>
      </p:sp>
      <p:sp>
        <p:nvSpPr>
          <p:cNvPr id="3" name="Text 1"/>
          <p:cNvSpPr/>
          <p:nvPr/>
        </p:nvSpPr>
        <p:spPr>
          <a:xfrm>
            <a:off x="11338560" y="6446520"/>
            <a:ext cx="365760" cy="274320"/>
          </a:xfrm>
          <a:prstGeom prst="rect">
            <a:avLst/>
          </a:prstGeom>
          <a:noFill/>
          <a:ln/>
        </p:spPr>
        <p:txBody>
          <a:bodyPr wrap="square" rtlCol="0" anchor="ctr"/>
          <a:lstStyle/>
          <a:p>
            <a:pPr marL="0" indent="0" algn="r">
              <a:buNone/>
            </a:pPr>
            <a:r>
              <a:rPr lang="en-US" sz="900" dirty="0">
                <a:solidFill>
                  <a:srgbClr val="5E6B7A"/>
                </a:solidFill>
                <a:latin typeface="Calibri" pitchFamily="34" charset="0"/>
                <a:ea typeface="Calibri" pitchFamily="34" charset="-122"/>
                <a:cs typeface="Calibri" pitchFamily="34" charset="-120"/>
              </a:rPr>
              <a:t>12</a:t>
            </a:r>
            <a:endParaRPr lang="en-US" sz="900" dirty="0"/>
          </a:p>
        </p:txBody>
      </p:sp>
      <p:sp>
        <p:nvSpPr>
          <p:cNvPr id="4" name="Text 2"/>
          <p:cNvSpPr/>
          <p:nvPr/>
        </p:nvSpPr>
        <p:spPr>
          <a:xfrm>
            <a:off x="502920" y="411480"/>
            <a:ext cx="11155680" cy="640080"/>
          </a:xfrm>
          <a:prstGeom prst="rect">
            <a:avLst/>
          </a:prstGeom>
          <a:noFill/>
          <a:ln/>
        </p:spPr>
        <p:txBody>
          <a:bodyPr wrap="square" rtlCol="0" anchor="ctr"/>
          <a:lstStyle/>
          <a:p>
            <a:pPr marL="0" indent="0">
              <a:buNone/>
            </a:pPr>
            <a:r>
              <a:rPr lang="en-US" sz="3200" b="1" dirty="0">
                <a:solidFill>
                  <a:srgbClr val="1F3A5F"/>
                </a:solidFill>
                <a:latin typeface="Cambria" pitchFamily="34" charset="0"/>
                <a:ea typeface="Cambria" pitchFamily="34" charset="-122"/>
                <a:cs typeface="Cambria" pitchFamily="34" charset="-120"/>
              </a:rPr>
              <a:t>Functional Requirements</a:t>
            </a:r>
            <a:endParaRPr lang="en-US" sz="3200" dirty="0"/>
          </a:p>
        </p:txBody>
      </p:sp>
      <p:sp>
        <p:nvSpPr>
          <p:cNvPr id="5" name="Shape 3"/>
          <p:cNvSpPr/>
          <p:nvPr/>
        </p:nvSpPr>
        <p:spPr>
          <a:xfrm>
            <a:off x="502920" y="1600200"/>
            <a:ext cx="11201400" cy="437769"/>
          </a:xfrm>
          <a:prstGeom prst="roundRect">
            <a:avLst>
              <a:gd name="adj" fmla="val 16710"/>
            </a:avLst>
          </a:prstGeom>
          <a:solidFill>
            <a:srgbClr val="F3F6FB"/>
          </a:solidFill>
          <a:ln w="12700">
            <a:solidFill>
              <a:srgbClr val="D9E1EC"/>
            </a:solidFill>
            <a:prstDash val="solid"/>
          </a:ln>
          <a:effectLst>
            <a:outerShdw blurRad="88900" dist="38100" dir="5400000" algn="bl" rotWithShape="0">
              <a:srgbClr val="8494A8">
                <a:alpha val="28000"/>
              </a:srgbClr>
            </a:outerShdw>
          </a:effectLst>
        </p:spPr>
      </p:sp>
      <p:sp>
        <p:nvSpPr>
          <p:cNvPr id="6" name="Shape 4"/>
          <p:cNvSpPr/>
          <p:nvPr/>
        </p:nvSpPr>
        <p:spPr>
          <a:xfrm>
            <a:off x="731520" y="1590485"/>
            <a:ext cx="457200" cy="457200"/>
          </a:xfrm>
          <a:prstGeom prst="ellipse">
            <a:avLst/>
          </a:prstGeom>
          <a:solidFill>
            <a:srgbClr val="2C5282"/>
          </a:solidFill>
          <a:ln/>
        </p:spPr>
      </p:sp>
      <p:sp>
        <p:nvSpPr>
          <p:cNvPr id="7" name="Text 5"/>
          <p:cNvSpPr/>
          <p:nvPr/>
        </p:nvSpPr>
        <p:spPr>
          <a:xfrm>
            <a:off x="731520" y="1590485"/>
            <a:ext cx="45720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p:nvPr/>
        </p:nvSpPr>
        <p:spPr>
          <a:xfrm>
            <a:off x="1417320" y="1600200"/>
            <a:ext cx="10058400" cy="437769"/>
          </a:xfrm>
          <a:prstGeom prst="rect">
            <a:avLst/>
          </a:prstGeom>
          <a:noFill/>
          <a:ln/>
        </p:spPr>
        <p:txBody>
          <a:bodyPr wrap="square" rtlCol="0" anchor="ctr"/>
          <a:lstStyle/>
          <a:p>
            <a:pPr marL="0" indent="0">
              <a:buNone/>
            </a:pPr>
            <a:r>
              <a:rPr lang="en-US" sz="1500" dirty="0">
                <a:solidFill>
                  <a:srgbClr val="1B2430"/>
                </a:solidFill>
                <a:latin typeface="Calibri" pitchFamily="34" charset="0"/>
                <a:ea typeface="Calibri" pitchFamily="34" charset="-122"/>
                <a:cs typeface="Calibri" pitchFamily="34" charset="-120"/>
              </a:rPr>
              <a:t>Accept natural-language objectives and build assessment plans</a:t>
            </a:r>
            <a:endParaRPr lang="en-US" sz="1500" dirty="0"/>
          </a:p>
        </p:txBody>
      </p:sp>
      <p:sp>
        <p:nvSpPr>
          <p:cNvPr id="9" name="Shape 7"/>
          <p:cNvSpPr/>
          <p:nvPr/>
        </p:nvSpPr>
        <p:spPr>
          <a:xfrm>
            <a:off x="502920" y="2184273"/>
            <a:ext cx="11201400" cy="437769"/>
          </a:xfrm>
          <a:prstGeom prst="roundRect">
            <a:avLst>
              <a:gd name="adj" fmla="val 16710"/>
            </a:avLst>
          </a:prstGeom>
          <a:solidFill>
            <a:srgbClr val="F3F6FB"/>
          </a:solidFill>
          <a:ln w="12700">
            <a:solidFill>
              <a:srgbClr val="D9E1EC"/>
            </a:solidFill>
            <a:prstDash val="solid"/>
          </a:ln>
          <a:effectLst>
            <a:outerShdw blurRad="88900" dist="38100" dir="5400000" algn="bl" rotWithShape="0">
              <a:srgbClr val="8494A8">
                <a:alpha val="28000"/>
              </a:srgbClr>
            </a:outerShdw>
          </a:effectLst>
        </p:spPr>
      </p:sp>
      <p:sp>
        <p:nvSpPr>
          <p:cNvPr id="10" name="Shape 8"/>
          <p:cNvSpPr/>
          <p:nvPr/>
        </p:nvSpPr>
        <p:spPr>
          <a:xfrm>
            <a:off x="731520" y="2174558"/>
            <a:ext cx="457200" cy="457200"/>
          </a:xfrm>
          <a:prstGeom prst="ellipse">
            <a:avLst/>
          </a:prstGeom>
          <a:solidFill>
            <a:srgbClr val="2C9CA6"/>
          </a:solidFill>
          <a:ln/>
        </p:spPr>
      </p:sp>
      <p:sp>
        <p:nvSpPr>
          <p:cNvPr id="11" name="Text 9"/>
          <p:cNvSpPr/>
          <p:nvPr/>
        </p:nvSpPr>
        <p:spPr>
          <a:xfrm>
            <a:off x="731520" y="2174558"/>
            <a:ext cx="45720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1417320" y="2184273"/>
            <a:ext cx="10058400" cy="437769"/>
          </a:xfrm>
          <a:prstGeom prst="rect">
            <a:avLst/>
          </a:prstGeom>
          <a:noFill/>
          <a:ln/>
        </p:spPr>
        <p:txBody>
          <a:bodyPr wrap="square" rtlCol="0" anchor="ctr"/>
          <a:lstStyle/>
          <a:p>
            <a:pPr marL="0" indent="0">
              <a:buNone/>
            </a:pPr>
            <a:r>
              <a:rPr lang="en-US" sz="1500" dirty="0">
                <a:solidFill>
                  <a:srgbClr val="1B2430"/>
                </a:solidFill>
                <a:latin typeface="Calibri" pitchFamily="34" charset="0"/>
                <a:ea typeface="Calibri" pitchFamily="34" charset="-122"/>
                <a:cs typeface="Calibri" pitchFamily="34" charset="-120"/>
              </a:rPr>
              <a:t>Import and validate engagement scope (in-scope / out-of-scope)</a:t>
            </a:r>
            <a:endParaRPr lang="en-US" sz="1500" dirty="0"/>
          </a:p>
        </p:txBody>
      </p:sp>
      <p:sp>
        <p:nvSpPr>
          <p:cNvPr id="13" name="Shape 11"/>
          <p:cNvSpPr/>
          <p:nvPr/>
        </p:nvSpPr>
        <p:spPr>
          <a:xfrm>
            <a:off x="502920" y="2768346"/>
            <a:ext cx="11201400" cy="437769"/>
          </a:xfrm>
          <a:prstGeom prst="roundRect">
            <a:avLst>
              <a:gd name="adj" fmla="val 16710"/>
            </a:avLst>
          </a:prstGeom>
          <a:solidFill>
            <a:srgbClr val="F3F6FB"/>
          </a:solidFill>
          <a:ln w="12700">
            <a:solidFill>
              <a:srgbClr val="D9E1EC"/>
            </a:solidFill>
            <a:prstDash val="solid"/>
          </a:ln>
          <a:effectLst>
            <a:outerShdw blurRad="88900" dist="38100" dir="5400000" algn="bl" rotWithShape="0">
              <a:srgbClr val="8494A8">
                <a:alpha val="28000"/>
              </a:srgbClr>
            </a:outerShdw>
          </a:effectLst>
        </p:spPr>
      </p:sp>
      <p:sp>
        <p:nvSpPr>
          <p:cNvPr id="14" name="Shape 12"/>
          <p:cNvSpPr/>
          <p:nvPr/>
        </p:nvSpPr>
        <p:spPr>
          <a:xfrm>
            <a:off x="731520" y="2758631"/>
            <a:ext cx="457200" cy="457200"/>
          </a:xfrm>
          <a:prstGeom prst="ellipse">
            <a:avLst/>
          </a:prstGeom>
          <a:solidFill>
            <a:srgbClr val="2E9E5B"/>
          </a:solidFill>
          <a:ln/>
        </p:spPr>
      </p:sp>
      <p:sp>
        <p:nvSpPr>
          <p:cNvPr id="15" name="Text 13"/>
          <p:cNvSpPr/>
          <p:nvPr/>
        </p:nvSpPr>
        <p:spPr>
          <a:xfrm>
            <a:off x="731520" y="2758631"/>
            <a:ext cx="45720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6" name="Text 14"/>
          <p:cNvSpPr/>
          <p:nvPr/>
        </p:nvSpPr>
        <p:spPr>
          <a:xfrm>
            <a:off x="1417320" y="2768346"/>
            <a:ext cx="10058400" cy="437769"/>
          </a:xfrm>
          <a:prstGeom prst="rect">
            <a:avLst/>
          </a:prstGeom>
          <a:noFill/>
          <a:ln/>
        </p:spPr>
        <p:txBody>
          <a:bodyPr wrap="square" rtlCol="0" anchor="ctr"/>
          <a:lstStyle/>
          <a:p>
            <a:pPr marL="0" indent="0">
              <a:buNone/>
            </a:pPr>
            <a:r>
              <a:rPr lang="en-US" sz="1500" dirty="0">
                <a:solidFill>
                  <a:srgbClr val="1B2430"/>
                </a:solidFill>
                <a:latin typeface="Calibri" pitchFamily="34" charset="0"/>
                <a:ea typeface="Calibri" pitchFamily="34" charset="-122"/>
                <a:cs typeface="Calibri" pitchFamily="34" charset="-120"/>
              </a:rPr>
              <a:t>Present generated commands for explicit user approval</a:t>
            </a:r>
            <a:endParaRPr lang="en-US" sz="1500" dirty="0"/>
          </a:p>
        </p:txBody>
      </p:sp>
      <p:sp>
        <p:nvSpPr>
          <p:cNvPr id="17" name="Shape 15"/>
          <p:cNvSpPr/>
          <p:nvPr/>
        </p:nvSpPr>
        <p:spPr>
          <a:xfrm>
            <a:off x="502920" y="3352419"/>
            <a:ext cx="11201400" cy="437769"/>
          </a:xfrm>
          <a:prstGeom prst="roundRect">
            <a:avLst>
              <a:gd name="adj" fmla="val 16710"/>
            </a:avLst>
          </a:prstGeom>
          <a:solidFill>
            <a:srgbClr val="F3F6FB"/>
          </a:solidFill>
          <a:ln w="12700">
            <a:solidFill>
              <a:srgbClr val="D9E1EC"/>
            </a:solidFill>
            <a:prstDash val="solid"/>
          </a:ln>
          <a:effectLst>
            <a:outerShdw blurRad="88900" dist="38100" dir="5400000" algn="bl" rotWithShape="0">
              <a:srgbClr val="8494A8">
                <a:alpha val="28000"/>
              </a:srgbClr>
            </a:outerShdw>
          </a:effectLst>
        </p:spPr>
      </p:sp>
      <p:sp>
        <p:nvSpPr>
          <p:cNvPr id="18" name="Shape 16"/>
          <p:cNvSpPr/>
          <p:nvPr/>
        </p:nvSpPr>
        <p:spPr>
          <a:xfrm>
            <a:off x="731520" y="3342703"/>
            <a:ext cx="457200" cy="457200"/>
          </a:xfrm>
          <a:prstGeom prst="ellipse">
            <a:avLst/>
          </a:prstGeom>
          <a:solidFill>
            <a:srgbClr val="C9820A"/>
          </a:solidFill>
          <a:ln/>
        </p:spPr>
      </p:sp>
      <p:sp>
        <p:nvSpPr>
          <p:cNvPr id="19" name="Text 17"/>
          <p:cNvSpPr/>
          <p:nvPr/>
        </p:nvSpPr>
        <p:spPr>
          <a:xfrm>
            <a:off x="731520" y="3342703"/>
            <a:ext cx="45720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0" name="Text 18"/>
          <p:cNvSpPr/>
          <p:nvPr/>
        </p:nvSpPr>
        <p:spPr>
          <a:xfrm>
            <a:off x="1417320" y="3352419"/>
            <a:ext cx="10058400" cy="437769"/>
          </a:xfrm>
          <a:prstGeom prst="rect">
            <a:avLst/>
          </a:prstGeom>
          <a:noFill/>
          <a:ln/>
        </p:spPr>
        <p:txBody>
          <a:bodyPr wrap="square" rtlCol="0" anchor="ctr"/>
          <a:lstStyle/>
          <a:p>
            <a:pPr marL="0" indent="0">
              <a:buNone/>
            </a:pPr>
            <a:r>
              <a:rPr lang="en-US" sz="1500" dirty="0">
                <a:solidFill>
                  <a:srgbClr val="1B2430"/>
                </a:solidFill>
                <a:latin typeface="Calibri" pitchFamily="34" charset="0"/>
                <a:ea typeface="Calibri" pitchFamily="34" charset="-122"/>
                <a:cs typeface="Calibri" pitchFamily="34" charset="-120"/>
              </a:rPr>
              <a:t>Execute approved tools in the background and capture live output</a:t>
            </a:r>
            <a:endParaRPr lang="en-US" sz="1500" dirty="0"/>
          </a:p>
        </p:txBody>
      </p:sp>
      <p:sp>
        <p:nvSpPr>
          <p:cNvPr id="21" name="Shape 19"/>
          <p:cNvSpPr/>
          <p:nvPr/>
        </p:nvSpPr>
        <p:spPr>
          <a:xfrm>
            <a:off x="502920" y="3936492"/>
            <a:ext cx="11201400" cy="437769"/>
          </a:xfrm>
          <a:prstGeom prst="roundRect">
            <a:avLst>
              <a:gd name="adj" fmla="val 16710"/>
            </a:avLst>
          </a:prstGeom>
          <a:solidFill>
            <a:srgbClr val="F3F6FB"/>
          </a:solidFill>
          <a:ln w="12700">
            <a:solidFill>
              <a:srgbClr val="D9E1EC"/>
            </a:solidFill>
            <a:prstDash val="solid"/>
          </a:ln>
          <a:effectLst>
            <a:outerShdw blurRad="88900" dist="38100" dir="5400000" algn="bl" rotWithShape="0">
              <a:srgbClr val="8494A8">
                <a:alpha val="28000"/>
              </a:srgbClr>
            </a:outerShdw>
          </a:effectLst>
        </p:spPr>
      </p:sp>
      <p:sp>
        <p:nvSpPr>
          <p:cNvPr id="22" name="Shape 20"/>
          <p:cNvSpPr/>
          <p:nvPr/>
        </p:nvSpPr>
        <p:spPr>
          <a:xfrm>
            <a:off x="731520" y="3926776"/>
            <a:ext cx="457200" cy="457200"/>
          </a:xfrm>
          <a:prstGeom prst="ellipse">
            <a:avLst/>
          </a:prstGeom>
          <a:solidFill>
            <a:srgbClr val="6C5CE7"/>
          </a:solidFill>
          <a:ln/>
        </p:spPr>
      </p:sp>
      <p:sp>
        <p:nvSpPr>
          <p:cNvPr id="23" name="Text 21"/>
          <p:cNvSpPr/>
          <p:nvPr/>
        </p:nvSpPr>
        <p:spPr>
          <a:xfrm>
            <a:off x="731520" y="3926776"/>
            <a:ext cx="45720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4" name="Text 22"/>
          <p:cNvSpPr/>
          <p:nvPr/>
        </p:nvSpPr>
        <p:spPr>
          <a:xfrm>
            <a:off x="1417320" y="3936492"/>
            <a:ext cx="10058400" cy="437769"/>
          </a:xfrm>
          <a:prstGeom prst="rect">
            <a:avLst/>
          </a:prstGeom>
          <a:noFill/>
          <a:ln/>
        </p:spPr>
        <p:txBody>
          <a:bodyPr wrap="square" rtlCol="0" anchor="ctr"/>
          <a:lstStyle/>
          <a:p>
            <a:pPr marL="0" indent="0">
              <a:buNone/>
            </a:pPr>
            <a:r>
              <a:rPr lang="en-US" sz="1500" dirty="0">
                <a:solidFill>
                  <a:srgbClr val="1B2430"/>
                </a:solidFill>
                <a:latin typeface="Calibri" pitchFamily="34" charset="0"/>
                <a:ea typeface="Calibri" pitchFamily="34" charset="-122"/>
                <a:cs typeface="Calibri" pitchFamily="34" charset="-120"/>
              </a:rPr>
              <a:t>Extract, correlate, and highlight findings from tool output</a:t>
            </a:r>
            <a:endParaRPr lang="en-US" sz="1500" dirty="0"/>
          </a:p>
        </p:txBody>
      </p:sp>
      <p:sp>
        <p:nvSpPr>
          <p:cNvPr id="25" name="Shape 23"/>
          <p:cNvSpPr/>
          <p:nvPr/>
        </p:nvSpPr>
        <p:spPr>
          <a:xfrm>
            <a:off x="502920" y="4520565"/>
            <a:ext cx="11201400" cy="437769"/>
          </a:xfrm>
          <a:prstGeom prst="roundRect">
            <a:avLst>
              <a:gd name="adj" fmla="val 16710"/>
            </a:avLst>
          </a:prstGeom>
          <a:solidFill>
            <a:srgbClr val="F3F6FB"/>
          </a:solidFill>
          <a:ln w="12700">
            <a:solidFill>
              <a:srgbClr val="D9E1EC"/>
            </a:solidFill>
            <a:prstDash val="solid"/>
          </a:ln>
          <a:effectLst>
            <a:outerShdw blurRad="88900" dist="38100" dir="5400000" algn="bl" rotWithShape="0">
              <a:srgbClr val="8494A8">
                <a:alpha val="28000"/>
              </a:srgbClr>
            </a:outerShdw>
          </a:effectLst>
        </p:spPr>
      </p:sp>
      <p:sp>
        <p:nvSpPr>
          <p:cNvPr id="26" name="Shape 24"/>
          <p:cNvSpPr/>
          <p:nvPr/>
        </p:nvSpPr>
        <p:spPr>
          <a:xfrm>
            <a:off x="731520" y="4510850"/>
            <a:ext cx="457200" cy="457200"/>
          </a:xfrm>
          <a:prstGeom prst="ellipse">
            <a:avLst/>
          </a:prstGeom>
          <a:solidFill>
            <a:srgbClr val="C0392B"/>
          </a:solidFill>
          <a:ln/>
        </p:spPr>
      </p:sp>
      <p:sp>
        <p:nvSpPr>
          <p:cNvPr id="27" name="Text 25"/>
          <p:cNvSpPr/>
          <p:nvPr/>
        </p:nvSpPr>
        <p:spPr>
          <a:xfrm>
            <a:off x="731520" y="4510850"/>
            <a:ext cx="45720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28" name="Text 26"/>
          <p:cNvSpPr/>
          <p:nvPr/>
        </p:nvSpPr>
        <p:spPr>
          <a:xfrm>
            <a:off x="1417320" y="4520565"/>
            <a:ext cx="10058400" cy="437769"/>
          </a:xfrm>
          <a:prstGeom prst="rect">
            <a:avLst/>
          </a:prstGeom>
          <a:noFill/>
          <a:ln/>
        </p:spPr>
        <p:txBody>
          <a:bodyPr wrap="square" rtlCol="0" anchor="ctr"/>
          <a:lstStyle/>
          <a:p>
            <a:pPr marL="0" indent="0">
              <a:buNone/>
            </a:pPr>
            <a:r>
              <a:rPr lang="en-US" sz="1500" dirty="0">
                <a:solidFill>
                  <a:srgbClr val="1B2430"/>
                </a:solidFill>
                <a:latin typeface="Calibri" pitchFamily="34" charset="0"/>
                <a:ea typeface="Calibri" pitchFamily="34" charset="-122"/>
                <a:cs typeface="Calibri" pitchFamily="34" charset="-120"/>
              </a:rPr>
              <a:t>Manage projects, assets, findings, and evidence locally</a:t>
            </a:r>
            <a:endParaRPr lang="en-US" sz="1500" dirty="0"/>
          </a:p>
        </p:txBody>
      </p:sp>
      <p:sp>
        <p:nvSpPr>
          <p:cNvPr id="29" name="Shape 27"/>
          <p:cNvSpPr/>
          <p:nvPr/>
        </p:nvSpPr>
        <p:spPr>
          <a:xfrm>
            <a:off x="502920" y="5104638"/>
            <a:ext cx="11201400" cy="437769"/>
          </a:xfrm>
          <a:prstGeom prst="roundRect">
            <a:avLst>
              <a:gd name="adj" fmla="val 16710"/>
            </a:avLst>
          </a:prstGeom>
          <a:solidFill>
            <a:srgbClr val="F3F6FB"/>
          </a:solidFill>
          <a:ln w="12700">
            <a:solidFill>
              <a:srgbClr val="D9E1EC"/>
            </a:solidFill>
            <a:prstDash val="solid"/>
          </a:ln>
          <a:effectLst>
            <a:outerShdw blurRad="88900" dist="38100" dir="5400000" algn="bl" rotWithShape="0">
              <a:srgbClr val="8494A8">
                <a:alpha val="28000"/>
              </a:srgbClr>
            </a:outerShdw>
          </a:effectLst>
        </p:spPr>
      </p:sp>
      <p:sp>
        <p:nvSpPr>
          <p:cNvPr id="30" name="Shape 28"/>
          <p:cNvSpPr/>
          <p:nvPr/>
        </p:nvSpPr>
        <p:spPr>
          <a:xfrm>
            <a:off x="731520" y="5094922"/>
            <a:ext cx="457200" cy="457200"/>
          </a:xfrm>
          <a:prstGeom prst="ellipse">
            <a:avLst/>
          </a:prstGeom>
          <a:solidFill>
            <a:srgbClr val="2C5282"/>
          </a:solidFill>
          <a:ln/>
        </p:spPr>
      </p:sp>
      <p:sp>
        <p:nvSpPr>
          <p:cNvPr id="31" name="Text 29"/>
          <p:cNvSpPr/>
          <p:nvPr/>
        </p:nvSpPr>
        <p:spPr>
          <a:xfrm>
            <a:off x="731520" y="5094922"/>
            <a:ext cx="45720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32" name="Text 30"/>
          <p:cNvSpPr/>
          <p:nvPr/>
        </p:nvSpPr>
        <p:spPr>
          <a:xfrm>
            <a:off x="1417320" y="5104638"/>
            <a:ext cx="10058400" cy="437769"/>
          </a:xfrm>
          <a:prstGeom prst="rect">
            <a:avLst/>
          </a:prstGeom>
          <a:noFill/>
          <a:ln/>
        </p:spPr>
        <p:txBody>
          <a:bodyPr wrap="square" rtlCol="0" anchor="ctr"/>
          <a:lstStyle/>
          <a:p>
            <a:pPr marL="0" indent="0">
              <a:buNone/>
            </a:pPr>
            <a:r>
              <a:rPr lang="en-US" sz="1500" dirty="0">
                <a:solidFill>
                  <a:srgbClr val="1B2430"/>
                </a:solidFill>
                <a:latin typeface="Calibri" pitchFamily="34" charset="0"/>
                <a:ea typeface="Calibri" pitchFamily="34" charset="-122"/>
                <a:cs typeface="Calibri" pitchFamily="34" charset="-120"/>
              </a:rPr>
              <a:t>Generate HTML / PDF / Markdown assessment reports</a:t>
            </a:r>
            <a:endParaRPr lang="en-US" sz="1500" dirty="0"/>
          </a:p>
        </p:txBody>
      </p:sp>
      <p:sp>
        <p:nvSpPr>
          <p:cNvPr id="33" name="Shape 31"/>
          <p:cNvSpPr/>
          <p:nvPr/>
        </p:nvSpPr>
        <p:spPr>
          <a:xfrm>
            <a:off x="502920" y="5688711"/>
            <a:ext cx="11201400" cy="437769"/>
          </a:xfrm>
          <a:prstGeom prst="roundRect">
            <a:avLst>
              <a:gd name="adj" fmla="val 16710"/>
            </a:avLst>
          </a:prstGeom>
          <a:solidFill>
            <a:srgbClr val="F3F6FB"/>
          </a:solidFill>
          <a:ln w="12700">
            <a:solidFill>
              <a:srgbClr val="D9E1EC"/>
            </a:solidFill>
            <a:prstDash val="solid"/>
          </a:ln>
          <a:effectLst>
            <a:outerShdw blurRad="88900" dist="38100" dir="5400000" algn="bl" rotWithShape="0">
              <a:srgbClr val="8494A8">
                <a:alpha val="28000"/>
              </a:srgbClr>
            </a:outerShdw>
          </a:effectLst>
        </p:spPr>
      </p:sp>
      <p:sp>
        <p:nvSpPr>
          <p:cNvPr id="34" name="Shape 32"/>
          <p:cNvSpPr/>
          <p:nvPr/>
        </p:nvSpPr>
        <p:spPr>
          <a:xfrm>
            <a:off x="731520" y="5678995"/>
            <a:ext cx="457200" cy="457200"/>
          </a:xfrm>
          <a:prstGeom prst="ellipse">
            <a:avLst/>
          </a:prstGeom>
          <a:solidFill>
            <a:srgbClr val="2C9CA6"/>
          </a:solidFill>
          <a:ln/>
        </p:spPr>
      </p:sp>
      <p:sp>
        <p:nvSpPr>
          <p:cNvPr id="35" name="Text 33"/>
          <p:cNvSpPr/>
          <p:nvPr/>
        </p:nvSpPr>
        <p:spPr>
          <a:xfrm>
            <a:off x="731520" y="5678995"/>
            <a:ext cx="45720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8</a:t>
            </a:r>
            <a:endParaRPr lang="en-US" sz="1500" dirty="0"/>
          </a:p>
        </p:txBody>
      </p:sp>
      <p:sp>
        <p:nvSpPr>
          <p:cNvPr id="36" name="Text 34"/>
          <p:cNvSpPr/>
          <p:nvPr/>
        </p:nvSpPr>
        <p:spPr>
          <a:xfrm>
            <a:off x="1417320" y="5688711"/>
            <a:ext cx="10058400" cy="437769"/>
          </a:xfrm>
          <a:prstGeom prst="rect">
            <a:avLst/>
          </a:prstGeom>
          <a:noFill/>
          <a:ln/>
        </p:spPr>
        <p:txBody>
          <a:bodyPr wrap="square" rtlCol="0" anchor="ctr"/>
          <a:lstStyle/>
          <a:p>
            <a:pPr marL="0" indent="0">
              <a:buNone/>
            </a:pPr>
            <a:r>
              <a:rPr lang="en-US" sz="1500" dirty="0">
                <a:solidFill>
                  <a:srgbClr val="1B2430"/>
                </a:solidFill>
                <a:latin typeface="Calibri" pitchFamily="34" charset="0"/>
                <a:ea typeface="Calibri" pitchFamily="34" charset="-122"/>
                <a:cs typeface="Calibri" pitchFamily="34" charset="-120"/>
              </a:rPr>
              <a:t>Draft, review, and record responsible-disclosure reports (never auto-sent)</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6446520"/>
            <a:ext cx="9144000" cy="274320"/>
          </a:xfrm>
          <a:prstGeom prst="rect">
            <a:avLst/>
          </a:prstGeom>
          <a:noFill/>
          <a:ln/>
        </p:spPr>
        <p:txBody>
          <a:bodyPr wrap="square" rtlCol="0" anchor="ctr"/>
          <a:lstStyle/>
          <a:p>
            <a:pPr marL="0" indent="0">
              <a:buNone/>
            </a:pPr>
            <a:r>
              <a:rPr lang="en-US" sz="900" b="1" dirty="0">
                <a:solidFill>
                  <a:srgbClr val="5E6B7A"/>
                </a:solidFill>
                <a:latin typeface="Calibri" pitchFamily="34" charset="0"/>
                <a:ea typeface="Calibri" pitchFamily="34" charset="-122"/>
                <a:cs typeface="Calibri" pitchFamily="34" charset="-120"/>
              </a:rPr>
              <a:t>SecurityOps Assistant</a:t>
            </a:r>
            <a:r>
              <a:rPr lang="en-US" sz="900" dirty="0">
                <a:solidFill>
                  <a:srgbClr val="5E6B7A"/>
                </a:solidFill>
                <a:latin typeface="Calibri" pitchFamily="34" charset="0"/>
                <a:ea typeface="Calibri" pitchFamily="34" charset="-122"/>
                <a:cs typeface="Calibri" pitchFamily="34" charset="-120"/>
              </a:rPr>
              <a:t>   |   Project Proposal</a:t>
            </a:r>
            <a:endParaRPr lang="en-US" sz="900" dirty="0"/>
          </a:p>
        </p:txBody>
      </p:sp>
      <p:sp>
        <p:nvSpPr>
          <p:cNvPr id="3" name="Text 1"/>
          <p:cNvSpPr/>
          <p:nvPr/>
        </p:nvSpPr>
        <p:spPr>
          <a:xfrm>
            <a:off x="11338560" y="6446520"/>
            <a:ext cx="365760" cy="274320"/>
          </a:xfrm>
          <a:prstGeom prst="rect">
            <a:avLst/>
          </a:prstGeom>
          <a:noFill/>
          <a:ln/>
        </p:spPr>
        <p:txBody>
          <a:bodyPr wrap="square" rtlCol="0" anchor="ctr"/>
          <a:lstStyle/>
          <a:p>
            <a:pPr marL="0" indent="0" algn="r">
              <a:buNone/>
            </a:pPr>
            <a:r>
              <a:rPr lang="en-US" sz="900" dirty="0">
                <a:solidFill>
                  <a:srgbClr val="5E6B7A"/>
                </a:solidFill>
                <a:latin typeface="Calibri" pitchFamily="34" charset="0"/>
                <a:ea typeface="Calibri" pitchFamily="34" charset="-122"/>
                <a:cs typeface="Calibri" pitchFamily="34" charset="-120"/>
              </a:rPr>
              <a:t>13</a:t>
            </a:r>
            <a:endParaRPr lang="en-US" sz="900" dirty="0"/>
          </a:p>
        </p:txBody>
      </p:sp>
      <p:sp>
        <p:nvSpPr>
          <p:cNvPr id="4" name="Text 2"/>
          <p:cNvSpPr/>
          <p:nvPr/>
        </p:nvSpPr>
        <p:spPr>
          <a:xfrm>
            <a:off x="502920" y="411480"/>
            <a:ext cx="11155680" cy="640080"/>
          </a:xfrm>
          <a:prstGeom prst="rect">
            <a:avLst/>
          </a:prstGeom>
          <a:noFill/>
          <a:ln/>
        </p:spPr>
        <p:txBody>
          <a:bodyPr wrap="square" rtlCol="0" anchor="ctr"/>
          <a:lstStyle/>
          <a:p>
            <a:pPr marL="0" indent="0">
              <a:buNone/>
            </a:pPr>
            <a:r>
              <a:rPr lang="en-US" sz="3200" b="1" dirty="0">
                <a:solidFill>
                  <a:srgbClr val="1F3A5F"/>
                </a:solidFill>
                <a:latin typeface="Cambria" pitchFamily="34" charset="0"/>
                <a:ea typeface="Cambria" pitchFamily="34" charset="-122"/>
                <a:cs typeface="Cambria" pitchFamily="34" charset="-120"/>
              </a:rPr>
              <a:t>Non-Functional Requirements</a:t>
            </a:r>
            <a:endParaRPr lang="en-US" sz="3200" dirty="0"/>
          </a:p>
        </p:txBody>
      </p:sp>
      <p:sp>
        <p:nvSpPr>
          <p:cNvPr id="5" name="Shape 3"/>
          <p:cNvSpPr/>
          <p:nvPr/>
        </p:nvSpPr>
        <p:spPr>
          <a:xfrm>
            <a:off x="502920" y="1600200"/>
            <a:ext cx="3611880" cy="1965960"/>
          </a:xfrm>
          <a:prstGeom prst="roundRect">
            <a:avLst>
              <a:gd name="adj" fmla="val 3721"/>
            </a:avLst>
          </a:prstGeom>
          <a:solidFill>
            <a:srgbClr val="F3F6FB"/>
          </a:solidFill>
          <a:ln w="12700">
            <a:solidFill>
              <a:srgbClr val="D9E1EC"/>
            </a:solidFill>
            <a:prstDash val="solid"/>
          </a:ln>
          <a:effectLst>
            <a:outerShdw blurRad="88900" dist="38100" dir="5400000" algn="bl" rotWithShape="0">
              <a:srgbClr val="8494A8">
                <a:alpha val="28000"/>
              </a:srgbClr>
            </a:outerShdw>
          </a:effectLst>
        </p:spPr>
      </p:sp>
      <p:sp>
        <p:nvSpPr>
          <p:cNvPr id="6" name="Shape 4"/>
          <p:cNvSpPr/>
          <p:nvPr/>
        </p:nvSpPr>
        <p:spPr>
          <a:xfrm>
            <a:off x="777240" y="1874520"/>
            <a:ext cx="502920" cy="502920"/>
          </a:xfrm>
          <a:prstGeom prst="ellipse">
            <a:avLst/>
          </a:prstGeom>
          <a:solidFill>
            <a:srgbClr val="2C5282"/>
          </a:solidFill>
          <a:ln/>
        </p:spPr>
      </p:sp>
      <p:sp>
        <p:nvSpPr>
          <p:cNvPr id="7" name="Text 5"/>
          <p:cNvSpPr/>
          <p:nvPr/>
        </p:nvSpPr>
        <p:spPr>
          <a:xfrm>
            <a:off x="777240" y="1874520"/>
            <a:ext cx="502920" cy="50292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S</a:t>
            </a:r>
            <a:endParaRPr lang="en-US" sz="2000" dirty="0"/>
          </a:p>
        </p:txBody>
      </p:sp>
      <p:sp>
        <p:nvSpPr>
          <p:cNvPr id="8" name="Text 6"/>
          <p:cNvSpPr/>
          <p:nvPr/>
        </p:nvSpPr>
        <p:spPr>
          <a:xfrm>
            <a:off x="1417320" y="1920240"/>
            <a:ext cx="2514600" cy="457200"/>
          </a:xfrm>
          <a:prstGeom prst="rect">
            <a:avLst/>
          </a:prstGeom>
          <a:noFill/>
          <a:ln/>
        </p:spPr>
        <p:txBody>
          <a:bodyPr wrap="square" rtlCol="0" anchor="ctr"/>
          <a:lstStyle/>
          <a:p>
            <a:pPr marL="0" indent="0">
              <a:buNone/>
            </a:pPr>
            <a:r>
              <a:rPr lang="en-US" sz="1600" b="1" dirty="0">
                <a:solidFill>
                  <a:srgbClr val="1F3A5F"/>
                </a:solidFill>
                <a:latin typeface="Calibri" pitchFamily="34" charset="0"/>
                <a:ea typeface="Calibri" pitchFamily="34" charset="-122"/>
                <a:cs typeface="Calibri" pitchFamily="34" charset="-120"/>
              </a:rPr>
              <a:t>Security</a:t>
            </a:r>
            <a:endParaRPr lang="en-US" sz="1600" dirty="0"/>
          </a:p>
        </p:txBody>
      </p:sp>
      <p:sp>
        <p:nvSpPr>
          <p:cNvPr id="9" name="Text 7"/>
          <p:cNvSpPr/>
          <p:nvPr/>
        </p:nvSpPr>
        <p:spPr>
          <a:xfrm>
            <a:off x="777240" y="2514600"/>
            <a:ext cx="3063240" cy="914400"/>
          </a:xfrm>
          <a:prstGeom prst="rect">
            <a:avLst/>
          </a:prstGeom>
          <a:noFill/>
          <a:ln/>
        </p:spPr>
        <p:txBody>
          <a:bodyPr wrap="square" rtlCol="0" anchor="t"/>
          <a:lstStyle/>
          <a:p>
            <a:pPr marL="0" indent="0">
              <a:buNone/>
            </a:pPr>
            <a:r>
              <a:rPr lang="en-US" sz="1200" dirty="0">
                <a:solidFill>
                  <a:srgbClr val="1B2430"/>
                </a:solidFill>
                <a:latin typeface="Calibri" pitchFamily="34" charset="0"/>
                <a:ea typeface="Calibri" pitchFamily="34" charset="-122"/>
                <a:cs typeface="Calibri" pitchFamily="34" charset="-120"/>
              </a:rPr>
              <a:t>Authorization gates, refusal of harmful/out-of-scope actions, no auto-exploitation</a:t>
            </a:r>
            <a:endParaRPr lang="en-US" sz="1200" dirty="0"/>
          </a:p>
        </p:txBody>
      </p:sp>
      <p:sp>
        <p:nvSpPr>
          <p:cNvPr id="10" name="Shape 8"/>
          <p:cNvSpPr/>
          <p:nvPr/>
        </p:nvSpPr>
        <p:spPr>
          <a:xfrm>
            <a:off x="4297680" y="1600200"/>
            <a:ext cx="3611880" cy="1965960"/>
          </a:xfrm>
          <a:prstGeom prst="roundRect">
            <a:avLst>
              <a:gd name="adj" fmla="val 3721"/>
            </a:avLst>
          </a:prstGeom>
          <a:solidFill>
            <a:srgbClr val="F3F6FB"/>
          </a:solidFill>
          <a:ln w="12700">
            <a:solidFill>
              <a:srgbClr val="D9E1EC"/>
            </a:solidFill>
            <a:prstDash val="solid"/>
          </a:ln>
          <a:effectLst>
            <a:outerShdw blurRad="88900" dist="38100" dir="5400000" algn="bl" rotWithShape="0">
              <a:srgbClr val="8494A8">
                <a:alpha val="28000"/>
              </a:srgbClr>
            </a:outerShdw>
          </a:effectLst>
        </p:spPr>
      </p:sp>
      <p:sp>
        <p:nvSpPr>
          <p:cNvPr id="11" name="Shape 9"/>
          <p:cNvSpPr/>
          <p:nvPr/>
        </p:nvSpPr>
        <p:spPr>
          <a:xfrm>
            <a:off x="4572000" y="1874520"/>
            <a:ext cx="502920" cy="502920"/>
          </a:xfrm>
          <a:prstGeom prst="ellipse">
            <a:avLst/>
          </a:prstGeom>
          <a:solidFill>
            <a:srgbClr val="2C9CA6"/>
          </a:solidFill>
          <a:ln/>
        </p:spPr>
      </p:sp>
      <p:sp>
        <p:nvSpPr>
          <p:cNvPr id="12" name="Text 10"/>
          <p:cNvSpPr/>
          <p:nvPr/>
        </p:nvSpPr>
        <p:spPr>
          <a:xfrm>
            <a:off x="4572000" y="1874520"/>
            <a:ext cx="502920" cy="50292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P</a:t>
            </a:r>
            <a:endParaRPr lang="en-US" sz="2000" dirty="0"/>
          </a:p>
        </p:txBody>
      </p:sp>
      <p:sp>
        <p:nvSpPr>
          <p:cNvPr id="13" name="Text 11"/>
          <p:cNvSpPr/>
          <p:nvPr/>
        </p:nvSpPr>
        <p:spPr>
          <a:xfrm>
            <a:off x="5212080" y="1920240"/>
            <a:ext cx="2514600" cy="457200"/>
          </a:xfrm>
          <a:prstGeom prst="rect">
            <a:avLst/>
          </a:prstGeom>
          <a:noFill/>
          <a:ln/>
        </p:spPr>
        <p:txBody>
          <a:bodyPr wrap="square" rtlCol="0" anchor="ctr"/>
          <a:lstStyle/>
          <a:p>
            <a:pPr marL="0" indent="0">
              <a:buNone/>
            </a:pPr>
            <a:r>
              <a:rPr lang="en-US" sz="1600" b="1" dirty="0">
                <a:solidFill>
                  <a:srgbClr val="1F3A5F"/>
                </a:solidFill>
                <a:latin typeface="Calibri" pitchFamily="34" charset="0"/>
                <a:ea typeface="Calibri" pitchFamily="34" charset="-122"/>
                <a:cs typeface="Calibri" pitchFamily="34" charset="-120"/>
              </a:rPr>
              <a:t>Performance</a:t>
            </a:r>
            <a:endParaRPr lang="en-US" sz="1600" dirty="0"/>
          </a:p>
        </p:txBody>
      </p:sp>
      <p:sp>
        <p:nvSpPr>
          <p:cNvPr id="14" name="Text 12"/>
          <p:cNvSpPr/>
          <p:nvPr/>
        </p:nvSpPr>
        <p:spPr>
          <a:xfrm>
            <a:off x="4572000" y="2514600"/>
            <a:ext cx="3063240" cy="914400"/>
          </a:xfrm>
          <a:prstGeom prst="rect">
            <a:avLst/>
          </a:prstGeom>
          <a:noFill/>
          <a:ln/>
        </p:spPr>
        <p:txBody>
          <a:bodyPr wrap="square" rtlCol="0" anchor="t"/>
          <a:lstStyle/>
          <a:p>
            <a:pPr marL="0" indent="0">
              <a:buNone/>
            </a:pPr>
            <a:r>
              <a:rPr lang="en-US" sz="1200" dirty="0">
                <a:solidFill>
                  <a:srgbClr val="1B2430"/>
                </a:solidFill>
                <a:latin typeface="Calibri" pitchFamily="34" charset="0"/>
                <a:ea typeface="Calibri" pitchFamily="34" charset="-122"/>
                <a:cs typeface="Calibri" pitchFamily="34" charset="-120"/>
              </a:rPr>
              <a:t>Multi-threaded execution keeps the UI responsive during long scans</a:t>
            </a:r>
            <a:endParaRPr lang="en-US" sz="1200" dirty="0"/>
          </a:p>
        </p:txBody>
      </p:sp>
      <p:sp>
        <p:nvSpPr>
          <p:cNvPr id="15" name="Shape 13"/>
          <p:cNvSpPr/>
          <p:nvPr/>
        </p:nvSpPr>
        <p:spPr>
          <a:xfrm>
            <a:off x="8092440" y="1600200"/>
            <a:ext cx="3611880" cy="1965960"/>
          </a:xfrm>
          <a:prstGeom prst="roundRect">
            <a:avLst>
              <a:gd name="adj" fmla="val 3721"/>
            </a:avLst>
          </a:prstGeom>
          <a:solidFill>
            <a:srgbClr val="F3F6FB"/>
          </a:solidFill>
          <a:ln w="12700">
            <a:solidFill>
              <a:srgbClr val="D9E1EC"/>
            </a:solidFill>
            <a:prstDash val="solid"/>
          </a:ln>
          <a:effectLst>
            <a:outerShdw blurRad="88900" dist="38100" dir="5400000" algn="bl" rotWithShape="0">
              <a:srgbClr val="8494A8">
                <a:alpha val="28000"/>
              </a:srgbClr>
            </a:outerShdw>
          </a:effectLst>
        </p:spPr>
      </p:sp>
      <p:sp>
        <p:nvSpPr>
          <p:cNvPr id="16" name="Shape 14"/>
          <p:cNvSpPr/>
          <p:nvPr/>
        </p:nvSpPr>
        <p:spPr>
          <a:xfrm>
            <a:off x="8366760" y="1874520"/>
            <a:ext cx="502920" cy="502920"/>
          </a:xfrm>
          <a:prstGeom prst="ellipse">
            <a:avLst/>
          </a:prstGeom>
          <a:solidFill>
            <a:srgbClr val="2E9E5B"/>
          </a:solidFill>
          <a:ln/>
        </p:spPr>
      </p:sp>
      <p:sp>
        <p:nvSpPr>
          <p:cNvPr id="17" name="Text 15"/>
          <p:cNvSpPr/>
          <p:nvPr/>
        </p:nvSpPr>
        <p:spPr>
          <a:xfrm>
            <a:off x="8366760" y="1874520"/>
            <a:ext cx="502920" cy="50292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R</a:t>
            </a:r>
            <a:endParaRPr lang="en-US" sz="2000" dirty="0"/>
          </a:p>
        </p:txBody>
      </p:sp>
      <p:sp>
        <p:nvSpPr>
          <p:cNvPr id="18" name="Text 16"/>
          <p:cNvSpPr/>
          <p:nvPr/>
        </p:nvSpPr>
        <p:spPr>
          <a:xfrm>
            <a:off x="9006840" y="1920240"/>
            <a:ext cx="2514600" cy="457200"/>
          </a:xfrm>
          <a:prstGeom prst="rect">
            <a:avLst/>
          </a:prstGeom>
          <a:noFill/>
          <a:ln/>
        </p:spPr>
        <p:txBody>
          <a:bodyPr wrap="square" rtlCol="0" anchor="ctr"/>
          <a:lstStyle/>
          <a:p>
            <a:pPr marL="0" indent="0">
              <a:buNone/>
            </a:pPr>
            <a:r>
              <a:rPr lang="en-US" sz="1600" b="1" dirty="0">
                <a:solidFill>
                  <a:srgbClr val="1F3A5F"/>
                </a:solidFill>
                <a:latin typeface="Calibri" pitchFamily="34" charset="0"/>
                <a:ea typeface="Calibri" pitchFamily="34" charset="-122"/>
                <a:cs typeface="Calibri" pitchFamily="34" charset="-120"/>
              </a:rPr>
              <a:t>Reliability</a:t>
            </a:r>
            <a:endParaRPr lang="en-US" sz="1600" dirty="0"/>
          </a:p>
        </p:txBody>
      </p:sp>
      <p:sp>
        <p:nvSpPr>
          <p:cNvPr id="19" name="Text 17"/>
          <p:cNvSpPr/>
          <p:nvPr/>
        </p:nvSpPr>
        <p:spPr>
          <a:xfrm>
            <a:off x="8366760" y="2514600"/>
            <a:ext cx="3063240" cy="914400"/>
          </a:xfrm>
          <a:prstGeom prst="rect">
            <a:avLst/>
          </a:prstGeom>
          <a:noFill/>
          <a:ln/>
        </p:spPr>
        <p:txBody>
          <a:bodyPr wrap="square" rtlCol="0" anchor="t"/>
          <a:lstStyle/>
          <a:p>
            <a:pPr marL="0" indent="0">
              <a:buNone/>
            </a:pPr>
            <a:r>
              <a:rPr lang="en-US" sz="1200" dirty="0">
                <a:solidFill>
                  <a:srgbClr val="1B2430"/>
                </a:solidFill>
                <a:latin typeface="Calibri" pitchFamily="34" charset="0"/>
                <a:ea typeface="Calibri" pitchFamily="34" charset="-122"/>
                <a:cs typeface="Calibri" pitchFamily="34" charset="-120"/>
              </a:rPr>
              <a:t>Robust error handling and a full audit trail of every action</a:t>
            </a:r>
            <a:endParaRPr lang="en-US" sz="1200" dirty="0"/>
          </a:p>
        </p:txBody>
      </p:sp>
      <p:sp>
        <p:nvSpPr>
          <p:cNvPr id="20" name="Shape 18"/>
          <p:cNvSpPr/>
          <p:nvPr/>
        </p:nvSpPr>
        <p:spPr>
          <a:xfrm>
            <a:off x="2377440" y="3840480"/>
            <a:ext cx="3611880" cy="1965960"/>
          </a:xfrm>
          <a:prstGeom prst="roundRect">
            <a:avLst>
              <a:gd name="adj" fmla="val 3721"/>
            </a:avLst>
          </a:prstGeom>
          <a:solidFill>
            <a:srgbClr val="F3F6FB"/>
          </a:solidFill>
          <a:ln w="12700">
            <a:solidFill>
              <a:srgbClr val="D9E1EC"/>
            </a:solidFill>
            <a:prstDash val="solid"/>
          </a:ln>
          <a:effectLst>
            <a:outerShdw blurRad="88900" dist="38100" dir="5400000" algn="bl" rotWithShape="0">
              <a:srgbClr val="8494A8">
                <a:alpha val="28000"/>
              </a:srgbClr>
            </a:outerShdw>
          </a:effectLst>
        </p:spPr>
      </p:sp>
      <p:sp>
        <p:nvSpPr>
          <p:cNvPr id="21" name="Shape 19"/>
          <p:cNvSpPr/>
          <p:nvPr/>
        </p:nvSpPr>
        <p:spPr>
          <a:xfrm>
            <a:off x="2651760" y="4114800"/>
            <a:ext cx="502920" cy="502920"/>
          </a:xfrm>
          <a:prstGeom prst="ellipse">
            <a:avLst/>
          </a:prstGeom>
          <a:solidFill>
            <a:srgbClr val="C9820A"/>
          </a:solidFill>
          <a:ln/>
        </p:spPr>
      </p:sp>
      <p:sp>
        <p:nvSpPr>
          <p:cNvPr id="22" name="Text 20"/>
          <p:cNvSpPr/>
          <p:nvPr/>
        </p:nvSpPr>
        <p:spPr>
          <a:xfrm>
            <a:off x="2651760" y="4114800"/>
            <a:ext cx="502920" cy="50292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S</a:t>
            </a:r>
            <a:endParaRPr lang="en-US" sz="2000" dirty="0"/>
          </a:p>
        </p:txBody>
      </p:sp>
      <p:sp>
        <p:nvSpPr>
          <p:cNvPr id="23" name="Text 21"/>
          <p:cNvSpPr/>
          <p:nvPr/>
        </p:nvSpPr>
        <p:spPr>
          <a:xfrm>
            <a:off x="3291840" y="4160520"/>
            <a:ext cx="2514600" cy="457200"/>
          </a:xfrm>
          <a:prstGeom prst="rect">
            <a:avLst/>
          </a:prstGeom>
          <a:noFill/>
          <a:ln/>
        </p:spPr>
        <p:txBody>
          <a:bodyPr wrap="square" rtlCol="0" anchor="ctr"/>
          <a:lstStyle/>
          <a:p>
            <a:pPr marL="0" indent="0">
              <a:buNone/>
            </a:pPr>
            <a:r>
              <a:rPr lang="en-US" sz="1600" b="1" dirty="0">
                <a:solidFill>
                  <a:srgbClr val="1F3A5F"/>
                </a:solidFill>
                <a:latin typeface="Calibri" pitchFamily="34" charset="0"/>
                <a:ea typeface="Calibri" pitchFamily="34" charset="-122"/>
                <a:cs typeface="Calibri" pitchFamily="34" charset="-120"/>
              </a:rPr>
              <a:t>Scalability</a:t>
            </a:r>
            <a:endParaRPr lang="en-US" sz="1600" dirty="0"/>
          </a:p>
        </p:txBody>
      </p:sp>
      <p:sp>
        <p:nvSpPr>
          <p:cNvPr id="24" name="Text 22"/>
          <p:cNvSpPr/>
          <p:nvPr/>
        </p:nvSpPr>
        <p:spPr>
          <a:xfrm>
            <a:off x="2651760" y="4754880"/>
            <a:ext cx="3063240" cy="914400"/>
          </a:xfrm>
          <a:prstGeom prst="rect">
            <a:avLst/>
          </a:prstGeom>
          <a:noFill/>
          <a:ln/>
        </p:spPr>
        <p:txBody>
          <a:bodyPr wrap="square" rtlCol="0" anchor="t"/>
          <a:lstStyle/>
          <a:p>
            <a:pPr marL="0" indent="0">
              <a:buNone/>
            </a:pPr>
            <a:r>
              <a:rPr lang="en-US" sz="1200" dirty="0">
                <a:solidFill>
                  <a:srgbClr val="1B2430"/>
                </a:solidFill>
                <a:latin typeface="Calibri" pitchFamily="34" charset="0"/>
                <a:ea typeface="Calibri" pitchFamily="34" charset="-122"/>
                <a:cs typeface="Calibri" pitchFamily="34" charset="-120"/>
              </a:rPr>
              <a:t>Modular plugin architecture — new features add without touching the core</a:t>
            </a:r>
            <a:endParaRPr lang="en-US" sz="1200" dirty="0"/>
          </a:p>
        </p:txBody>
      </p:sp>
      <p:sp>
        <p:nvSpPr>
          <p:cNvPr id="25" name="Shape 23"/>
          <p:cNvSpPr/>
          <p:nvPr/>
        </p:nvSpPr>
        <p:spPr>
          <a:xfrm>
            <a:off x="6172200" y="3840480"/>
            <a:ext cx="3611880" cy="1965960"/>
          </a:xfrm>
          <a:prstGeom prst="roundRect">
            <a:avLst>
              <a:gd name="adj" fmla="val 3721"/>
            </a:avLst>
          </a:prstGeom>
          <a:solidFill>
            <a:srgbClr val="F3F6FB"/>
          </a:solidFill>
          <a:ln w="12700">
            <a:solidFill>
              <a:srgbClr val="D9E1EC"/>
            </a:solidFill>
            <a:prstDash val="solid"/>
          </a:ln>
          <a:effectLst>
            <a:outerShdw blurRad="88900" dist="38100" dir="5400000" algn="bl" rotWithShape="0">
              <a:srgbClr val="8494A8">
                <a:alpha val="28000"/>
              </a:srgbClr>
            </a:outerShdw>
          </a:effectLst>
        </p:spPr>
      </p:sp>
      <p:sp>
        <p:nvSpPr>
          <p:cNvPr id="26" name="Shape 24"/>
          <p:cNvSpPr/>
          <p:nvPr/>
        </p:nvSpPr>
        <p:spPr>
          <a:xfrm>
            <a:off x="6446520" y="4114800"/>
            <a:ext cx="502920" cy="502920"/>
          </a:xfrm>
          <a:prstGeom prst="ellipse">
            <a:avLst/>
          </a:prstGeom>
          <a:solidFill>
            <a:srgbClr val="6C5CE7"/>
          </a:solidFill>
          <a:ln/>
        </p:spPr>
      </p:sp>
      <p:sp>
        <p:nvSpPr>
          <p:cNvPr id="27" name="Text 25"/>
          <p:cNvSpPr/>
          <p:nvPr/>
        </p:nvSpPr>
        <p:spPr>
          <a:xfrm>
            <a:off x="6446520" y="4114800"/>
            <a:ext cx="502920" cy="50292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P</a:t>
            </a:r>
            <a:endParaRPr lang="en-US" sz="2000" dirty="0"/>
          </a:p>
        </p:txBody>
      </p:sp>
      <p:sp>
        <p:nvSpPr>
          <p:cNvPr id="28" name="Text 26"/>
          <p:cNvSpPr/>
          <p:nvPr/>
        </p:nvSpPr>
        <p:spPr>
          <a:xfrm>
            <a:off x="7086600" y="4160520"/>
            <a:ext cx="2514600" cy="457200"/>
          </a:xfrm>
          <a:prstGeom prst="rect">
            <a:avLst/>
          </a:prstGeom>
          <a:noFill/>
          <a:ln/>
        </p:spPr>
        <p:txBody>
          <a:bodyPr wrap="square" rtlCol="0" anchor="ctr"/>
          <a:lstStyle/>
          <a:p>
            <a:pPr marL="0" indent="0">
              <a:buNone/>
            </a:pPr>
            <a:r>
              <a:rPr lang="en-US" sz="1600" b="1" dirty="0">
                <a:solidFill>
                  <a:srgbClr val="1F3A5F"/>
                </a:solidFill>
                <a:latin typeface="Calibri" pitchFamily="34" charset="0"/>
                <a:ea typeface="Calibri" pitchFamily="34" charset="-122"/>
                <a:cs typeface="Calibri" pitchFamily="34" charset="-120"/>
              </a:rPr>
              <a:t>Privacy</a:t>
            </a:r>
            <a:endParaRPr lang="en-US" sz="1600" dirty="0"/>
          </a:p>
        </p:txBody>
      </p:sp>
      <p:sp>
        <p:nvSpPr>
          <p:cNvPr id="29" name="Text 27"/>
          <p:cNvSpPr/>
          <p:nvPr/>
        </p:nvSpPr>
        <p:spPr>
          <a:xfrm>
            <a:off x="6446520" y="4754880"/>
            <a:ext cx="3063240" cy="914400"/>
          </a:xfrm>
          <a:prstGeom prst="rect">
            <a:avLst/>
          </a:prstGeom>
          <a:noFill/>
          <a:ln/>
        </p:spPr>
        <p:txBody>
          <a:bodyPr wrap="square" rtlCol="0" anchor="t"/>
          <a:lstStyle/>
          <a:p>
            <a:pPr marL="0" indent="0">
              <a:buNone/>
            </a:pPr>
            <a:r>
              <a:rPr lang="en-US" sz="1200" dirty="0">
                <a:solidFill>
                  <a:srgbClr val="1B2430"/>
                </a:solidFill>
                <a:latin typeface="Calibri" pitchFamily="34" charset="0"/>
                <a:ea typeface="Calibri" pitchFamily="34" charset="-122"/>
                <a:cs typeface="Calibri" pitchFamily="34" charset="-120"/>
              </a:rPr>
              <a:t>Fully offline; no telemetry; all data stays on the local machine</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6446520"/>
            <a:ext cx="9144000" cy="274320"/>
          </a:xfrm>
          <a:prstGeom prst="rect">
            <a:avLst/>
          </a:prstGeom>
          <a:noFill/>
          <a:ln/>
        </p:spPr>
        <p:txBody>
          <a:bodyPr wrap="square" rtlCol="0" anchor="ctr"/>
          <a:lstStyle/>
          <a:p>
            <a:pPr marL="0" indent="0">
              <a:buNone/>
            </a:pPr>
            <a:r>
              <a:rPr lang="en-US" sz="900" b="1" dirty="0">
                <a:solidFill>
                  <a:srgbClr val="5E6B7A"/>
                </a:solidFill>
                <a:latin typeface="Calibri" pitchFamily="34" charset="0"/>
                <a:ea typeface="Calibri" pitchFamily="34" charset="-122"/>
                <a:cs typeface="Calibri" pitchFamily="34" charset="-120"/>
              </a:rPr>
              <a:t>SecurityOps Assistant</a:t>
            </a:r>
            <a:r>
              <a:rPr lang="en-US" sz="900" dirty="0">
                <a:solidFill>
                  <a:srgbClr val="5E6B7A"/>
                </a:solidFill>
                <a:latin typeface="Calibri" pitchFamily="34" charset="0"/>
                <a:ea typeface="Calibri" pitchFamily="34" charset="-122"/>
                <a:cs typeface="Calibri" pitchFamily="34" charset="-120"/>
              </a:rPr>
              <a:t>   |   Project Proposal</a:t>
            </a:r>
            <a:endParaRPr lang="en-US" sz="900" dirty="0"/>
          </a:p>
        </p:txBody>
      </p:sp>
      <p:sp>
        <p:nvSpPr>
          <p:cNvPr id="3" name="Text 1"/>
          <p:cNvSpPr/>
          <p:nvPr/>
        </p:nvSpPr>
        <p:spPr>
          <a:xfrm>
            <a:off x="11338560" y="6446520"/>
            <a:ext cx="365760" cy="274320"/>
          </a:xfrm>
          <a:prstGeom prst="rect">
            <a:avLst/>
          </a:prstGeom>
          <a:noFill/>
          <a:ln/>
        </p:spPr>
        <p:txBody>
          <a:bodyPr wrap="square" rtlCol="0" anchor="ctr"/>
          <a:lstStyle/>
          <a:p>
            <a:pPr marL="0" indent="0" algn="r">
              <a:buNone/>
            </a:pPr>
            <a:r>
              <a:rPr lang="en-US" sz="900" dirty="0">
                <a:solidFill>
                  <a:srgbClr val="5E6B7A"/>
                </a:solidFill>
                <a:latin typeface="Calibri" pitchFamily="34" charset="0"/>
                <a:ea typeface="Calibri" pitchFamily="34" charset="-122"/>
                <a:cs typeface="Calibri" pitchFamily="34" charset="-120"/>
              </a:rPr>
              <a:t>14</a:t>
            </a:r>
            <a:endParaRPr lang="en-US" sz="900" dirty="0"/>
          </a:p>
        </p:txBody>
      </p:sp>
      <p:sp>
        <p:nvSpPr>
          <p:cNvPr id="4" name="Text 2"/>
          <p:cNvSpPr/>
          <p:nvPr/>
        </p:nvSpPr>
        <p:spPr>
          <a:xfrm>
            <a:off x="502920" y="411480"/>
            <a:ext cx="11155680" cy="640080"/>
          </a:xfrm>
          <a:prstGeom prst="rect">
            <a:avLst/>
          </a:prstGeom>
          <a:noFill/>
          <a:ln/>
        </p:spPr>
        <p:txBody>
          <a:bodyPr wrap="square" rtlCol="0" anchor="ctr"/>
          <a:lstStyle/>
          <a:p>
            <a:pPr marL="0" indent="0">
              <a:buNone/>
            </a:pPr>
            <a:r>
              <a:rPr lang="en-US" sz="3200" b="1" dirty="0">
                <a:solidFill>
                  <a:srgbClr val="1F3A5F"/>
                </a:solidFill>
                <a:latin typeface="Cambria" pitchFamily="34" charset="0"/>
                <a:ea typeface="Cambria" pitchFamily="34" charset="-122"/>
                <a:cs typeface="Cambria" pitchFamily="34" charset="-120"/>
              </a:rPr>
              <a:t>Expected Outcome</a:t>
            </a:r>
            <a:endParaRPr lang="en-US" sz="3200" dirty="0"/>
          </a:p>
        </p:txBody>
      </p:sp>
      <p:sp>
        <p:nvSpPr>
          <p:cNvPr id="5" name="Shape 3"/>
          <p:cNvSpPr/>
          <p:nvPr/>
        </p:nvSpPr>
        <p:spPr>
          <a:xfrm>
            <a:off x="502920" y="1600200"/>
            <a:ext cx="3611880" cy="4206240"/>
          </a:xfrm>
          <a:prstGeom prst="roundRect">
            <a:avLst>
              <a:gd name="adj" fmla="val 2025"/>
            </a:avLst>
          </a:prstGeom>
          <a:solidFill>
            <a:srgbClr val="F3F6FB"/>
          </a:solidFill>
          <a:ln w="12700">
            <a:solidFill>
              <a:srgbClr val="D9E1EC"/>
            </a:solidFill>
            <a:prstDash val="solid"/>
          </a:ln>
          <a:effectLst>
            <a:outerShdw blurRad="88900" dist="38100" dir="5400000" algn="bl" rotWithShape="0">
              <a:srgbClr val="8494A8">
                <a:alpha val="28000"/>
              </a:srgbClr>
            </a:outerShdw>
          </a:effectLst>
        </p:spPr>
      </p:sp>
      <p:sp>
        <p:nvSpPr>
          <p:cNvPr id="6" name="Shape 4"/>
          <p:cNvSpPr/>
          <p:nvPr/>
        </p:nvSpPr>
        <p:spPr>
          <a:xfrm>
            <a:off x="777240" y="1874520"/>
            <a:ext cx="3063240" cy="548640"/>
          </a:xfrm>
          <a:prstGeom prst="roundRect">
            <a:avLst>
              <a:gd name="adj" fmla="val 10000"/>
            </a:avLst>
          </a:prstGeom>
          <a:solidFill>
            <a:srgbClr val="2C5282"/>
          </a:solidFill>
          <a:ln/>
        </p:spPr>
      </p:sp>
      <p:sp>
        <p:nvSpPr>
          <p:cNvPr id="7" name="Text 5"/>
          <p:cNvSpPr/>
          <p:nvPr/>
        </p:nvSpPr>
        <p:spPr>
          <a:xfrm>
            <a:off x="777240" y="1874520"/>
            <a:ext cx="3063240" cy="54864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Technical Outcomes</a:t>
            </a:r>
            <a:endParaRPr lang="en-US" sz="1400" dirty="0"/>
          </a:p>
        </p:txBody>
      </p:sp>
      <p:sp>
        <p:nvSpPr>
          <p:cNvPr id="8" name="Text 6"/>
          <p:cNvSpPr/>
          <p:nvPr/>
        </p:nvSpPr>
        <p:spPr>
          <a:xfrm>
            <a:off x="822960" y="2651760"/>
            <a:ext cx="2971800" cy="2926080"/>
          </a:xfrm>
          <a:prstGeom prst="rect">
            <a:avLst/>
          </a:prstGeom>
          <a:noFill/>
          <a:ln/>
        </p:spPr>
        <p:txBody>
          <a:bodyPr wrap="square" rtlCol="0" anchor="t"/>
          <a:lstStyle/>
          <a:p>
            <a:pPr marL="152400" indent="-152400">
              <a:spcAft>
                <a:spcPts val="1000"/>
              </a:spcAft>
              <a:buSzPct val="100000"/>
              <a:buChar char="•"/>
            </a:pPr>
            <a:r>
              <a:rPr lang="en-US" sz="1250" dirty="0">
                <a:solidFill>
                  <a:srgbClr val="1B2430"/>
                </a:solidFill>
                <a:latin typeface="Calibri" pitchFamily="34" charset="0"/>
                <a:ea typeface="Calibri" pitchFamily="34" charset="-122"/>
                <a:cs typeface="Calibri" pitchFamily="34" charset="-120"/>
              </a:rPr>
              <a:t>A working, fully offline assessment platform</a:t>
            </a:r>
            <a:endParaRPr lang="en-US" sz="1250" dirty="0"/>
          </a:p>
          <a:p>
            <a:pPr marL="152400" indent="-152400">
              <a:spcAft>
                <a:spcPts val="1000"/>
              </a:spcAft>
              <a:buSzPct val="100000"/>
              <a:buChar char="•"/>
            </a:pPr>
            <a:r>
              <a:rPr lang="en-US" sz="1250" dirty="0">
                <a:solidFill>
                  <a:srgbClr val="1B2430"/>
                </a:solidFill>
                <a:latin typeface="Calibri" pitchFamily="34" charset="0"/>
                <a:ea typeface="Calibri" pitchFamily="34" charset="-122"/>
                <a:cs typeface="Calibri" pitchFamily="34" charset="-120"/>
              </a:rPr>
              <a:t>Modular, extensible, well-tested codebase (111 tests)</a:t>
            </a:r>
            <a:endParaRPr lang="en-US" sz="1250" dirty="0"/>
          </a:p>
          <a:p>
            <a:pPr marL="152400" indent="-152400">
              <a:spcAft>
                <a:spcPts val="1000"/>
              </a:spcAft>
              <a:buSzPct val="100000"/>
              <a:buChar char="•"/>
            </a:pPr>
            <a:r>
              <a:rPr lang="en-US" sz="1250" dirty="0">
                <a:solidFill>
                  <a:srgbClr val="1B2430"/>
                </a:solidFill>
                <a:latin typeface="Calibri" pitchFamily="34" charset="0"/>
                <a:ea typeface="Calibri" pitchFamily="34" charset="-122"/>
                <a:cs typeface="Calibri" pitchFamily="34" charset="-120"/>
              </a:rPr>
              <a:t>Reusable AI workflow and reporting engine</a:t>
            </a:r>
            <a:endParaRPr lang="en-US" sz="1250" dirty="0"/>
          </a:p>
        </p:txBody>
      </p:sp>
      <p:sp>
        <p:nvSpPr>
          <p:cNvPr id="9" name="Shape 7"/>
          <p:cNvSpPr/>
          <p:nvPr/>
        </p:nvSpPr>
        <p:spPr>
          <a:xfrm>
            <a:off x="4297680" y="1600200"/>
            <a:ext cx="3611880" cy="4206240"/>
          </a:xfrm>
          <a:prstGeom prst="roundRect">
            <a:avLst>
              <a:gd name="adj" fmla="val 2025"/>
            </a:avLst>
          </a:prstGeom>
          <a:solidFill>
            <a:srgbClr val="F3F6FB"/>
          </a:solidFill>
          <a:ln w="12700">
            <a:solidFill>
              <a:srgbClr val="D9E1EC"/>
            </a:solidFill>
            <a:prstDash val="solid"/>
          </a:ln>
          <a:effectLst>
            <a:outerShdw blurRad="88900" dist="38100" dir="5400000" algn="bl" rotWithShape="0">
              <a:srgbClr val="8494A8">
                <a:alpha val="28000"/>
              </a:srgbClr>
            </a:outerShdw>
          </a:effectLst>
        </p:spPr>
      </p:sp>
      <p:sp>
        <p:nvSpPr>
          <p:cNvPr id="10" name="Shape 8"/>
          <p:cNvSpPr/>
          <p:nvPr/>
        </p:nvSpPr>
        <p:spPr>
          <a:xfrm>
            <a:off x="4572000" y="1874520"/>
            <a:ext cx="3063240" cy="548640"/>
          </a:xfrm>
          <a:prstGeom prst="roundRect">
            <a:avLst>
              <a:gd name="adj" fmla="val 10000"/>
            </a:avLst>
          </a:prstGeom>
          <a:solidFill>
            <a:srgbClr val="2C9CA6"/>
          </a:solidFill>
          <a:ln/>
        </p:spPr>
      </p:sp>
      <p:sp>
        <p:nvSpPr>
          <p:cNvPr id="11" name="Text 9"/>
          <p:cNvSpPr/>
          <p:nvPr/>
        </p:nvSpPr>
        <p:spPr>
          <a:xfrm>
            <a:off x="4572000" y="1874520"/>
            <a:ext cx="3063240" cy="54864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User Outcomes</a:t>
            </a:r>
            <a:endParaRPr lang="en-US" sz="1400" dirty="0"/>
          </a:p>
        </p:txBody>
      </p:sp>
      <p:sp>
        <p:nvSpPr>
          <p:cNvPr id="12" name="Text 10"/>
          <p:cNvSpPr/>
          <p:nvPr/>
        </p:nvSpPr>
        <p:spPr>
          <a:xfrm>
            <a:off x="4617720" y="2651760"/>
            <a:ext cx="2971800" cy="2926080"/>
          </a:xfrm>
          <a:prstGeom prst="rect">
            <a:avLst/>
          </a:prstGeom>
          <a:noFill/>
          <a:ln/>
        </p:spPr>
        <p:txBody>
          <a:bodyPr wrap="square" rtlCol="0" anchor="t"/>
          <a:lstStyle/>
          <a:p>
            <a:pPr marL="152400" indent="-152400">
              <a:spcAft>
                <a:spcPts val="1000"/>
              </a:spcAft>
              <a:buSzPct val="100000"/>
              <a:buChar char="•"/>
            </a:pPr>
            <a:r>
              <a:rPr lang="en-US" sz="1250" dirty="0">
                <a:solidFill>
                  <a:srgbClr val="1B2430"/>
                </a:solidFill>
                <a:latin typeface="Calibri" pitchFamily="34" charset="0"/>
                <a:ea typeface="Calibri" pitchFamily="34" charset="-122"/>
                <a:cs typeface="Calibri" pitchFamily="34" charset="-120"/>
              </a:rPr>
              <a:t>Faster, guided assessments with less manual effort</a:t>
            </a:r>
            <a:endParaRPr lang="en-US" sz="1250" dirty="0"/>
          </a:p>
          <a:p>
            <a:pPr marL="152400" indent="-152400">
              <a:spcAft>
                <a:spcPts val="1000"/>
              </a:spcAft>
              <a:buSzPct val="100000"/>
              <a:buChar char="•"/>
            </a:pPr>
            <a:r>
              <a:rPr lang="en-US" sz="1250" dirty="0">
                <a:solidFill>
                  <a:srgbClr val="1B2430"/>
                </a:solidFill>
                <a:latin typeface="Calibri" pitchFamily="34" charset="0"/>
                <a:ea typeface="Calibri" pitchFamily="34" charset="-122"/>
                <a:cs typeface="Calibri" pitchFamily="34" charset="-120"/>
              </a:rPr>
              <a:t>Strong privacy and enforced authorization</a:t>
            </a:r>
            <a:endParaRPr lang="en-US" sz="1250" dirty="0"/>
          </a:p>
          <a:p>
            <a:pPr marL="152400" indent="-152400">
              <a:spcAft>
                <a:spcPts val="1000"/>
              </a:spcAft>
              <a:buSzPct val="100000"/>
              <a:buChar char="•"/>
            </a:pPr>
            <a:r>
              <a:rPr lang="en-US" sz="1250" dirty="0">
                <a:solidFill>
                  <a:srgbClr val="1B2430"/>
                </a:solidFill>
                <a:latin typeface="Calibri" pitchFamily="34" charset="0"/>
                <a:ea typeface="Calibri" pitchFamily="34" charset="-122"/>
                <a:cs typeface="Calibri" pitchFamily="34" charset="-120"/>
              </a:rPr>
              <a:t>Consistent, professional reports</a:t>
            </a:r>
            <a:endParaRPr lang="en-US" sz="1250" dirty="0"/>
          </a:p>
        </p:txBody>
      </p:sp>
      <p:sp>
        <p:nvSpPr>
          <p:cNvPr id="13" name="Shape 11"/>
          <p:cNvSpPr/>
          <p:nvPr/>
        </p:nvSpPr>
        <p:spPr>
          <a:xfrm>
            <a:off x="8092440" y="1600200"/>
            <a:ext cx="3611880" cy="4206240"/>
          </a:xfrm>
          <a:prstGeom prst="roundRect">
            <a:avLst>
              <a:gd name="adj" fmla="val 2025"/>
            </a:avLst>
          </a:prstGeom>
          <a:solidFill>
            <a:srgbClr val="F3F6FB"/>
          </a:solidFill>
          <a:ln w="12700">
            <a:solidFill>
              <a:srgbClr val="D9E1EC"/>
            </a:solidFill>
            <a:prstDash val="solid"/>
          </a:ln>
          <a:effectLst>
            <a:outerShdw blurRad="88900" dist="38100" dir="5400000" algn="bl" rotWithShape="0">
              <a:srgbClr val="8494A8">
                <a:alpha val="28000"/>
              </a:srgbClr>
            </a:outerShdw>
          </a:effectLst>
        </p:spPr>
      </p:sp>
      <p:sp>
        <p:nvSpPr>
          <p:cNvPr id="14" name="Shape 12"/>
          <p:cNvSpPr/>
          <p:nvPr/>
        </p:nvSpPr>
        <p:spPr>
          <a:xfrm>
            <a:off x="8366760" y="1874520"/>
            <a:ext cx="3063240" cy="548640"/>
          </a:xfrm>
          <a:prstGeom prst="roundRect">
            <a:avLst>
              <a:gd name="adj" fmla="val 10000"/>
            </a:avLst>
          </a:prstGeom>
          <a:solidFill>
            <a:srgbClr val="6C5CE7"/>
          </a:solidFill>
          <a:ln/>
        </p:spPr>
      </p:sp>
      <p:sp>
        <p:nvSpPr>
          <p:cNvPr id="15" name="Text 13"/>
          <p:cNvSpPr/>
          <p:nvPr/>
        </p:nvSpPr>
        <p:spPr>
          <a:xfrm>
            <a:off x="8366760" y="1874520"/>
            <a:ext cx="3063240" cy="54864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Business / Academic Outcomes</a:t>
            </a:r>
            <a:endParaRPr lang="en-US" sz="1400" dirty="0"/>
          </a:p>
        </p:txBody>
      </p:sp>
      <p:sp>
        <p:nvSpPr>
          <p:cNvPr id="16" name="Text 14"/>
          <p:cNvSpPr/>
          <p:nvPr/>
        </p:nvSpPr>
        <p:spPr>
          <a:xfrm>
            <a:off x="8412480" y="2651760"/>
            <a:ext cx="2971800" cy="2926080"/>
          </a:xfrm>
          <a:prstGeom prst="rect">
            <a:avLst/>
          </a:prstGeom>
          <a:noFill/>
          <a:ln/>
        </p:spPr>
        <p:txBody>
          <a:bodyPr wrap="square" rtlCol="0" anchor="t"/>
          <a:lstStyle/>
          <a:p>
            <a:pPr marL="152400" indent="-152400">
              <a:spcAft>
                <a:spcPts val="1000"/>
              </a:spcAft>
              <a:buSzPct val="100000"/>
              <a:buChar char="•"/>
            </a:pPr>
            <a:r>
              <a:rPr lang="en-US" sz="1250" dirty="0">
                <a:solidFill>
                  <a:srgbClr val="1B2430"/>
                </a:solidFill>
                <a:latin typeface="Calibri" pitchFamily="34" charset="0"/>
                <a:ea typeface="Calibri" pitchFamily="34" charset="-122"/>
                <a:cs typeface="Calibri" pitchFamily="34" charset="-120"/>
              </a:rPr>
              <a:t>Lower skill barrier for security testing</a:t>
            </a:r>
            <a:endParaRPr lang="en-US" sz="1250" dirty="0"/>
          </a:p>
          <a:p>
            <a:pPr marL="152400" indent="-152400">
              <a:spcAft>
                <a:spcPts val="1000"/>
              </a:spcAft>
              <a:buSzPct val="100000"/>
              <a:buChar char="•"/>
            </a:pPr>
            <a:r>
              <a:rPr lang="en-US" sz="1250" dirty="0">
                <a:solidFill>
                  <a:srgbClr val="1B2430"/>
                </a:solidFill>
                <a:latin typeface="Calibri" pitchFamily="34" charset="0"/>
                <a:ea typeface="Calibri" pitchFamily="34" charset="-122"/>
                <a:cs typeface="Calibri" pitchFamily="34" charset="-120"/>
              </a:rPr>
              <a:t>Reproducible, auditable methodology</a:t>
            </a:r>
            <a:endParaRPr lang="en-US" sz="1250" dirty="0"/>
          </a:p>
          <a:p>
            <a:pPr marL="152400" indent="-152400">
              <a:spcAft>
                <a:spcPts val="1000"/>
              </a:spcAft>
              <a:buSzPct val="100000"/>
              <a:buChar char="•"/>
            </a:pPr>
            <a:r>
              <a:rPr lang="en-US" sz="1250" dirty="0">
                <a:solidFill>
                  <a:srgbClr val="1B2430"/>
                </a:solidFill>
                <a:latin typeface="Calibri" pitchFamily="34" charset="0"/>
                <a:ea typeface="Calibri" pitchFamily="34" charset="-122"/>
                <a:cs typeface="Calibri" pitchFamily="34" charset="-120"/>
              </a:rPr>
              <a:t>A foundation for further research</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6446520"/>
            <a:ext cx="9144000" cy="274320"/>
          </a:xfrm>
          <a:prstGeom prst="rect">
            <a:avLst/>
          </a:prstGeom>
          <a:noFill/>
          <a:ln/>
        </p:spPr>
        <p:txBody>
          <a:bodyPr wrap="square" rtlCol="0" anchor="ctr"/>
          <a:lstStyle/>
          <a:p>
            <a:pPr marL="0" indent="0">
              <a:buNone/>
            </a:pPr>
            <a:r>
              <a:rPr lang="en-US" sz="900" b="1" dirty="0">
                <a:solidFill>
                  <a:srgbClr val="5E6B7A"/>
                </a:solidFill>
                <a:latin typeface="Calibri" pitchFamily="34" charset="0"/>
                <a:ea typeface="Calibri" pitchFamily="34" charset="-122"/>
                <a:cs typeface="Calibri" pitchFamily="34" charset="-120"/>
              </a:rPr>
              <a:t>SecurityOps Assistant</a:t>
            </a:r>
            <a:r>
              <a:rPr lang="en-US" sz="900" dirty="0">
                <a:solidFill>
                  <a:srgbClr val="5E6B7A"/>
                </a:solidFill>
                <a:latin typeface="Calibri" pitchFamily="34" charset="0"/>
                <a:ea typeface="Calibri" pitchFamily="34" charset="-122"/>
                <a:cs typeface="Calibri" pitchFamily="34" charset="-120"/>
              </a:rPr>
              <a:t>   |   Project Proposal</a:t>
            </a:r>
            <a:endParaRPr lang="en-US" sz="900" dirty="0"/>
          </a:p>
        </p:txBody>
      </p:sp>
      <p:sp>
        <p:nvSpPr>
          <p:cNvPr id="3" name="Text 1"/>
          <p:cNvSpPr/>
          <p:nvPr/>
        </p:nvSpPr>
        <p:spPr>
          <a:xfrm>
            <a:off x="11338560" y="6446520"/>
            <a:ext cx="365760" cy="274320"/>
          </a:xfrm>
          <a:prstGeom prst="rect">
            <a:avLst/>
          </a:prstGeom>
          <a:noFill/>
          <a:ln/>
        </p:spPr>
        <p:txBody>
          <a:bodyPr wrap="square" rtlCol="0" anchor="ctr"/>
          <a:lstStyle/>
          <a:p>
            <a:pPr marL="0" indent="0" algn="r">
              <a:buNone/>
            </a:pPr>
            <a:r>
              <a:rPr lang="en-US" sz="900" dirty="0">
                <a:solidFill>
                  <a:srgbClr val="5E6B7A"/>
                </a:solidFill>
                <a:latin typeface="Calibri" pitchFamily="34" charset="0"/>
                <a:ea typeface="Calibri" pitchFamily="34" charset="-122"/>
                <a:cs typeface="Calibri" pitchFamily="34" charset="-120"/>
              </a:rPr>
              <a:t>15</a:t>
            </a:r>
            <a:endParaRPr lang="en-US" sz="900" dirty="0"/>
          </a:p>
        </p:txBody>
      </p:sp>
      <p:sp>
        <p:nvSpPr>
          <p:cNvPr id="4" name="Text 2"/>
          <p:cNvSpPr/>
          <p:nvPr/>
        </p:nvSpPr>
        <p:spPr>
          <a:xfrm>
            <a:off x="502920" y="411480"/>
            <a:ext cx="11155680" cy="640080"/>
          </a:xfrm>
          <a:prstGeom prst="rect">
            <a:avLst/>
          </a:prstGeom>
          <a:noFill/>
          <a:ln/>
        </p:spPr>
        <p:txBody>
          <a:bodyPr wrap="square" rtlCol="0" anchor="ctr"/>
          <a:lstStyle/>
          <a:p>
            <a:pPr marL="0" indent="0">
              <a:buNone/>
            </a:pPr>
            <a:r>
              <a:rPr lang="en-US" sz="3200" b="1" dirty="0">
                <a:solidFill>
                  <a:srgbClr val="1F3A5F"/>
                </a:solidFill>
                <a:latin typeface="Cambria" pitchFamily="34" charset="0"/>
                <a:ea typeface="Cambria" pitchFamily="34" charset="-122"/>
                <a:cs typeface="Cambria" pitchFamily="34" charset="-120"/>
              </a:rPr>
              <a:t>Future Scope</a:t>
            </a:r>
            <a:endParaRPr lang="en-US" sz="3200" dirty="0"/>
          </a:p>
        </p:txBody>
      </p:sp>
      <p:sp>
        <p:nvSpPr>
          <p:cNvPr id="5" name="Shape 3"/>
          <p:cNvSpPr/>
          <p:nvPr/>
        </p:nvSpPr>
        <p:spPr>
          <a:xfrm>
            <a:off x="502920" y="1600200"/>
            <a:ext cx="11201400" cy="788213"/>
          </a:xfrm>
          <a:prstGeom prst="roundRect">
            <a:avLst>
              <a:gd name="adj" fmla="val 9281"/>
            </a:avLst>
          </a:prstGeom>
          <a:solidFill>
            <a:srgbClr val="F3F6FB"/>
          </a:solidFill>
          <a:ln w="12700">
            <a:solidFill>
              <a:srgbClr val="D9E1EC"/>
            </a:solidFill>
            <a:prstDash val="solid"/>
          </a:ln>
          <a:effectLst>
            <a:outerShdw blurRad="88900" dist="38100" dir="5400000" algn="bl" rotWithShape="0">
              <a:srgbClr val="8494A8">
                <a:alpha val="28000"/>
              </a:srgbClr>
            </a:outerShdw>
          </a:effectLst>
        </p:spPr>
      </p:sp>
      <p:sp>
        <p:nvSpPr>
          <p:cNvPr id="6" name="Shape 4"/>
          <p:cNvSpPr/>
          <p:nvPr/>
        </p:nvSpPr>
        <p:spPr>
          <a:xfrm>
            <a:off x="731520" y="1765706"/>
            <a:ext cx="457200" cy="457200"/>
          </a:xfrm>
          <a:prstGeom prst="ellipse">
            <a:avLst/>
          </a:prstGeom>
          <a:solidFill>
            <a:srgbClr val="2C5282"/>
          </a:solidFill>
          <a:ln/>
        </p:spPr>
      </p:sp>
      <p:sp>
        <p:nvSpPr>
          <p:cNvPr id="7" name="Text 5"/>
          <p:cNvSpPr/>
          <p:nvPr/>
        </p:nvSpPr>
        <p:spPr>
          <a:xfrm>
            <a:off x="731520" y="1765706"/>
            <a:ext cx="45720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p:nvPr/>
        </p:nvSpPr>
        <p:spPr>
          <a:xfrm>
            <a:off x="1417320" y="1600200"/>
            <a:ext cx="10058400" cy="788213"/>
          </a:xfrm>
          <a:prstGeom prst="rect">
            <a:avLst/>
          </a:prstGeom>
          <a:noFill/>
          <a:ln/>
        </p:spPr>
        <p:txBody>
          <a:bodyPr wrap="square" rtlCol="0" anchor="ctr"/>
          <a:lstStyle/>
          <a:p>
            <a:pPr marL="0" indent="0">
              <a:buNone/>
            </a:pPr>
            <a:r>
              <a:rPr lang="en-US" sz="1500" dirty="0">
                <a:solidFill>
                  <a:srgbClr val="1B2430"/>
                </a:solidFill>
                <a:latin typeface="Calibri" pitchFamily="34" charset="0"/>
                <a:ea typeface="Calibri" pitchFamily="34" charset="-122"/>
                <a:cs typeface="Calibri" pitchFamily="34" charset="-120"/>
              </a:rPr>
              <a:t>Enhancements: broader tool catalog, richer output parsers, scheduled assessments</a:t>
            </a:r>
            <a:endParaRPr lang="en-US" sz="1500" dirty="0"/>
          </a:p>
        </p:txBody>
      </p:sp>
      <p:sp>
        <p:nvSpPr>
          <p:cNvPr id="9" name="Shape 7"/>
          <p:cNvSpPr/>
          <p:nvPr/>
        </p:nvSpPr>
        <p:spPr>
          <a:xfrm>
            <a:off x="502920" y="2534717"/>
            <a:ext cx="11201400" cy="788213"/>
          </a:xfrm>
          <a:prstGeom prst="roundRect">
            <a:avLst>
              <a:gd name="adj" fmla="val 9281"/>
            </a:avLst>
          </a:prstGeom>
          <a:solidFill>
            <a:srgbClr val="F3F6FB"/>
          </a:solidFill>
          <a:ln w="12700">
            <a:solidFill>
              <a:srgbClr val="D9E1EC"/>
            </a:solidFill>
            <a:prstDash val="solid"/>
          </a:ln>
          <a:effectLst>
            <a:outerShdw blurRad="88900" dist="38100" dir="5400000" algn="bl" rotWithShape="0">
              <a:srgbClr val="8494A8">
                <a:alpha val="28000"/>
              </a:srgbClr>
            </a:outerShdw>
          </a:effectLst>
        </p:spPr>
      </p:sp>
      <p:sp>
        <p:nvSpPr>
          <p:cNvPr id="10" name="Shape 8"/>
          <p:cNvSpPr/>
          <p:nvPr/>
        </p:nvSpPr>
        <p:spPr>
          <a:xfrm>
            <a:off x="731520" y="2700223"/>
            <a:ext cx="457200" cy="457200"/>
          </a:xfrm>
          <a:prstGeom prst="ellipse">
            <a:avLst/>
          </a:prstGeom>
          <a:solidFill>
            <a:srgbClr val="2C9CA6"/>
          </a:solidFill>
          <a:ln/>
        </p:spPr>
      </p:sp>
      <p:sp>
        <p:nvSpPr>
          <p:cNvPr id="11" name="Text 9"/>
          <p:cNvSpPr/>
          <p:nvPr/>
        </p:nvSpPr>
        <p:spPr>
          <a:xfrm>
            <a:off x="731520" y="2700223"/>
            <a:ext cx="45720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1417320" y="2534717"/>
            <a:ext cx="10058400" cy="788213"/>
          </a:xfrm>
          <a:prstGeom prst="rect">
            <a:avLst/>
          </a:prstGeom>
          <a:noFill/>
          <a:ln/>
        </p:spPr>
        <p:txBody>
          <a:bodyPr wrap="square" rtlCol="0" anchor="ctr"/>
          <a:lstStyle/>
          <a:p>
            <a:pPr marL="0" indent="0">
              <a:buNone/>
            </a:pPr>
            <a:r>
              <a:rPr lang="en-US" sz="1500" dirty="0">
                <a:solidFill>
                  <a:srgbClr val="1B2430"/>
                </a:solidFill>
                <a:latin typeface="Calibri" pitchFamily="34" charset="0"/>
                <a:ea typeface="Calibri" pitchFamily="34" charset="-122"/>
                <a:cs typeface="Calibri" pitchFamily="34" charset="-120"/>
              </a:rPr>
              <a:t>Deeper local-LLM use: automated report drafting and guided triage</a:t>
            </a:r>
            <a:endParaRPr lang="en-US" sz="1500" dirty="0"/>
          </a:p>
        </p:txBody>
      </p:sp>
      <p:sp>
        <p:nvSpPr>
          <p:cNvPr id="13" name="Shape 11"/>
          <p:cNvSpPr/>
          <p:nvPr/>
        </p:nvSpPr>
        <p:spPr>
          <a:xfrm>
            <a:off x="502920" y="3469234"/>
            <a:ext cx="11201400" cy="788213"/>
          </a:xfrm>
          <a:prstGeom prst="roundRect">
            <a:avLst>
              <a:gd name="adj" fmla="val 9281"/>
            </a:avLst>
          </a:prstGeom>
          <a:solidFill>
            <a:srgbClr val="F3F6FB"/>
          </a:solidFill>
          <a:ln w="12700">
            <a:solidFill>
              <a:srgbClr val="D9E1EC"/>
            </a:solidFill>
            <a:prstDash val="solid"/>
          </a:ln>
          <a:effectLst>
            <a:outerShdw blurRad="88900" dist="38100" dir="5400000" algn="bl" rotWithShape="0">
              <a:srgbClr val="8494A8">
                <a:alpha val="28000"/>
              </a:srgbClr>
            </a:outerShdw>
          </a:effectLst>
        </p:spPr>
      </p:sp>
      <p:sp>
        <p:nvSpPr>
          <p:cNvPr id="14" name="Shape 12"/>
          <p:cNvSpPr/>
          <p:nvPr/>
        </p:nvSpPr>
        <p:spPr>
          <a:xfrm>
            <a:off x="731520" y="3634740"/>
            <a:ext cx="457200" cy="457200"/>
          </a:xfrm>
          <a:prstGeom prst="ellipse">
            <a:avLst/>
          </a:prstGeom>
          <a:solidFill>
            <a:srgbClr val="2E9E5B"/>
          </a:solidFill>
          <a:ln/>
        </p:spPr>
      </p:sp>
      <p:sp>
        <p:nvSpPr>
          <p:cNvPr id="15" name="Text 13"/>
          <p:cNvSpPr/>
          <p:nvPr/>
        </p:nvSpPr>
        <p:spPr>
          <a:xfrm>
            <a:off x="731520" y="3634740"/>
            <a:ext cx="45720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6" name="Text 14"/>
          <p:cNvSpPr/>
          <p:nvPr/>
        </p:nvSpPr>
        <p:spPr>
          <a:xfrm>
            <a:off x="1417320" y="3469234"/>
            <a:ext cx="10058400" cy="788213"/>
          </a:xfrm>
          <a:prstGeom prst="rect">
            <a:avLst/>
          </a:prstGeom>
          <a:noFill/>
          <a:ln/>
        </p:spPr>
        <p:txBody>
          <a:bodyPr wrap="square" rtlCol="0" anchor="ctr"/>
          <a:lstStyle/>
          <a:p>
            <a:pPr marL="0" indent="0">
              <a:buNone/>
            </a:pPr>
            <a:r>
              <a:rPr lang="en-US" sz="1500" dirty="0">
                <a:solidFill>
                  <a:srgbClr val="1B2430"/>
                </a:solidFill>
                <a:latin typeface="Calibri" pitchFamily="34" charset="0"/>
                <a:ea typeface="Calibri" pitchFamily="34" charset="-122"/>
                <a:cs typeface="Calibri" pitchFamily="34" charset="-120"/>
              </a:rPr>
              <a:t>Research: ML-based finding correlation and false-positive reduction</a:t>
            </a:r>
            <a:endParaRPr lang="en-US" sz="1500" dirty="0"/>
          </a:p>
        </p:txBody>
      </p:sp>
      <p:sp>
        <p:nvSpPr>
          <p:cNvPr id="17" name="Shape 15"/>
          <p:cNvSpPr/>
          <p:nvPr/>
        </p:nvSpPr>
        <p:spPr>
          <a:xfrm>
            <a:off x="502920" y="4403750"/>
            <a:ext cx="11201400" cy="788213"/>
          </a:xfrm>
          <a:prstGeom prst="roundRect">
            <a:avLst>
              <a:gd name="adj" fmla="val 9281"/>
            </a:avLst>
          </a:prstGeom>
          <a:solidFill>
            <a:srgbClr val="F3F6FB"/>
          </a:solidFill>
          <a:ln w="12700">
            <a:solidFill>
              <a:srgbClr val="D9E1EC"/>
            </a:solidFill>
            <a:prstDash val="solid"/>
          </a:ln>
          <a:effectLst>
            <a:outerShdw blurRad="88900" dist="38100" dir="5400000" algn="bl" rotWithShape="0">
              <a:srgbClr val="8494A8">
                <a:alpha val="28000"/>
              </a:srgbClr>
            </a:outerShdw>
          </a:effectLst>
        </p:spPr>
      </p:sp>
      <p:sp>
        <p:nvSpPr>
          <p:cNvPr id="18" name="Shape 16"/>
          <p:cNvSpPr/>
          <p:nvPr/>
        </p:nvSpPr>
        <p:spPr>
          <a:xfrm>
            <a:off x="731520" y="4569257"/>
            <a:ext cx="457200" cy="457200"/>
          </a:xfrm>
          <a:prstGeom prst="ellipse">
            <a:avLst/>
          </a:prstGeom>
          <a:solidFill>
            <a:srgbClr val="C9820A"/>
          </a:solidFill>
          <a:ln/>
        </p:spPr>
      </p:sp>
      <p:sp>
        <p:nvSpPr>
          <p:cNvPr id="19" name="Text 17"/>
          <p:cNvSpPr/>
          <p:nvPr/>
        </p:nvSpPr>
        <p:spPr>
          <a:xfrm>
            <a:off x="731520" y="4569257"/>
            <a:ext cx="45720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0" name="Text 18"/>
          <p:cNvSpPr/>
          <p:nvPr/>
        </p:nvSpPr>
        <p:spPr>
          <a:xfrm>
            <a:off x="1417320" y="4403750"/>
            <a:ext cx="10058400" cy="788213"/>
          </a:xfrm>
          <a:prstGeom prst="rect">
            <a:avLst/>
          </a:prstGeom>
          <a:noFill/>
          <a:ln/>
        </p:spPr>
        <p:txBody>
          <a:bodyPr wrap="square" rtlCol="0" anchor="ctr"/>
          <a:lstStyle/>
          <a:p>
            <a:pPr marL="0" indent="0">
              <a:buNone/>
            </a:pPr>
            <a:r>
              <a:rPr lang="en-US" sz="1500" dirty="0">
                <a:solidFill>
                  <a:srgbClr val="1B2430"/>
                </a:solidFill>
                <a:latin typeface="Calibri" pitchFamily="34" charset="0"/>
                <a:ea typeface="Calibri" pitchFamily="34" charset="-122"/>
                <a:cs typeface="Calibri" pitchFamily="34" charset="-120"/>
              </a:rPr>
              <a:t>Team mode: shared projects and role-based collaboration</a:t>
            </a:r>
            <a:endParaRPr lang="en-US" sz="1500" dirty="0"/>
          </a:p>
        </p:txBody>
      </p:sp>
      <p:sp>
        <p:nvSpPr>
          <p:cNvPr id="21" name="Shape 19"/>
          <p:cNvSpPr/>
          <p:nvPr/>
        </p:nvSpPr>
        <p:spPr>
          <a:xfrm>
            <a:off x="502920" y="5338267"/>
            <a:ext cx="11201400" cy="788213"/>
          </a:xfrm>
          <a:prstGeom prst="roundRect">
            <a:avLst>
              <a:gd name="adj" fmla="val 9281"/>
            </a:avLst>
          </a:prstGeom>
          <a:solidFill>
            <a:srgbClr val="F3F6FB"/>
          </a:solidFill>
          <a:ln w="12700">
            <a:solidFill>
              <a:srgbClr val="D9E1EC"/>
            </a:solidFill>
            <a:prstDash val="solid"/>
          </a:ln>
          <a:effectLst>
            <a:outerShdw blurRad="88900" dist="38100" dir="5400000" algn="bl" rotWithShape="0">
              <a:srgbClr val="8494A8">
                <a:alpha val="28000"/>
              </a:srgbClr>
            </a:outerShdw>
          </a:effectLst>
        </p:spPr>
      </p:sp>
      <p:sp>
        <p:nvSpPr>
          <p:cNvPr id="22" name="Shape 20"/>
          <p:cNvSpPr/>
          <p:nvPr/>
        </p:nvSpPr>
        <p:spPr>
          <a:xfrm>
            <a:off x="731520" y="5503774"/>
            <a:ext cx="457200" cy="457200"/>
          </a:xfrm>
          <a:prstGeom prst="ellipse">
            <a:avLst/>
          </a:prstGeom>
          <a:solidFill>
            <a:srgbClr val="6C5CE7"/>
          </a:solidFill>
          <a:ln/>
        </p:spPr>
      </p:sp>
      <p:sp>
        <p:nvSpPr>
          <p:cNvPr id="23" name="Text 21"/>
          <p:cNvSpPr/>
          <p:nvPr/>
        </p:nvSpPr>
        <p:spPr>
          <a:xfrm>
            <a:off x="731520" y="5503774"/>
            <a:ext cx="45720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4" name="Text 22"/>
          <p:cNvSpPr/>
          <p:nvPr/>
        </p:nvSpPr>
        <p:spPr>
          <a:xfrm>
            <a:off x="1417320" y="5338267"/>
            <a:ext cx="10058400" cy="788213"/>
          </a:xfrm>
          <a:prstGeom prst="rect">
            <a:avLst/>
          </a:prstGeom>
          <a:noFill/>
          <a:ln/>
        </p:spPr>
        <p:txBody>
          <a:bodyPr wrap="square" rtlCol="0" anchor="ctr"/>
          <a:lstStyle/>
          <a:p>
            <a:pPr marL="0" indent="0">
              <a:buNone/>
            </a:pPr>
            <a:r>
              <a:rPr lang="en-US" sz="1500" dirty="0">
                <a:solidFill>
                  <a:srgbClr val="1B2430"/>
                </a:solidFill>
                <a:latin typeface="Calibri" pitchFamily="34" charset="0"/>
                <a:ea typeface="Calibri" pitchFamily="34" charset="-122"/>
                <a:cs typeface="Calibri" pitchFamily="34" charset="-120"/>
              </a:rPr>
              <a:t>Scalability: distributed scanning and a community plugin ecosystem</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6233A"/>
        </a:solidFill>
        <a:effectLst/>
      </p:bgPr>
    </p:bg>
    <p:spTree>
      <p:nvGrpSpPr>
        <p:cNvPr id="1" name=""/>
        <p:cNvGrpSpPr/>
        <p:nvPr/>
      </p:nvGrpSpPr>
      <p:grpSpPr>
        <a:xfrm>
          <a:off x="0" y="0"/>
          <a:ext cx="0" cy="0"/>
          <a:chOff x="0" y="0"/>
          <a:chExt cx="0" cy="0"/>
        </a:xfrm>
      </p:grpSpPr>
      <p:sp>
        <p:nvSpPr>
          <p:cNvPr id="2" name="Text 0"/>
          <p:cNvSpPr/>
          <p:nvPr/>
        </p:nvSpPr>
        <p:spPr>
          <a:xfrm>
            <a:off x="822960" y="2103120"/>
            <a:ext cx="10515600" cy="1097280"/>
          </a:xfrm>
          <a:prstGeom prst="rect">
            <a:avLst/>
          </a:prstGeom>
          <a:noFill/>
          <a:ln/>
        </p:spPr>
        <p:txBody>
          <a:bodyPr wrap="square" rtlCol="0" anchor="ctr"/>
          <a:lstStyle/>
          <a:p>
            <a:pPr marL="0" indent="0">
              <a:buNone/>
            </a:pPr>
            <a:r>
              <a:rPr lang="en-US" sz="5400" b="1" dirty="0">
                <a:solidFill>
                  <a:srgbClr val="FFFFFF"/>
                </a:solidFill>
                <a:latin typeface="Cambria" pitchFamily="34" charset="0"/>
                <a:ea typeface="Cambria" pitchFamily="34" charset="-122"/>
                <a:cs typeface="Cambria" pitchFamily="34" charset="-120"/>
              </a:rPr>
              <a:t>Thank You</a:t>
            </a:r>
            <a:endParaRPr lang="en-US" sz="5400" dirty="0"/>
          </a:p>
        </p:txBody>
      </p:sp>
      <p:sp>
        <p:nvSpPr>
          <p:cNvPr id="3" name="Text 1"/>
          <p:cNvSpPr/>
          <p:nvPr/>
        </p:nvSpPr>
        <p:spPr>
          <a:xfrm>
            <a:off x="841248" y="3246120"/>
            <a:ext cx="10241280" cy="457200"/>
          </a:xfrm>
          <a:prstGeom prst="rect">
            <a:avLst/>
          </a:prstGeom>
          <a:noFill/>
          <a:ln/>
        </p:spPr>
        <p:txBody>
          <a:bodyPr wrap="square" rtlCol="0" anchor="ctr"/>
          <a:lstStyle/>
          <a:p>
            <a:pPr marL="0" indent="0">
              <a:buNone/>
            </a:pPr>
            <a:r>
              <a:rPr lang="en-US" sz="1800" dirty="0">
                <a:solidFill>
                  <a:srgbClr val="CADCFC"/>
                </a:solidFill>
                <a:latin typeface="Calibri" pitchFamily="34" charset="0"/>
                <a:ea typeface="Calibri" pitchFamily="34" charset="-122"/>
                <a:cs typeface="Calibri" pitchFamily="34" charset="-120"/>
              </a:rPr>
              <a:t>Questions &amp; Discussion are welcome</a:t>
            </a:r>
            <a:endParaRPr lang="en-US" sz="1800" dirty="0"/>
          </a:p>
        </p:txBody>
      </p:sp>
      <p:sp>
        <p:nvSpPr>
          <p:cNvPr id="4" name="Shape 2"/>
          <p:cNvSpPr/>
          <p:nvPr/>
        </p:nvSpPr>
        <p:spPr>
          <a:xfrm>
            <a:off x="841248" y="4114800"/>
            <a:ext cx="502920" cy="502920"/>
          </a:xfrm>
          <a:prstGeom prst="roundRect">
            <a:avLst>
              <a:gd name="adj" fmla="val 18182"/>
            </a:avLst>
          </a:prstGeom>
          <a:solidFill>
            <a:srgbClr val="2C9CA6"/>
          </a:solidFill>
          <a:ln/>
        </p:spPr>
      </p:sp>
      <p:sp>
        <p:nvSpPr>
          <p:cNvPr id="5" name="Text 3"/>
          <p:cNvSpPr/>
          <p:nvPr/>
        </p:nvSpPr>
        <p:spPr>
          <a:xfrm>
            <a:off x="841248" y="4114800"/>
            <a:ext cx="502920" cy="502920"/>
          </a:xfrm>
          <a:prstGeom prst="rect">
            <a:avLst/>
          </a:prstGeom>
          <a:noFill/>
          <a:ln/>
        </p:spPr>
        <p:txBody>
          <a:bodyPr wrap="square" rtlCol="0" anchor="ctr"/>
          <a:lstStyle/>
          <a:p>
            <a:pPr marL="0" indent="0" algn="ctr">
              <a:buNone/>
            </a:pPr>
            <a:r>
              <a:rPr lang="en-US" sz="1800" b="1" dirty="0">
                <a:solidFill>
                  <a:srgbClr val="16233A"/>
                </a:solidFill>
                <a:latin typeface="Courier New" pitchFamily="34" charset="0"/>
                <a:ea typeface="Courier New" pitchFamily="34" charset="-122"/>
                <a:cs typeface="Courier New" pitchFamily="34" charset="-120"/>
              </a:rPr>
              <a:t>&gt;_</a:t>
            </a:r>
            <a:endParaRPr lang="en-US" sz="1800" dirty="0"/>
          </a:p>
        </p:txBody>
      </p:sp>
      <p:sp>
        <p:nvSpPr>
          <p:cNvPr id="6" name="Text 4"/>
          <p:cNvSpPr/>
          <p:nvPr/>
        </p:nvSpPr>
        <p:spPr>
          <a:xfrm>
            <a:off x="1508760" y="4160520"/>
            <a:ext cx="9144000" cy="365760"/>
          </a:xfrm>
          <a:prstGeom prst="rect">
            <a:avLst/>
          </a:prstGeom>
          <a:noFill/>
          <a:ln/>
        </p:spPr>
        <p:txBody>
          <a:bodyPr wrap="square" rtlCol="0" anchor="ctr"/>
          <a:lstStyle/>
          <a:p>
            <a:pPr marL="0" indent="0">
              <a:buNone/>
            </a:pPr>
            <a:r>
              <a:rPr lang="en-US" sz="1400" b="1" dirty="0">
                <a:solidFill>
                  <a:srgbClr val="2C9CA6"/>
                </a:solidFill>
                <a:latin typeface="Calibri" pitchFamily="34" charset="0"/>
                <a:ea typeface="Calibri" pitchFamily="34" charset="-122"/>
                <a:cs typeface="Calibri" pitchFamily="34" charset="-120"/>
              </a:rPr>
              <a:t>Contact: </a:t>
            </a:r>
            <a:endParaRPr lang="en-US" sz="1400" dirty="0"/>
          </a:p>
        </p:txBody>
      </p:sp>
      <p:sp>
        <p:nvSpPr>
          <p:cNvPr id="7" name="Text 5"/>
          <p:cNvSpPr/>
          <p:nvPr/>
        </p:nvSpPr>
        <p:spPr>
          <a:xfrm>
            <a:off x="1508760" y="4526280"/>
            <a:ext cx="10058400" cy="365760"/>
          </a:xfrm>
          <a:prstGeom prst="rect">
            <a:avLst/>
          </a:prstGeom>
          <a:noFill/>
          <a:ln/>
        </p:spPr>
        <p:txBody>
          <a:bodyPr wrap="square" rtlCol="0" anchor="ctr"/>
          <a:lstStyle/>
          <a:p>
            <a:pPr marL="0" indent="0">
              <a:buNone/>
            </a:pPr>
            <a:r>
              <a:rPr lang="en-US" sz="1400" b="1" dirty="0">
                <a:solidFill>
                  <a:srgbClr val="2C9CA6"/>
                </a:solidFill>
                <a:latin typeface="Calibri" pitchFamily="34" charset="0"/>
                <a:ea typeface="Calibri" pitchFamily="34" charset="-122"/>
                <a:cs typeface="Calibri" pitchFamily="34" charset="-120"/>
              </a:rPr>
              <a:t>Repository:  </a:t>
            </a:r>
            <a:r>
              <a:rPr lang="en-US" sz="1400" dirty="0">
                <a:solidFill>
                  <a:srgbClr val="FFFFFF"/>
                </a:solidFill>
                <a:latin typeface="Calibri" pitchFamily="34" charset="0"/>
                <a:ea typeface="Calibri" pitchFamily="34" charset="-122"/>
                <a:cs typeface="Calibri" pitchFamily="34" charset="-120"/>
              </a:rPr>
              <a:t>github.com/niyant07/SecurityOps-Assistant</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3622</Words>
  <Application>Microsoft Office PowerPoint</Application>
  <PresentationFormat>Widescreen</PresentationFormat>
  <Paragraphs>288</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SecurityOps Assistant — Project Proposal</dc:title>
  <dc:subject>PptxGenJS Presentation</dc:subject>
  <dc:creator>[Your Name]</dc:creator>
  <cp:lastModifiedBy>Niyant Joshi</cp:lastModifiedBy>
  <cp:revision>2</cp:revision>
  <dcterms:created xsi:type="dcterms:W3CDTF">2026-07-17T12:17:24Z</dcterms:created>
  <dcterms:modified xsi:type="dcterms:W3CDTF">2026-07-18T04:49:58Z</dcterms:modified>
</cp:coreProperties>
</file>